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10" r:id="rId3"/>
    <p:sldId id="312" r:id="rId4"/>
    <p:sldId id="313" r:id="rId5"/>
    <p:sldId id="259" r:id="rId6"/>
    <p:sldId id="314" r:id="rId7"/>
    <p:sldId id="307" r:id="rId8"/>
    <p:sldId id="261" r:id="rId9"/>
    <p:sldId id="263" r:id="rId10"/>
    <p:sldId id="264" r:id="rId11"/>
    <p:sldId id="299" r:id="rId12"/>
    <p:sldId id="300" r:id="rId13"/>
    <p:sldId id="301" r:id="rId14"/>
    <p:sldId id="271" r:id="rId15"/>
    <p:sldId id="272" r:id="rId16"/>
    <p:sldId id="322" r:id="rId17"/>
    <p:sldId id="323" r:id="rId18"/>
    <p:sldId id="277" r:id="rId19"/>
    <p:sldId id="324" r:id="rId20"/>
    <p:sldId id="325" r:id="rId21"/>
    <p:sldId id="326" r:id="rId22"/>
    <p:sldId id="327" r:id="rId23"/>
    <p:sldId id="328" r:id="rId24"/>
    <p:sldId id="318" r:id="rId25"/>
    <p:sldId id="302" r:id="rId26"/>
    <p:sldId id="316" r:id="rId27"/>
    <p:sldId id="319" r:id="rId28"/>
    <p:sldId id="320" r:id="rId29"/>
    <p:sldId id="279" r:id="rId30"/>
    <p:sldId id="288" r:id="rId31"/>
    <p:sldId id="292" r:id="rId32"/>
    <p:sldId id="309" r:id="rId33"/>
    <p:sldId id="329" r:id="rId34"/>
    <p:sldId id="293" r:id="rId35"/>
    <p:sldId id="296" r:id="rId36"/>
    <p:sldId id="330" r:id="rId37"/>
    <p:sldId id="297" r:id="rId38"/>
    <p:sldId id="305" r:id="rId3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29" autoAdjust="0"/>
    <p:restoredTop sz="89744" autoAdjust="0"/>
  </p:normalViewPr>
  <p:slideViewPr>
    <p:cSldViewPr snapToGrid="0" snapToObjects="1">
      <p:cViewPr varScale="1">
        <p:scale>
          <a:sx n="115" d="100"/>
          <a:sy n="115" d="100"/>
        </p:scale>
        <p:origin x="463" y="4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C36F85-6DB2-4E29-8809-B068909440E4}"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GB"/>
        </a:p>
      </dgm:t>
    </dgm:pt>
    <dgm:pt modelId="{E9AF442F-7D10-405F-AEF7-A82ECC8311BC}">
      <dgm:prSet custT="1"/>
      <dgm:spPr/>
      <dgm:t>
        <a:bodyPr/>
        <a:lstStyle/>
        <a:p>
          <a:r>
            <a:rPr lang="en-GB" sz="1200" dirty="0"/>
            <a:t>Feedback/</a:t>
          </a:r>
        </a:p>
        <a:p>
          <a:r>
            <a:rPr lang="en-GB" sz="1200" dirty="0"/>
            <a:t>‘Reflexive monitoring’</a:t>
          </a:r>
        </a:p>
      </dgm:t>
    </dgm:pt>
    <dgm:pt modelId="{EBB95C54-C81A-45E5-96D8-DA6EDCAD5FB2}" type="parTrans" cxnId="{36D3A7A8-7694-4D29-8B6A-BD56285D698F}">
      <dgm:prSet/>
      <dgm:spPr/>
      <dgm:t>
        <a:bodyPr/>
        <a:lstStyle/>
        <a:p>
          <a:endParaRPr lang="en-GB"/>
        </a:p>
      </dgm:t>
    </dgm:pt>
    <dgm:pt modelId="{1432282E-444A-47B5-A810-06C9A1B177E8}" type="sibTrans" cxnId="{36D3A7A8-7694-4D29-8B6A-BD56285D698F}">
      <dgm:prSet custT="1"/>
      <dgm:spPr/>
      <dgm:t>
        <a:bodyPr/>
        <a:lstStyle/>
        <a:p>
          <a:endParaRPr lang="en-GB" sz="1800" dirty="0"/>
        </a:p>
      </dgm:t>
    </dgm:pt>
    <dgm:pt modelId="{C1433D63-2D0E-4FD7-ABF1-63D0A0B7A07D}">
      <dgm:prSet custT="1"/>
      <dgm:spPr/>
      <dgm:t>
        <a:bodyPr/>
        <a:lstStyle/>
        <a:p>
          <a:r>
            <a:rPr lang="en-GB" sz="1200" dirty="0"/>
            <a:t>Routine embedding/</a:t>
          </a:r>
        </a:p>
        <a:p>
          <a:r>
            <a:rPr lang="en-GB" sz="1200" dirty="0"/>
            <a:t> ‘Normalisation’</a:t>
          </a:r>
        </a:p>
      </dgm:t>
    </dgm:pt>
    <dgm:pt modelId="{EE48496C-E38E-446F-8947-0CD60EA751EE}" type="parTrans" cxnId="{926B7B28-26CA-4ABF-B373-7FED4BC68842}">
      <dgm:prSet/>
      <dgm:spPr/>
      <dgm:t>
        <a:bodyPr/>
        <a:lstStyle/>
        <a:p>
          <a:endParaRPr lang="en-GB"/>
        </a:p>
      </dgm:t>
    </dgm:pt>
    <dgm:pt modelId="{C520CDAF-EA05-4B03-9F23-3474BD4805C0}" type="sibTrans" cxnId="{926B7B28-26CA-4ABF-B373-7FED4BC68842}">
      <dgm:prSet custT="1"/>
      <dgm:spPr/>
      <dgm:t>
        <a:bodyPr/>
        <a:lstStyle/>
        <a:p>
          <a:endParaRPr lang="en-GB" sz="1800" dirty="0"/>
        </a:p>
      </dgm:t>
    </dgm:pt>
    <dgm:pt modelId="{6B51B6C6-4A13-4E41-B2E9-3CBD6DC18C1D}">
      <dgm:prSet custT="1"/>
      <dgm:spPr/>
      <dgm:t>
        <a:bodyPr/>
        <a:lstStyle/>
        <a:p>
          <a:r>
            <a:rPr lang="en-GB" sz="1200" dirty="0"/>
            <a:t>Shared understanding/</a:t>
          </a:r>
        </a:p>
        <a:p>
          <a:r>
            <a:rPr lang="en-GB" sz="1200" dirty="0"/>
            <a:t>‘Coherence’</a:t>
          </a:r>
        </a:p>
      </dgm:t>
    </dgm:pt>
    <dgm:pt modelId="{03E4400D-7C68-4F40-8325-D2044D180AE7}" type="parTrans" cxnId="{0D098558-2D14-4765-B0AC-A2A37B979CBB}">
      <dgm:prSet/>
      <dgm:spPr/>
      <dgm:t>
        <a:bodyPr/>
        <a:lstStyle/>
        <a:p>
          <a:endParaRPr lang="en-GB"/>
        </a:p>
      </dgm:t>
    </dgm:pt>
    <dgm:pt modelId="{9EDF8B8A-1828-4D8E-969E-651134465731}" type="sibTrans" cxnId="{0D098558-2D14-4765-B0AC-A2A37B979CBB}">
      <dgm:prSet custT="1"/>
      <dgm:spPr/>
      <dgm:t>
        <a:bodyPr/>
        <a:lstStyle/>
        <a:p>
          <a:endParaRPr lang="en-GB" sz="1800" dirty="0"/>
        </a:p>
      </dgm:t>
    </dgm:pt>
    <dgm:pt modelId="{C6DA46A7-2C5A-4CB2-9C2E-9BFAE0749E31}" type="pres">
      <dgm:prSet presAssocID="{C4C36F85-6DB2-4E29-8809-B068909440E4}" presName="cycle" presStyleCnt="0">
        <dgm:presLayoutVars>
          <dgm:dir/>
          <dgm:resizeHandles val="exact"/>
        </dgm:presLayoutVars>
      </dgm:prSet>
      <dgm:spPr/>
    </dgm:pt>
    <dgm:pt modelId="{49A236C6-CD27-4C6C-9EB9-E27879AB0A24}" type="pres">
      <dgm:prSet presAssocID="{E9AF442F-7D10-405F-AEF7-A82ECC8311BC}" presName="node" presStyleLbl="node1" presStyleIdx="0" presStyleCnt="3">
        <dgm:presLayoutVars>
          <dgm:bulletEnabled val="1"/>
        </dgm:presLayoutVars>
      </dgm:prSet>
      <dgm:spPr/>
    </dgm:pt>
    <dgm:pt modelId="{FA58E14A-35D3-4B5E-9152-50FE51F5EBD9}" type="pres">
      <dgm:prSet presAssocID="{1432282E-444A-47B5-A810-06C9A1B177E8}" presName="sibTrans" presStyleLbl="sibTrans2D1" presStyleIdx="0" presStyleCnt="3"/>
      <dgm:spPr/>
    </dgm:pt>
    <dgm:pt modelId="{2A713D61-8273-42EE-B1E2-F66E7C840540}" type="pres">
      <dgm:prSet presAssocID="{1432282E-444A-47B5-A810-06C9A1B177E8}" presName="connectorText" presStyleLbl="sibTrans2D1" presStyleIdx="0" presStyleCnt="3"/>
      <dgm:spPr/>
    </dgm:pt>
    <dgm:pt modelId="{65C9C5AA-8A36-4D56-B90B-7221C512FFC0}" type="pres">
      <dgm:prSet presAssocID="{6B51B6C6-4A13-4E41-B2E9-3CBD6DC18C1D}" presName="node" presStyleLbl="node1" presStyleIdx="1" presStyleCnt="3">
        <dgm:presLayoutVars>
          <dgm:bulletEnabled val="1"/>
        </dgm:presLayoutVars>
      </dgm:prSet>
      <dgm:spPr/>
    </dgm:pt>
    <dgm:pt modelId="{1F92C89B-8088-486D-9A83-4D7E70E6756C}" type="pres">
      <dgm:prSet presAssocID="{9EDF8B8A-1828-4D8E-969E-651134465731}" presName="sibTrans" presStyleLbl="sibTrans2D1" presStyleIdx="1" presStyleCnt="3"/>
      <dgm:spPr/>
    </dgm:pt>
    <dgm:pt modelId="{397ED1F2-7BEB-46FD-ADB1-C52EA567374B}" type="pres">
      <dgm:prSet presAssocID="{9EDF8B8A-1828-4D8E-969E-651134465731}" presName="connectorText" presStyleLbl="sibTrans2D1" presStyleIdx="1" presStyleCnt="3"/>
      <dgm:spPr/>
    </dgm:pt>
    <dgm:pt modelId="{1C51CDF6-3C6B-4918-9B48-755BE8F6FB97}" type="pres">
      <dgm:prSet presAssocID="{C1433D63-2D0E-4FD7-ABF1-63D0A0B7A07D}" presName="node" presStyleLbl="node1" presStyleIdx="2" presStyleCnt="3" custScaleX="102503" custScaleY="104572">
        <dgm:presLayoutVars>
          <dgm:bulletEnabled val="1"/>
        </dgm:presLayoutVars>
      </dgm:prSet>
      <dgm:spPr/>
    </dgm:pt>
    <dgm:pt modelId="{BADE62AF-E342-425C-9520-A953651F9221}" type="pres">
      <dgm:prSet presAssocID="{C520CDAF-EA05-4B03-9F23-3474BD4805C0}" presName="sibTrans" presStyleLbl="sibTrans2D1" presStyleIdx="2" presStyleCnt="3"/>
      <dgm:spPr/>
    </dgm:pt>
    <dgm:pt modelId="{F40A0883-A091-4F67-AD50-E74E4036B673}" type="pres">
      <dgm:prSet presAssocID="{C520CDAF-EA05-4B03-9F23-3474BD4805C0}" presName="connectorText" presStyleLbl="sibTrans2D1" presStyleIdx="2" presStyleCnt="3"/>
      <dgm:spPr/>
    </dgm:pt>
  </dgm:ptLst>
  <dgm:cxnLst>
    <dgm:cxn modelId="{926B7B28-26CA-4ABF-B373-7FED4BC68842}" srcId="{C4C36F85-6DB2-4E29-8809-B068909440E4}" destId="{C1433D63-2D0E-4FD7-ABF1-63D0A0B7A07D}" srcOrd="2" destOrd="0" parTransId="{EE48496C-E38E-446F-8947-0CD60EA751EE}" sibTransId="{C520CDAF-EA05-4B03-9F23-3474BD4805C0}"/>
    <dgm:cxn modelId="{29CB8F2A-3E31-42F3-BE29-2D33B010A545}" type="presOf" srcId="{C1433D63-2D0E-4FD7-ABF1-63D0A0B7A07D}" destId="{1C51CDF6-3C6B-4918-9B48-755BE8F6FB97}" srcOrd="0" destOrd="0" presId="urn:microsoft.com/office/officeart/2005/8/layout/cycle2"/>
    <dgm:cxn modelId="{88ED8033-30B1-4B0D-AC6C-11746E798B5F}" type="presOf" srcId="{C520CDAF-EA05-4B03-9F23-3474BD4805C0}" destId="{BADE62AF-E342-425C-9520-A953651F9221}" srcOrd="0" destOrd="0" presId="urn:microsoft.com/office/officeart/2005/8/layout/cycle2"/>
    <dgm:cxn modelId="{F363B25D-6C4D-4DD3-91AC-ACB6B6594526}" type="presOf" srcId="{1432282E-444A-47B5-A810-06C9A1B177E8}" destId="{FA58E14A-35D3-4B5E-9152-50FE51F5EBD9}" srcOrd="0" destOrd="0" presId="urn:microsoft.com/office/officeart/2005/8/layout/cycle2"/>
    <dgm:cxn modelId="{FE893D68-1EDE-4D76-90CA-9711D58588DF}" type="presOf" srcId="{9EDF8B8A-1828-4D8E-969E-651134465731}" destId="{1F92C89B-8088-486D-9A83-4D7E70E6756C}" srcOrd="0" destOrd="0" presId="urn:microsoft.com/office/officeart/2005/8/layout/cycle2"/>
    <dgm:cxn modelId="{98F6A56F-D8B9-4D19-82C2-E997A36EE5C7}" type="presOf" srcId="{9EDF8B8A-1828-4D8E-969E-651134465731}" destId="{397ED1F2-7BEB-46FD-ADB1-C52EA567374B}" srcOrd="1" destOrd="0" presId="urn:microsoft.com/office/officeart/2005/8/layout/cycle2"/>
    <dgm:cxn modelId="{62B06E76-4A40-4BD1-895E-A939DEEF614D}" type="presOf" srcId="{C520CDAF-EA05-4B03-9F23-3474BD4805C0}" destId="{F40A0883-A091-4F67-AD50-E74E4036B673}" srcOrd="1" destOrd="0" presId="urn:microsoft.com/office/officeart/2005/8/layout/cycle2"/>
    <dgm:cxn modelId="{0D098558-2D14-4765-B0AC-A2A37B979CBB}" srcId="{C4C36F85-6DB2-4E29-8809-B068909440E4}" destId="{6B51B6C6-4A13-4E41-B2E9-3CBD6DC18C1D}" srcOrd="1" destOrd="0" parTransId="{03E4400D-7C68-4F40-8325-D2044D180AE7}" sibTransId="{9EDF8B8A-1828-4D8E-969E-651134465731}"/>
    <dgm:cxn modelId="{E3A34180-61AD-4169-BE76-14BC339C7DCD}" type="presOf" srcId="{C4C36F85-6DB2-4E29-8809-B068909440E4}" destId="{C6DA46A7-2C5A-4CB2-9C2E-9BFAE0749E31}" srcOrd="0" destOrd="0" presId="urn:microsoft.com/office/officeart/2005/8/layout/cycle2"/>
    <dgm:cxn modelId="{2171D780-D8DC-4271-AAF0-6AEDBA44E8E5}" type="presOf" srcId="{E9AF442F-7D10-405F-AEF7-A82ECC8311BC}" destId="{49A236C6-CD27-4C6C-9EB9-E27879AB0A24}" srcOrd="0" destOrd="0" presId="urn:microsoft.com/office/officeart/2005/8/layout/cycle2"/>
    <dgm:cxn modelId="{36D3A7A8-7694-4D29-8B6A-BD56285D698F}" srcId="{C4C36F85-6DB2-4E29-8809-B068909440E4}" destId="{E9AF442F-7D10-405F-AEF7-A82ECC8311BC}" srcOrd="0" destOrd="0" parTransId="{EBB95C54-C81A-45E5-96D8-DA6EDCAD5FB2}" sibTransId="{1432282E-444A-47B5-A810-06C9A1B177E8}"/>
    <dgm:cxn modelId="{DE4B7BB4-FFF5-4150-92EE-1E62CA5F958F}" type="presOf" srcId="{1432282E-444A-47B5-A810-06C9A1B177E8}" destId="{2A713D61-8273-42EE-B1E2-F66E7C840540}" srcOrd="1" destOrd="0" presId="urn:microsoft.com/office/officeart/2005/8/layout/cycle2"/>
    <dgm:cxn modelId="{C074EFFF-C620-431A-AF4E-7B8FF848D0D2}" type="presOf" srcId="{6B51B6C6-4A13-4E41-B2E9-3CBD6DC18C1D}" destId="{65C9C5AA-8A36-4D56-B90B-7221C512FFC0}" srcOrd="0" destOrd="0" presId="urn:microsoft.com/office/officeart/2005/8/layout/cycle2"/>
    <dgm:cxn modelId="{3BEF5EE5-C7FA-4BF1-A2D9-20CEF37E4B3E}" type="presParOf" srcId="{C6DA46A7-2C5A-4CB2-9C2E-9BFAE0749E31}" destId="{49A236C6-CD27-4C6C-9EB9-E27879AB0A24}" srcOrd="0" destOrd="0" presId="urn:microsoft.com/office/officeart/2005/8/layout/cycle2"/>
    <dgm:cxn modelId="{5462E234-6CCA-438A-A1AE-63A153280C45}" type="presParOf" srcId="{C6DA46A7-2C5A-4CB2-9C2E-9BFAE0749E31}" destId="{FA58E14A-35D3-4B5E-9152-50FE51F5EBD9}" srcOrd="1" destOrd="0" presId="urn:microsoft.com/office/officeart/2005/8/layout/cycle2"/>
    <dgm:cxn modelId="{2B565B92-BE41-492A-B3ED-263C7471DBCA}" type="presParOf" srcId="{FA58E14A-35D3-4B5E-9152-50FE51F5EBD9}" destId="{2A713D61-8273-42EE-B1E2-F66E7C840540}" srcOrd="0" destOrd="0" presId="urn:microsoft.com/office/officeart/2005/8/layout/cycle2"/>
    <dgm:cxn modelId="{C0CD9307-FDD0-4E66-8BA1-64A1AFFC1FDA}" type="presParOf" srcId="{C6DA46A7-2C5A-4CB2-9C2E-9BFAE0749E31}" destId="{65C9C5AA-8A36-4D56-B90B-7221C512FFC0}" srcOrd="2" destOrd="0" presId="urn:microsoft.com/office/officeart/2005/8/layout/cycle2"/>
    <dgm:cxn modelId="{1E8300EF-1774-44D2-B7D4-81D237C9F602}" type="presParOf" srcId="{C6DA46A7-2C5A-4CB2-9C2E-9BFAE0749E31}" destId="{1F92C89B-8088-486D-9A83-4D7E70E6756C}" srcOrd="3" destOrd="0" presId="urn:microsoft.com/office/officeart/2005/8/layout/cycle2"/>
    <dgm:cxn modelId="{ABA78FA5-DC6D-4A40-A012-9999CE679476}" type="presParOf" srcId="{1F92C89B-8088-486D-9A83-4D7E70E6756C}" destId="{397ED1F2-7BEB-46FD-ADB1-C52EA567374B}" srcOrd="0" destOrd="0" presId="urn:microsoft.com/office/officeart/2005/8/layout/cycle2"/>
    <dgm:cxn modelId="{B1D9D03A-A6C3-4AC8-9444-4AE83174E2B8}" type="presParOf" srcId="{C6DA46A7-2C5A-4CB2-9C2E-9BFAE0749E31}" destId="{1C51CDF6-3C6B-4918-9B48-755BE8F6FB97}" srcOrd="4" destOrd="0" presId="urn:microsoft.com/office/officeart/2005/8/layout/cycle2"/>
    <dgm:cxn modelId="{154E691D-3CAB-4DD0-B1F5-9F7469F43E6E}" type="presParOf" srcId="{C6DA46A7-2C5A-4CB2-9C2E-9BFAE0749E31}" destId="{BADE62AF-E342-425C-9520-A953651F9221}" srcOrd="5" destOrd="0" presId="urn:microsoft.com/office/officeart/2005/8/layout/cycle2"/>
    <dgm:cxn modelId="{5A409A1C-45EA-4F17-B2CB-6FD97281767B}" type="presParOf" srcId="{BADE62AF-E342-425C-9520-A953651F9221}" destId="{F40A0883-A091-4F67-AD50-E74E4036B673}"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87A9785-4338-4547-8D80-6FEC2F32171D}" type="doc">
      <dgm:prSet loTypeId="urn:microsoft.com/office/officeart/2005/8/layout/vProcess5" loCatId="process" qsTypeId="urn:microsoft.com/office/officeart/2005/8/quickstyle/simple1" qsCatId="simple" csTypeId="urn:microsoft.com/office/officeart/2005/8/colors/accent0_3" csCatId="mainScheme" phldr="1"/>
      <dgm:spPr/>
      <dgm:t>
        <a:bodyPr/>
        <a:lstStyle/>
        <a:p>
          <a:endParaRPr lang="en-GB"/>
        </a:p>
      </dgm:t>
    </dgm:pt>
    <dgm:pt modelId="{67F87773-98A6-41AC-84A0-DD05EA2A70FA}">
      <dgm:prSet/>
      <dgm:spPr/>
      <dgm:t>
        <a:bodyPr/>
        <a:lstStyle/>
        <a:p>
          <a:r>
            <a:rPr lang="en-GB" dirty="0"/>
            <a:t>RAP</a:t>
          </a:r>
        </a:p>
      </dgm:t>
    </dgm:pt>
    <dgm:pt modelId="{7F1C483F-1C77-4C69-B949-6270C278D065}" type="parTrans" cxnId="{97B43533-6D00-422E-B397-C2624B89B9B1}">
      <dgm:prSet/>
      <dgm:spPr/>
      <dgm:t>
        <a:bodyPr/>
        <a:lstStyle/>
        <a:p>
          <a:endParaRPr lang="en-GB"/>
        </a:p>
      </dgm:t>
    </dgm:pt>
    <dgm:pt modelId="{68ED8ACB-6F14-4793-AAB3-83E374034AEF}" type="sibTrans" cxnId="{97B43533-6D00-422E-B397-C2624B89B9B1}">
      <dgm:prSet/>
      <dgm:spPr/>
      <dgm:t>
        <a:bodyPr/>
        <a:lstStyle/>
        <a:p>
          <a:endParaRPr lang="en-GB" dirty="0"/>
        </a:p>
      </dgm:t>
    </dgm:pt>
    <dgm:pt modelId="{A754EA0E-99D9-4313-9CAA-1B48D6E0E56F}">
      <dgm:prSet/>
      <dgm:spPr/>
      <dgm:t>
        <a:bodyPr/>
        <a:lstStyle/>
        <a:p>
          <a:r>
            <a:rPr lang="en-GB" dirty="0"/>
            <a:t>Data extraction, on a weekly basis</a:t>
          </a:r>
        </a:p>
      </dgm:t>
    </dgm:pt>
    <dgm:pt modelId="{AB1E1259-098B-4BFB-8985-B99130B91D54}" type="parTrans" cxnId="{193F5E1D-C1A7-4792-8674-172CB3D2B6FB}">
      <dgm:prSet/>
      <dgm:spPr/>
      <dgm:t>
        <a:bodyPr/>
        <a:lstStyle/>
        <a:p>
          <a:endParaRPr lang="en-GB"/>
        </a:p>
      </dgm:t>
    </dgm:pt>
    <dgm:pt modelId="{0D859F7D-44E4-462C-A435-209568AA7B25}" type="sibTrans" cxnId="{193F5E1D-C1A7-4792-8674-172CB3D2B6FB}">
      <dgm:prSet/>
      <dgm:spPr/>
      <dgm:t>
        <a:bodyPr/>
        <a:lstStyle/>
        <a:p>
          <a:endParaRPr lang="en-GB" dirty="0"/>
        </a:p>
      </dgm:t>
    </dgm:pt>
    <dgm:pt modelId="{19297FFA-3457-4CF7-BFC2-645D65C74C38}">
      <dgm:prSet/>
      <dgm:spPr/>
      <dgm:t>
        <a:bodyPr/>
        <a:lstStyle/>
        <a:p>
          <a:r>
            <a:rPr lang="en-GB" dirty="0"/>
            <a:t>Data wrangling (inc. cleaning, quality-checks, and analysis)</a:t>
          </a:r>
        </a:p>
      </dgm:t>
    </dgm:pt>
    <dgm:pt modelId="{D2AC7A59-D417-42A6-A5B5-58E7C902103D}" type="parTrans" cxnId="{84564BBD-4130-49EA-BDC3-0F68EF37E7EA}">
      <dgm:prSet/>
      <dgm:spPr/>
      <dgm:t>
        <a:bodyPr/>
        <a:lstStyle/>
        <a:p>
          <a:endParaRPr lang="en-GB"/>
        </a:p>
      </dgm:t>
    </dgm:pt>
    <dgm:pt modelId="{66143A18-C446-4531-B446-F95DE2D6235D}" type="sibTrans" cxnId="{84564BBD-4130-49EA-BDC3-0F68EF37E7EA}">
      <dgm:prSet/>
      <dgm:spPr/>
      <dgm:t>
        <a:bodyPr/>
        <a:lstStyle/>
        <a:p>
          <a:endParaRPr lang="en-GB" dirty="0"/>
        </a:p>
      </dgm:t>
    </dgm:pt>
    <dgm:pt modelId="{A2D025C2-39E5-4423-83D0-619285D1A71D}">
      <dgm:prSet/>
      <dgm:spPr/>
      <dgm:t>
        <a:bodyPr/>
        <a:lstStyle/>
        <a:p>
          <a:pPr>
            <a:buNone/>
          </a:pPr>
          <a:r>
            <a:rPr lang="en-GB" dirty="0"/>
            <a:t>Final output: standardised HTML format report, </a:t>
          </a:r>
        </a:p>
      </dgm:t>
    </dgm:pt>
    <dgm:pt modelId="{8CF2D56A-3679-4019-86D1-1CD456D9C5BD}" type="parTrans" cxnId="{0A8378D2-24D9-485C-B92F-5C496052A749}">
      <dgm:prSet/>
      <dgm:spPr/>
      <dgm:t>
        <a:bodyPr/>
        <a:lstStyle/>
        <a:p>
          <a:endParaRPr lang="en-GB"/>
        </a:p>
      </dgm:t>
    </dgm:pt>
    <dgm:pt modelId="{A53623BC-C812-47F9-B585-AC4DCAA7F6F0}" type="sibTrans" cxnId="{0A8378D2-24D9-485C-B92F-5C496052A749}">
      <dgm:prSet/>
      <dgm:spPr/>
      <dgm:t>
        <a:bodyPr/>
        <a:lstStyle/>
        <a:p>
          <a:endParaRPr lang="en-GB" dirty="0"/>
        </a:p>
      </dgm:t>
    </dgm:pt>
    <dgm:pt modelId="{E41B39C7-AB7D-4F41-8FD8-C973E67772C0}">
      <dgm:prSet/>
      <dgm:spPr/>
      <dgm:t>
        <a:bodyPr/>
        <a:lstStyle/>
        <a:p>
          <a:r>
            <a:rPr lang="en-GB" dirty="0"/>
            <a:t>Automatically uploaded to a secure, central intranet hub</a:t>
          </a:r>
        </a:p>
      </dgm:t>
    </dgm:pt>
    <dgm:pt modelId="{E3A745FC-1E1F-4432-B7BF-57822AC5AC75}" type="parTrans" cxnId="{3C9BE3CA-CAAA-4161-AD30-0DE667698F18}">
      <dgm:prSet/>
      <dgm:spPr/>
      <dgm:t>
        <a:bodyPr/>
        <a:lstStyle/>
        <a:p>
          <a:endParaRPr lang="en-GB"/>
        </a:p>
      </dgm:t>
    </dgm:pt>
    <dgm:pt modelId="{B0D97CF9-E24F-4C90-9AC9-845238EB5DD7}" type="sibTrans" cxnId="{3C9BE3CA-CAAA-4161-AD30-0DE667698F18}">
      <dgm:prSet/>
      <dgm:spPr/>
      <dgm:t>
        <a:bodyPr/>
        <a:lstStyle/>
        <a:p>
          <a:endParaRPr lang="en-GB"/>
        </a:p>
      </dgm:t>
    </dgm:pt>
    <dgm:pt modelId="{652576EE-FD3C-4440-B0ED-D95156F330B8}">
      <dgm:prSet/>
      <dgm:spPr/>
      <dgm:t>
        <a:bodyPr/>
        <a:lstStyle/>
        <a:p>
          <a:r>
            <a:rPr lang="en-GB" dirty="0"/>
            <a:t>from secure data warehouse (DWH), using SQL and R programming.</a:t>
          </a:r>
        </a:p>
      </dgm:t>
    </dgm:pt>
    <dgm:pt modelId="{9F17D691-F593-4805-BB94-255C41B289BC}" type="parTrans" cxnId="{FAF78023-0D44-43FD-B4A7-2E3A6F0D5586}">
      <dgm:prSet/>
      <dgm:spPr/>
      <dgm:t>
        <a:bodyPr/>
        <a:lstStyle/>
        <a:p>
          <a:endParaRPr lang="en-GB"/>
        </a:p>
      </dgm:t>
    </dgm:pt>
    <dgm:pt modelId="{FC296AA7-11ED-441C-8818-37E6BCE83362}" type="sibTrans" cxnId="{FAF78023-0D44-43FD-B4A7-2E3A6F0D5586}">
      <dgm:prSet/>
      <dgm:spPr/>
      <dgm:t>
        <a:bodyPr/>
        <a:lstStyle/>
        <a:p>
          <a:endParaRPr lang="en-GB"/>
        </a:p>
      </dgm:t>
    </dgm:pt>
    <dgm:pt modelId="{BB812B83-0C96-4E8F-8329-1A73A6BD9A24}">
      <dgm:prSet/>
      <dgm:spPr/>
      <dgm:t>
        <a:bodyPr/>
        <a:lstStyle/>
        <a:p>
          <a:r>
            <a:rPr lang="en-GB" dirty="0"/>
            <a:t>using modular, re-usable, git version-controlled code </a:t>
          </a:r>
        </a:p>
      </dgm:t>
    </dgm:pt>
    <dgm:pt modelId="{392DAA5C-8B02-446C-BDC2-0194EFA9A09B}" type="parTrans" cxnId="{C0111386-5543-4428-8A38-61EE222180A8}">
      <dgm:prSet/>
      <dgm:spPr/>
      <dgm:t>
        <a:bodyPr/>
        <a:lstStyle/>
        <a:p>
          <a:endParaRPr lang="en-GB"/>
        </a:p>
      </dgm:t>
    </dgm:pt>
    <dgm:pt modelId="{E2FDF899-1721-47F5-97F9-D4C614C308C1}" type="sibTrans" cxnId="{C0111386-5543-4428-8A38-61EE222180A8}">
      <dgm:prSet/>
      <dgm:spPr/>
      <dgm:t>
        <a:bodyPr/>
        <a:lstStyle/>
        <a:p>
          <a:endParaRPr lang="en-GB"/>
        </a:p>
      </dgm:t>
    </dgm:pt>
    <dgm:pt modelId="{EDA87E48-DF3A-42E7-B161-1B516ED9EB63}">
      <dgm:prSet/>
      <dgm:spPr/>
      <dgm:t>
        <a:bodyPr/>
        <a:lstStyle/>
        <a:p>
          <a:r>
            <a:rPr lang="en-GB" dirty="0"/>
            <a:t>using R programming .</a:t>
          </a:r>
        </a:p>
      </dgm:t>
    </dgm:pt>
    <dgm:pt modelId="{C09081A4-C69E-474C-9F28-696A88D1EE1D}" type="parTrans" cxnId="{70EB0055-8740-4AB0-8059-12BF0745F121}">
      <dgm:prSet/>
      <dgm:spPr/>
      <dgm:t>
        <a:bodyPr/>
        <a:lstStyle/>
        <a:p>
          <a:endParaRPr lang="en-GB"/>
        </a:p>
      </dgm:t>
    </dgm:pt>
    <dgm:pt modelId="{F4588E49-C386-4060-A094-C2FC03041A15}" type="sibTrans" cxnId="{70EB0055-8740-4AB0-8059-12BF0745F121}">
      <dgm:prSet/>
      <dgm:spPr/>
      <dgm:t>
        <a:bodyPr/>
        <a:lstStyle/>
        <a:p>
          <a:endParaRPr lang="en-GB"/>
        </a:p>
      </dgm:t>
    </dgm:pt>
    <dgm:pt modelId="{0BDA43EC-3C41-43EC-8640-49B0EF85FCF3}">
      <dgm:prSet/>
      <dgm:spPr/>
      <dgm:t>
        <a:bodyPr/>
        <a:lstStyle/>
        <a:p>
          <a:pPr>
            <a:buFont typeface="Arial" panose="020B0604020202020204" pitchFamily="34" charset="0"/>
            <a:buChar char="•"/>
          </a:pPr>
          <a:r>
            <a:rPr lang="en-GB" dirty="0"/>
            <a:t>generated using Quarto.</a:t>
          </a:r>
        </a:p>
      </dgm:t>
    </dgm:pt>
    <dgm:pt modelId="{DE74F399-835B-43CD-8181-069ABA9E062B}" type="parTrans" cxnId="{E5DE06CA-D595-4FC4-9038-B2B5F648F160}">
      <dgm:prSet/>
      <dgm:spPr/>
      <dgm:t>
        <a:bodyPr/>
        <a:lstStyle/>
        <a:p>
          <a:endParaRPr lang="en-GB"/>
        </a:p>
      </dgm:t>
    </dgm:pt>
    <dgm:pt modelId="{2AA7EFCE-51DE-4F85-A776-A149286F8743}" type="sibTrans" cxnId="{E5DE06CA-D595-4FC4-9038-B2B5F648F160}">
      <dgm:prSet/>
      <dgm:spPr/>
      <dgm:t>
        <a:bodyPr/>
        <a:lstStyle/>
        <a:p>
          <a:endParaRPr lang="en-GB"/>
        </a:p>
      </dgm:t>
    </dgm:pt>
    <dgm:pt modelId="{CE59AD9F-AD01-46BA-BBD7-EF0F9E57067A}">
      <dgm:prSet/>
      <dgm:spPr/>
      <dgm:t>
        <a:bodyPr/>
        <a:lstStyle/>
        <a:p>
          <a:r>
            <a:rPr lang="en-GB" dirty="0"/>
            <a:t>data science intranet site</a:t>
          </a:r>
        </a:p>
      </dgm:t>
    </dgm:pt>
    <dgm:pt modelId="{63BFD75E-9C2F-4D9E-B2FD-0866BF203A84}" type="parTrans" cxnId="{76FCDE6C-410D-4987-BE9E-3A058EAEAC07}">
      <dgm:prSet/>
      <dgm:spPr/>
      <dgm:t>
        <a:bodyPr/>
        <a:lstStyle/>
        <a:p>
          <a:endParaRPr lang="en-GB"/>
        </a:p>
      </dgm:t>
    </dgm:pt>
    <dgm:pt modelId="{67209FAD-2D14-4659-A9A6-86F3DDF3C4C8}" type="sibTrans" cxnId="{76FCDE6C-410D-4987-BE9E-3A058EAEAC07}">
      <dgm:prSet/>
      <dgm:spPr/>
      <dgm:t>
        <a:bodyPr/>
        <a:lstStyle/>
        <a:p>
          <a:endParaRPr lang="en-GB"/>
        </a:p>
      </dgm:t>
    </dgm:pt>
    <dgm:pt modelId="{3438D61C-EE81-4B9A-973D-5E2C21A77A1D}" type="pres">
      <dgm:prSet presAssocID="{787A9785-4338-4547-8D80-6FEC2F32171D}" presName="outerComposite" presStyleCnt="0">
        <dgm:presLayoutVars>
          <dgm:chMax val="5"/>
          <dgm:dir/>
          <dgm:resizeHandles val="exact"/>
        </dgm:presLayoutVars>
      </dgm:prSet>
      <dgm:spPr/>
    </dgm:pt>
    <dgm:pt modelId="{06F309C9-B40F-4676-9B9D-92D543185C01}" type="pres">
      <dgm:prSet presAssocID="{787A9785-4338-4547-8D80-6FEC2F32171D}" presName="dummyMaxCanvas" presStyleCnt="0">
        <dgm:presLayoutVars/>
      </dgm:prSet>
      <dgm:spPr/>
    </dgm:pt>
    <dgm:pt modelId="{1230ACE4-8A27-44D2-8FB8-E4349A46C168}" type="pres">
      <dgm:prSet presAssocID="{787A9785-4338-4547-8D80-6FEC2F32171D}" presName="FiveNodes_1" presStyleLbl="node1" presStyleIdx="0" presStyleCnt="5">
        <dgm:presLayoutVars>
          <dgm:bulletEnabled val="1"/>
        </dgm:presLayoutVars>
      </dgm:prSet>
      <dgm:spPr/>
    </dgm:pt>
    <dgm:pt modelId="{E3BB101C-3D5C-4B7C-908B-8CC6257FA344}" type="pres">
      <dgm:prSet presAssocID="{787A9785-4338-4547-8D80-6FEC2F32171D}" presName="FiveNodes_2" presStyleLbl="node1" presStyleIdx="1" presStyleCnt="5">
        <dgm:presLayoutVars>
          <dgm:bulletEnabled val="1"/>
        </dgm:presLayoutVars>
      </dgm:prSet>
      <dgm:spPr/>
    </dgm:pt>
    <dgm:pt modelId="{0218250A-EBB8-4715-BEFB-7B9122B1FA48}" type="pres">
      <dgm:prSet presAssocID="{787A9785-4338-4547-8D80-6FEC2F32171D}" presName="FiveNodes_3" presStyleLbl="node1" presStyleIdx="2" presStyleCnt="5">
        <dgm:presLayoutVars>
          <dgm:bulletEnabled val="1"/>
        </dgm:presLayoutVars>
      </dgm:prSet>
      <dgm:spPr/>
    </dgm:pt>
    <dgm:pt modelId="{61807D33-D756-47B5-85C6-0837794E7DF2}" type="pres">
      <dgm:prSet presAssocID="{787A9785-4338-4547-8D80-6FEC2F32171D}" presName="FiveNodes_4" presStyleLbl="node1" presStyleIdx="3" presStyleCnt="5">
        <dgm:presLayoutVars>
          <dgm:bulletEnabled val="1"/>
        </dgm:presLayoutVars>
      </dgm:prSet>
      <dgm:spPr/>
    </dgm:pt>
    <dgm:pt modelId="{EEAE162C-6830-4D33-9D9F-D15EB25053B3}" type="pres">
      <dgm:prSet presAssocID="{787A9785-4338-4547-8D80-6FEC2F32171D}" presName="FiveNodes_5" presStyleLbl="node1" presStyleIdx="4" presStyleCnt="5">
        <dgm:presLayoutVars>
          <dgm:bulletEnabled val="1"/>
        </dgm:presLayoutVars>
      </dgm:prSet>
      <dgm:spPr/>
    </dgm:pt>
    <dgm:pt modelId="{CBEC6B7F-1ADC-4159-BB5E-950D75DFC32F}" type="pres">
      <dgm:prSet presAssocID="{787A9785-4338-4547-8D80-6FEC2F32171D}" presName="FiveConn_1-2" presStyleLbl="fgAccFollowNode1" presStyleIdx="0" presStyleCnt="4">
        <dgm:presLayoutVars>
          <dgm:bulletEnabled val="1"/>
        </dgm:presLayoutVars>
      </dgm:prSet>
      <dgm:spPr/>
    </dgm:pt>
    <dgm:pt modelId="{E04BDF8A-6BEB-4013-9122-FBB8E52060FD}" type="pres">
      <dgm:prSet presAssocID="{787A9785-4338-4547-8D80-6FEC2F32171D}" presName="FiveConn_2-3" presStyleLbl="fgAccFollowNode1" presStyleIdx="1" presStyleCnt="4">
        <dgm:presLayoutVars>
          <dgm:bulletEnabled val="1"/>
        </dgm:presLayoutVars>
      </dgm:prSet>
      <dgm:spPr/>
    </dgm:pt>
    <dgm:pt modelId="{57207114-FE88-4013-ACA9-8055CA77A77E}" type="pres">
      <dgm:prSet presAssocID="{787A9785-4338-4547-8D80-6FEC2F32171D}" presName="FiveConn_3-4" presStyleLbl="fgAccFollowNode1" presStyleIdx="2" presStyleCnt="4">
        <dgm:presLayoutVars>
          <dgm:bulletEnabled val="1"/>
        </dgm:presLayoutVars>
      </dgm:prSet>
      <dgm:spPr/>
    </dgm:pt>
    <dgm:pt modelId="{86AE71C8-BC55-43B4-98B0-F12566DF7F2D}" type="pres">
      <dgm:prSet presAssocID="{787A9785-4338-4547-8D80-6FEC2F32171D}" presName="FiveConn_4-5" presStyleLbl="fgAccFollowNode1" presStyleIdx="3" presStyleCnt="4">
        <dgm:presLayoutVars>
          <dgm:bulletEnabled val="1"/>
        </dgm:presLayoutVars>
      </dgm:prSet>
      <dgm:spPr/>
    </dgm:pt>
    <dgm:pt modelId="{E5AA2C1C-2725-4045-9BB8-208E2E9714B8}" type="pres">
      <dgm:prSet presAssocID="{787A9785-4338-4547-8D80-6FEC2F32171D}" presName="FiveNodes_1_text" presStyleLbl="node1" presStyleIdx="4" presStyleCnt="5">
        <dgm:presLayoutVars>
          <dgm:bulletEnabled val="1"/>
        </dgm:presLayoutVars>
      </dgm:prSet>
      <dgm:spPr/>
    </dgm:pt>
    <dgm:pt modelId="{7B51964F-E7C6-4C75-B546-E353C3451F55}" type="pres">
      <dgm:prSet presAssocID="{787A9785-4338-4547-8D80-6FEC2F32171D}" presName="FiveNodes_2_text" presStyleLbl="node1" presStyleIdx="4" presStyleCnt="5">
        <dgm:presLayoutVars>
          <dgm:bulletEnabled val="1"/>
        </dgm:presLayoutVars>
      </dgm:prSet>
      <dgm:spPr/>
    </dgm:pt>
    <dgm:pt modelId="{0716DCA1-5A7D-4232-AE91-9F14FDDED8D8}" type="pres">
      <dgm:prSet presAssocID="{787A9785-4338-4547-8D80-6FEC2F32171D}" presName="FiveNodes_3_text" presStyleLbl="node1" presStyleIdx="4" presStyleCnt="5">
        <dgm:presLayoutVars>
          <dgm:bulletEnabled val="1"/>
        </dgm:presLayoutVars>
      </dgm:prSet>
      <dgm:spPr/>
    </dgm:pt>
    <dgm:pt modelId="{D1AF0AD0-0A27-40A8-B822-652355727A96}" type="pres">
      <dgm:prSet presAssocID="{787A9785-4338-4547-8D80-6FEC2F32171D}" presName="FiveNodes_4_text" presStyleLbl="node1" presStyleIdx="4" presStyleCnt="5">
        <dgm:presLayoutVars>
          <dgm:bulletEnabled val="1"/>
        </dgm:presLayoutVars>
      </dgm:prSet>
      <dgm:spPr/>
    </dgm:pt>
    <dgm:pt modelId="{AB2E93F2-2312-4818-8F58-8FD00A0710C7}" type="pres">
      <dgm:prSet presAssocID="{787A9785-4338-4547-8D80-6FEC2F32171D}" presName="FiveNodes_5_text" presStyleLbl="node1" presStyleIdx="4" presStyleCnt="5">
        <dgm:presLayoutVars>
          <dgm:bulletEnabled val="1"/>
        </dgm:presLayoutVars>
      </dgm:prSet>
      <dgm:spPr/>
    </dgm:pt>
  </dgm:ptLst>
  <dgm:cxnLst>
    <dgm:cxn modelId="{130C180B-315B-430C-91C8-80C8585945B7}" type="presOf" srcId="{0BDA43EC-3C41-43EC-8640-49B0EF85FCF3}" destId="{61807D33-D756-47B5-85C6-0837794E7DF2}" srcOrd="0" destOrd="1" presId="urn:microsoft.com/office/officeart/2005/8/layout/vProcess5"/>
    <dgm:cxn modelId="{0381460B-8035-4F17-A27C-F547F65AB070}" type="presOf" srcId="{68ED8ACB-6F14-4793-AAB3-83E374034AEF}" destId="{CBEC6B7F-1ADC-4159-BB5E-950D75DFC32F}" srcOrd="0" destOrd="0" presId="urn:microsoft.com/office/officeart/2005/8/layout/vProcess5"/>
    <dgm:cxn modelId="{193F5E1D-C1A7-4792-8674-172CB3D2B6FB}" srcId="{787A9785-4338-4547-8D80-6FEC2F32171D}" destId="{A754EA0E-99D9-4313-9CAA-1B48D6E0E56F}" srcOrd="1" destOrd="0" parTransId="{AB1E1259-098B-4BFB-8985-B99130B91D54}" sibTransId="{0D859F7D-44E4-462C-A435-209568AA7B25}"/>
    <dgm:cxn modelId="{FAF78023-0D44-43FD-B4A7-2E3A6F0D5586}" srcId="{A754EA0E-99D9-4313-9CAA-1B48D6E0E56F}" destId="{652576EE-FD3C-4440-B0ED-D95156F330B8}" srcOrd="0" destOrd="0" parTransId="{9F17D691-F593-4805-BB94-255C41B289BC}" sibTransId="{FC296AA7-11ED-441C-8818-37E6BCE83362}"/>
    <dgm:cxn modelId="{CD272428-00B0-41E4-93AE-3E4F06A8AA39}" type="presOf" srcId="{19297FFA-3457-4CF7-BFC2-645D65C74C38}" destId="{0716DCA1-5A7D-4232-AE91-9F14FDDED8D8}" srcOrd="1" destOrd="0" presId="urn:microsoft.com/office/officeart/2005/8/layout/vProcess5"/>
    <dgm:cxn modelId="{1FCEBD2A-6B4F-424E-B385-7FC842FEE980}" type="presOf" srcId="{652576EE-FD3C-4440-B0ED-D95156F330B8}" destId="{E3BB101C-3D5C-4B7C-908B-8CC6257FA344}" srcOrd="0" destOrd="1" presId="urn:microsoft.com/office/officeart/2005/8/layout/vProcess5"/>
    <dgm:cxn modelId="{13D05B2C-A79B-4497-A5FA-273CF6C5E29F}" type="presOf" srcId="{A53623BC-C812-47F9-B585-AC4DCAA7F6F0}" destId="{86AE71C8-BC55-43B4-98B0-F12566DF7F2D}" srcOrd="0" destOrd="0" presId="urn:microsoft.com/office/officeart/2005/8/layout/vProcess5"/>
    <dgm:cxn modelId="{97B43533-6D00-422E-B397-C2624B89B9B1}" srcId="{787A9785-4338-4547-8D80-6FEC2F32171D}" destId="{67F87773-98A6-41AC-84A0-DD05EA2A70FA}" srcOrd="0" destOrd="0" parTransId="{7F1C483F-1C77-4C69-B949-6270C278D065}" sibTransId="{68ED8ACB-6F14-4793-AAB3-83E374034AEF}"/>
    <dgm:cxn modelId="{3DA69D36-E980-4ACE-84F7-ED1D77CC7BFF}" type="presOf" srcId="{A754EA0E-99D9-4313-9CAA-1B48D6E0E56F}" destId="{7B51964F-E7C6-4C75-B546-E353C3451F55}" srcOrd="1" destOrd="0" presId="urn:microsoft.com/office/officeart/2005/8/layout/vProcess5"/>
    <dgm:cxn modelId="{CAE7E93F-87DC-4B39-8887-EF435CA37C99}" type="presOf" srcId="{A2D025C2-39E5-4423-83D0-619285D1A71D}" destId="{61807D33-D756-47B5-85C6-0837794E7DF2}" srcOrd="0" destOrd="0" presId="urn:microsoft.com/office/officeart/2005/8/layout/vProcess5"/>
    <dgm:cxn modelId="{81A3BA5E-B6A6-4CCE-97A2-D74DE2FB756B}" type="presOf" srcId="{E41B39C7-AB7D-4F41-8FD8-C973E67772C0}" destId="{AB2E93F2-2312-4818-8F58-8FD00A0710C7}" srcOrd="1" destOrd="0" presId="urn:microsoft.com/office/officeart/2005/8/layout/vProcess5"/>
    <dgm:cxn modelId="{4D2F5A66-B945-4474-95D9-4B497799FDEA}" type="presOf" srcId="{19297FFA-3457-4CF7-BFC2-645D65C74C38}" destId="{0218250A-EBB8-4715-BEFB-7B9122B1FA48}" srcOrd="0" destOrd="0" presId="urn:microsoft.com/office/officeart/2005/8/layout/vProcess5"/>
    <dgm:cxn modelId="{F82D9E48-2475-4992-B359-35AA496A82DF}" type="presOf" srcId="{BB812B83-0C96-4E8F-8329-1A73A6BD9A24}" destId="{E5AA2C1C-2725-4045-9BB8-208E2E9714B8}" srcOrd="1" destOrd="1" presId="urn:microsoft.com/office/officeart/2005/8/layout/vProcess5"/>
    <dgm:cxn modelId="{73F4554C-62BE-4FDE-98AD-0D1E6FDADBDF}" type="presOf" srcId="{CE59AD9F-AD01-46BA-BBD7-EF0F9E57067A}" destId="{AB2E93F2-2312-4818-8F58-8FD00A0710C7}" srcOrd="1" destOrd="1" presId="urn:microsoft.com/office/officeart/2005/8/layout/vProcess5"/>
    <dgm:cxn modelId="{76FCDE6C-410D-4987-BE9E-3A058EAEAC07}" srcId="{E41B39C7-AB7D-4F41-8FD8-C973E67772C0}" destId="{CE59AD9F-AD01-46BA-BBD7-EF0F9E57067A}" srcOrd="0" destOrd="0" parTransId="{63BFD75E-9C2F-4D9E-B2FD-0866BF203A84}" sibTransId="{67209FAD-2D14-4659-A9A6-86F3DDF3C4C8}"/>
    <dgm:cxn modelId="{A3E06C54-8E6B-4E7E-BFEB-695A2658286C}" type="presOf" srcId="{67F87773-98A6-41AC-84A0-DD05EA2A70FA}" destId="{1230ACE4-8A27-44D2-8FB8-E4349A46C168}" srcOrd="0" destOrd="0" presId="urn:microsoft.com/office/officeart/2005/8/layout/vProcess5"/>
    <dgm:cxn modelId="{70EB0055-8740-4AB0-8059-12BF0745F121}" srcId="{19297FFA-3457-4CF7-BFC2-645D65C74C38}" destId="{EDA87E48-DF3A-42E7-B161-1B516ED9EB63}" srcOrd="0" destOrd="0" parTransId="{C09081A4-C69E-474C-9F28-696A88D1EE1D}" sibTransId="{F4588E49-C386-4060-A094-C2FC03041A15}"/>
    <dgm:cxn modelId="{A5588B59-7BB2-436A-A9E3-C5AA3BF6D1DB}" type="presOf" srcId="{66143A18-C446-4531-B446-F95DE2D6235D}" destId="{57207114-FE88-4013-ACA9-8055CA77A77E}" srcOrd="0" destOrd="0" presId="urn:microsoft.com/office/officeart/2005/8/layout/vProcess5"/>
    <dgm:cxn modelId="{398D457E-173F-483B-AE98-496588F24D1E}" type="presOf" srcId="{652576EE-FD3C-4440-B0ED-D95156F330B8}" destId="{7B51964F-E7C6-4C75-B546-E353C3451F55}" srcOrd="1" destOrd="1" presId="urn:microsoft.com/office/officeart/2005/8/layout/vProcess5"/>
    <dgm:cxn modelId="{C0111386-5543-4428-8A38-61EE222180A8}" srcId="{67F87773-98A6-41AC-84A0-DD05EA2A70FA}" destId="{BB812B83-0C96-4E8F-8329-1A73A6BD9A24}" srcOrd="0" destOrd="0" parTransId="{392DAA5C-8B02-446C-BDC2-0194EFA9A09B}" sibTransId="{E2FDF899-1721-47F5-97F9-D4C614C308C1}"/>
    <dgm:cxn modelId="{7A11C6A1-82AE-46A3-84AE-F33E847E2527}" type="presOf" srcId="{EDA87E48-DF3A-42E7-B161-1B516ED9EB63}" destId="{0716DCA1-5A7D-4232-AE91-9F14FDDED8D8}" srcOrd="1" destOrd="1" presId="urn:microsoft.com/office/officeart/2005/8/layout/vProcess5"/>
    <dgm:cxn modelId="{8FAAD1AA-8001-41EB-A3AC-060D9640F774}" type="presOf" srcId="{67F87773-98A6-41AC-84A0-DD05EA2A70FA}" destId="{E5AA2C1C-2725-4045-9BB8-208E2E9714B8}" srcOrd="1" destOrd="0" presId="urn:microsoft.com/office/officeart/2005/8/layout/vProcess5"/>
    <dgm:cxn modelId="{5BA14EBB-BDD5-4C54-8854-4BB0B056283B}" type="presOf" srcId="{BB812B83-0C96-4E8F-8329-1A73A6BD9A24}" destId="{1230ACE4-8A27-44D2-8FB8-E4349A46C168}" srcOrd="0" destOrd="1" presId="urn:microsoft.com/office/officeart/2005/8/layout/vProcess5"/>
    <dgm:cxn modelId="{84564BBD-4130-49EA-BDC3-0F68EF37E7EA}" srcId="{787A9785-4338-4547-8D80-6FEC2F32171D}" destId="{19297FFA-3457-4CF7-BFC2-645D65C74C38}" srcOrd="2" destOrd="0" parTransId="{D2AC7A59-D417-42A6-A5B5-58E7C902103D}" sibTransId="{66143A18-C446-4531-B446-F95DE2D6235D}"/>
    <dgm:cxn modelId="{E5DE06CA-D595-4FC4-9038-B2B5F648F160}" srcId="{A2D025C2-39E5-4423-83D0-619285D1A71D}" destId="{0BDA43EC-3C41-43EC-8640-49B0EF85FCF3}" srcOrd="0" destOrd="0" parTransId="{DE74F399-835B-43CD-8181-069ABA9E062B}" sibTransId="{2AA7EFCE-51DE-4F85-A776-A149286F8743}"/>
    <dgm:cxn modelId="{3C9BE3CA-CAAA-4161-AD30-0DE667698F18}" srcId="{787A9785-4338-4547-8D80-6FEC2F32171D}" destId="{E41B39C7-AB7D-4F41-8FD8-C973E67772C0}" srcOrd="4" destOrd="0" parTransId="{E3A745FC-1E1F-4432-B7BF-57822AC5AC75}" sibTransId="{B0D97CF9-E24F-4C90-9AC9-845238EB5DD7}"/>
    <dgm:cxn modelId="{0A8378D2-24D9-485C-B92F-5C496052A749}" srcId="{787A9785-4338-4547-8D80-6FEC2F32171D}" destId="{A2D025C2-39E5-4423-83D0-619285D1A71D}" srcOrd="3" destOrd="0" parTransId="{8CF2D56A-3679-4019-86D1-1CD456D9C5BD}" sibTransId="{A53623BC-C812-47F9-B585-AC4DCAA7F6F0}"/>
    <dgm:cxn modelId="{4023EED6-E2DF-4D92-A394-188CF74707A4}" type="presOf" srcId="{E41B39C7-AB7D-4F41-8FD8-C973E67772C0}" destId="{EEAE162C-6830-4D33-9D9F-D15EB25053B3}" srcOrd="0" destOrd="0" presId="urn:microsoft.com/office/officeart/2005/8/layout/vProcess5"/>
    <dgm:cxn modelId="{047ACED8-80FB-4E86-87B2-4E96031F175E}" type="presOf" srcId="{0D859F7D-44E4-462C-A435-209568AA7B25}" destId="{E04BDF8A-6BEB-4013-9122-FBB8E52060FD}" srcOrd="0" destOrd="0" presId="urn:microsoft.com/office/officeart/2005/8/layout/vProcess5"/>
    <dgm:cxn modelId="{3E5C12DC-4624-4BCE-B98B-E2EF3FD39B0D}" type="presOf" srcId="{EDA87E48-DF3A-42E7-B161-1B516ED9EB63}" destId="{0218250A-EBB8-4715-BEFB-7B9122B1FA48}" srcOrd="0" destOrd="1" presId="urn:microsoft.com/office/officeart/2005/8/layout/vProcess5"/>
    <dgm:cxn modelId="{A50E4ADE-E30F-4CA1-9E78-157132F8C349}" type="presOf" srcId="{0BDA43EC-3C41-43EC-8640-49B0EF85FCF3}" destId="{D1AF0AD0-0A27-40A8-B822-652355727A96}" srcOrd="1" destOrd="1" presId="urn:microsoft.com/office/officeart/2005/8/layout/vProcess5"/>
    <dgm:cxn modelId="{D0B3B8DF-12E2-4E36-8409-72478A7C38AA}" type="presOf" srcId="{CE59AD9F-AD01-46BA-BBD7-EF0F9E57067A}" destId="{EEAE162C-6830-4D33-9D9F-D15EB25053B3}" srcOrd="0" destOrd="1" presId="urn:microsoft.com/office/officeart/2005/8/layout/vProcess5"/>
    <dgm:cxn modelId="{224C43F0-C7F7-4E88-B91E-2A655B7CF345}" type="presOf" srcId="{A754EA0E-99D9-4313-9CAA-1B48D6E0E56F}" destId="{E3BB101C-3D5C-4B7C-908B-8CC6257FA344}" srcOrd="0" destOrd="0" presId="urn:microsoft.com/office/officeart/2005/8/layout/vProcess5"/>
    <dgm:cxn modelId="{CFD2D3F2-CC34-4995-BA18-2426DC23B344}" type="presOf" srcId="{787A9785-4338-4547-8D80-6FEC2F32171D}" destId="{3438D61C-EE81-4B9A-973D-5E2C21A77A1D}" srcOrd="0" destOrd="0" presId="urn:microsoft.com/office/officeart/2005/8/layout/vProcess5"/>
    <dgm:cxn modelId="{2DFF70F4-686B-47EF-8601-0C107C71204D}" type="presOf" srcId="{A2D025C2-39E5-4423-83D0-619285D1A71D}" destId="{D1AF0AD0-0A27-40A8-B822-652355727A96}" srcOrd="1" destOrd="0" presId="urn:microsoft.com/office/officeart/2005/8/layout/vProcess5"/>
    <dgm:cxn modelId="{61CAD046-0325-4269-83E6-982152FA342A}" type="presParOf" srcId="{3438D61C-EE81-4B9A-973D-5E2C21A77A1D}" destId="{06F309C9-B40F-4676-9B9D-92D543185C01}" srcOrd="0" destOrd="0" presId="urn:microsoft.com/office/officeart/2005/8/layout/vProcess5"/>
    <dgm:cxn modelId="{AD6757DF-219F-4AC6-8D8B-632BF7232944}" type="presParOf" srcId="{3438D61C-EE81-4B9A-973D-5E2C21A77A1D}" destId="{1230ACE4-8A27-44D2-8FB8-E4349A46C168}" srcOrd="1" destOrd="0" presId="urn:microsoft.com/office/officeart/2005/8/layout/vProcess5"/>
    <dgm:cxn modelId="{E8D0F511-4C8C-4FE1-B6FE-7A004DCBC350}" type="presParOf" srcId="{3438D61C-EE81-4B9A-973D-5E2C21A77A1D}" destId="{E3BB101C-3D5C-4B7C-908B-8CC6257FA344}" srcOrd="2" destOrd="0" presId="urn:microsoft.com/office/officeart/2005/8/layout/vProcess5"/>
    <dgm:cxn modelId="{EAB988E0-5A56-43F3-A6A2-406DF41D948E}" type="presParOf" srcId="{3438D61C-EE81-4B9A-973D-5E2C21A77A1D}" destId="{0218250A-EBB8-4715-BEFB-7B9122B1FA48}" srcOrd="3" destOrd="0" presId="urn:microsoft.com/office/officeart/2005/8/layout/vProcess5"/>
    <dgm:cxn modelId="{52E66565-5E47-423F-B08D-CE0376655386}" type="presParOf" srcId="{3438D61C-EE81-4B9A-973D-5E2C21A77A1D}" destId="{61807D33-D756-47B5-85C6-0837794E7DF2}" srcOrd="4" destOrd="0" presId="urn:microsoft.com/office/officeart/2005/8/layout/vProcess5"/>
    <dgm:cxn modelId="{C8C7E92E-4A6D-44C1-AFB8-1E137A242C50}" type="presParOf" srcId="{3438D61C-EE81-4B9A-973D-5E2C21A77A1D}" destId="{EEAE162C-6830-4D33-9D9F-D15EB25053B3}" srcOrd="5" destOrd="0" presId="urn:microsoft.com/office/officeart/2005/8/layout/vProcess5"/>
    <dgm:cxn modelId="{16C120F1-52BD-4833-A1E9-E7E7655D425B}" type="presParOf" srcId="{3438D61C-EE81-4B9A-973D-5E2C21A77A1D}" destId="{CBEC6B7F-1ADC-4159-BB5E-950D75DFC32F}" srcOrd="6" destOrd="0" presId="urn:microsoft.com/office/officeart/2005/8/layout/vProcess5"/>
    <dgm:cxn modelId="{C5DEB9C8-C735-4113-90E6-B8199D0CD0CC}" type="presParOf" srcId="{3438D61C-EE81-4B9A-973D-5E2C21A77A1D}" destId="{E04BDF8A-6BEB-4013-9122-FBB8E52060FD}" srcOrd="7" destOrd="0" presId="urn:microsoft.com/office/officeart/2005/8/layout/vProcess5"/>
    <dgm:cxn modelId="{7E04CB37-66CE-45D8-ADA3-342B3231C5A4}" type="presParOf" srcId="{3438D61C-EE81-4B9A-973D-5E2C21A77A1D}" destId="{57207114-FE88-4013-ACA9-8055CA77A77E}" srcOrd="8" destOrd="0" presId="urn:microsoft.com/office/officeart/2005/8/layout/vProcess5"/>
    <dgm:cxn modelId="{3454700C-EE08-48F7-9CAD-79A89671A7AB}" type="presParOf" srcId="{3438D61C-EE81-4B9A-973D-5E2C21A77A1D}" destId="{86AE71C8-BC55-43B4-98B0-F12566DF7F2D}" srcOrd="9" destOrd="0" presId="urn:microsoft.com/office/officeart/2005/8/layout/vProcess5"/>
    <dgm:cxn modelId="{9B530BC4-02D6-4122-BB2B-FA21AF011416}" type="presParOf" srcId="{3438D61C-EE81-4B9A-973D-5E2C21A77A1D}" destId="{E5AA2C1C-2725-4045-9BB8-208E2E9714B8}" srcOrd="10" destOrd="0" presId="urn:microsoft.com/office/officeart/2005/8/layout/vProcess5"/>
    <dgm:cxn modelId="{132A4353-8C29-452D-831B-2B80273DC011}" type="presParOf" srcId="{3438D61C-EE81-4B9A-973D-5E2C21A77A1D}" destId="{7B51964F-E7C6-4C75-B546-E353C3451F55}" srcOrd="11" destOrd="0" presId="urn:microsoft.com/office/officeart/2005/8/layout/vProcess5"/>
    <dgm:cxn modelId="{1CEDC20A-5D92-4DA6-B40C-436E742646C4}" type="presParOf" srcId="{3438D61C-EE81-4B9A-973D-5E2C21A77A1D}" destId="{0716DCA1-5A7D-4232-AE91-9F14FDDED8D8}" srcOrd="12" destOrd="0" presId="urn:microsoft.com/office/officeart/2005/8/layout/vProcess5"/>
    <dgm:cxn modelId="{09597E29-AA43-4BC7-AEB7-BD03FD5ED83D}" type="presParOf" srcId="{3438D61C-EE81-4B9A-973D-5E2C21A77A1D}" destId="{D1AF0AD0-0A27-40A8-B822-652355727A96}" srcOrd="13" destOrd="0" presId="urn:microsoft.com/office/officeart/2005/8/layout/vProcess5"/>
    <dgm:cxn modelId="{BC8BADF3-883A-45D8-A802-E1FA13262568}" type="presParOf" srcId="{3438D61C-EE81-4B9A-973D-5E2C21A77A1D}" destId="{AB2E93F2-2312-4818-8F58-8FD00A0710C7}"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A236C6-CD27-4C6C-9EB9-E27879AB0A24}">
      <dsp:nvSpPr>
        <dsp:cNvPr id="0" name=""/>
        <dsp:cNvSpPr/>
      </dsp:nvSpPr>
      <dsp:spPr>
        <a:xfrm>
          <a:off x="2722687" y="-16852"/>
          <a:ext cx="1497817" cy="149781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kern="1200" dirty="0"/>
            <a:t>Feedback/</a:t>
          </a:r>
        </a:p>
        <a:p>
          <a:pPr marL="0" lvl="0" indent="0" algn="ctr" defTabSz="533400">
            <a:lnSpc>
              <a:spcPct val="90000"/>
            </a:lnSpc>
            <a:spcBef>
              <a:spcPct val="0"/>
            </a:spcBef>
            <a:spcAft>
              <a:spcPct val="35000"/>
            </a:spcAft>
            <a:buNone/>
          </a:pPr>
          <a:r>
            <a:rPr lang="en-GB" sz="1200" kern="1200" dirty="0"/>
            <a:t>‘Reflexive monitoring’</a:t>
          </a:r>
        </a:p>
      </dsp:txBody>
      <dsp:txXfrm>
        <a:off x="2942037" y="202498"/>
        <a:ext cx="1059117" cy="1059117"/>
      </dsp:txXfrm>
    </dsp:sp>
    <dsp:sp modelId="{FA58E14A-35D3-4B5E-9152-50FE51F5EBD9}">
      <dsp:nvSpPr>
        <dsp:cNvPr id="0" name=""/>
        <dsp:cNvSpPr/>
      </dsp:nvSpPr>
      <dsp:spPr>
        <a:xfrm rot="3600000">
          <a:off x="3829199" y="1442449"/>
          <a:ext cx="396942" cy="50551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kern="1200" dirty="0"/>
        </a:p>
      </dsp:txBody>
      <dsp:txXfrm>
        <a:off x="3858970" y="1491988"/>
        <a:ext cx="277859" cy="303307"/>
      </dsp:txXfrm>
    </dsp:sp>
    <dsp:sp modelId="{65C9C5AA-8A36-4D56-B90B-7221C512FFC0}">
      <dsp:nvSpPr>
        <dsp:cNvPr id="0" name=""/>
        <dsp:cNvSpPr/>
      </dsp:nvSpPr>
      <dsp:spPr>
        <a:xfrm>
          <a:off x="3846070" y="1928904"/>
          <a:ext cx="1497817" cy="149781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kern="1200" dirty="0"/>
            <a:t>Shared understanding/</a:t>
          </a:r>
        </a:p>
        <a:p>
          <a:pPr marL="0" lvl="0" indent="0" algn="ctr" defTabSz="533400">
            <a:lnSpc>
              <a:spcPct val="90000"/>
            </a:lnSpc>
            <a:spcBef>
              <a:spcPct val="0"/>
            </a:spcBef>
            <a:spcAft>
              <a:spcPct val="35000"/>
            </a:spcAft>
            <a:buNone/>
          </a:pPr>
          <a:r>
            <a:rPr lang="en-GB" sz="1200" kern="1200" dirty="0"/>
            <a:t>‘Coherence’</a:t>
          </a:r>
        </a:p>
      </dsp:txBody>
      <dsp:txXfrm>
        <a:off x="4065420" y="2148254"/>
        <a:ext cx="1059117" cy="1059117"/>
      </dsp:txXfrm>
    </dsp:sp>
    <dsp:sp modelId="{1F92C89B-8088-486D-9A83-4D7E70E6756C}">
      <dsp:nvSpPr>
        <dsp:cNvPr id="0" name=""/>
        <dsp:cNvSpPr/>
      </dsp:nvSpPr>
      <dsp:spPr>
        <a:xfrm rot="10800000">
          <a:off x="3298417" y="2425056"/>
          <a:ext cx="387007" cy="50551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kern="1200" dirty="0"/>
        </a:p>
      </dsp:txBody>
      <dsp:txXfrm rot="10800000">
        <a:off x="3414519" y="2526159"/>
        <a:ext cx="270905" cy="303307"/>
      </dsp:txXfrm>
    </dsp:sp>
    <dsp:sp modelId="{1C51CDF6-3C6B-4918-9B48-755BE8F6FB97}">
      <dsp:nvSpPr>
        <dsp:cNvPr id="0" name=""/>
        <dsp:cNvSpPr/>
      </dsp:nvSpPr>
      <dsp:spPr>
        <a:xfrm>
          <a:off x="1580559" y="1894664"/>
          <a:ext cx="1535307" cy="156629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kern="1200" dirty="0"/>
            <a:t>Routine embedding/</a:t>
          </a:r>
        </a:p>
        <a:p>
          <a:pPr marL="0" lvl="0" indent="0" algn="ctr" defTabSz="533400">
            <a:lnSpc>
              <a:spcPct val="90000"/>
            </a:lnSpc>
            <a:spcBef>
              <a:spcPct val="0"/>
            </a:spcBef>
            <a:spcAft>
              <a:spcPct val="35000"/>
            </a:spcAft>
            <a:buNone/>
          </a:pPr>
          <a:r>
            <a:rPr lang="en-GB" sz="1200" kern="1200" dirty="0"/>
            <a:t> ‘Normalisation’</a:t>
          </a:r>
        </a:p>
      </dsp:txBody>
      <dsp:txXfrm>
        <a:off x="1805400" y="2124043"/>
        <a:ext cx="1085625" cy="1107539"/>
      </dsp:txXfrm>
    </dsp:sp>
    <dsp:sp modelId="{BADE62AF-E342-425C-9520-A953651F9221}">
      <dsp:nvSpPr>
        <dsp:cNvPr id="0" name=""/>
        <dsp:cNvSpPr/>
      </dsp:nvSpPr>
      <dsp:spPr>
        <a:xfrm rot="18000000">
          <a:off x="2721636" y="1448403"/>
          <a:ext cx="380895" cy="50551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GB" sz="1800" kern="1200" dirty="0"/>
        </a:p>
      </dsp:txBody>
      <dsp:txXfrm>
        <a:off x="2750203" y="1598985"/>
        <a:ext cx="266627" cy="3033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30ACE4-8A27-44D2-8FB8-E4349A46C168}">
      <dsp:nvSpPr>
        <dsp:cNvPr id="0" name=""/>
        <dsp:cNvSpPr/>
      </dsp:nvSpPr>
      <dsp:spPr>
        <a:xfrm>
          <a:off x="0" y="0"/>
          <a:ext cx="6072759" cy="784926"/>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kern="1200" dirty="0"/>
            <a:t>RAP</a:t>
          </a:r>
        </a:p>
        <a:p>
          <a:pPr marL="114300" lvl="1" indent="-114300" algn="l" defTabSz="533400">
            <a:lnSpc>
              <a:spcPct val="90000"/>
            </a:lnSpc>
            <a:spcBef>
              <a:spcPct val="0"/>
            </a:spcBef>
            <a:spcAft>
              <a:spcPct val="15000"/>
            </a:spcAft>
            <a:buChar char="•"/>
          </a:pPr>
          <a:r>
            <a:rPr lang="en-GB" sz="1200" kern="1200" dirty="0"/>
            <a:t>using modular, re-usable, git version-controlled code </a:t>
          </a:r>
        </a:p>
      </dsp:txBody>
      <dsp:txXfrm>
        <a:off x="22990" y="22990"/>
        <a:ext cx="5133924" cy="738946"/>
      </dsp:txXfrm>
    </dsp:sp>
    <dsp:sp modelId="{E3BB101C-3D5C-4B7C-908B-8CC6257FA344}">
      <dsp:nvSpPr>
        <dsp:cNvPr id="0" name=""/>
        <dsp:cNvSpPr/>
      </dsp:nvSpPr>
      <dsp:spPr>
        <a:xfrm>
          <a:off x="453485" y="893944"/>
          <a:ext cx="6072759" cy="784926"/>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kern="1200" dirty="0"/>
            <a:t>Data extraction, on a weekly basis</a:t>
          </a:r>
        </a:p>
        <a:p>
          <a:pPr marL="114300" lvl="1" indent="-114300" algn="l" defTabSz="533400">
            <a:lnSpc>
              <a:spcPct val="90000"/>
            </a:lnSpc>
            <a:spcBef>
              <a:spcPct val="0"/>
            </a:spcBef>
            <a:spcAft>
              <a:spcPct val="15000"/>
            </a:spcAft>
            <a:buChar char="•"/>
          </a:pPr>
          <a:r>
            <a:rPr lang="en-GB" sz="1200" kern="1200" dirty="0"/>
            <a:t>from secure data warehouse (DWH), using SQL and R programming.</a:t>
          </a:r>
        </a:p>
      </dsp:txBody>
      <dsp:txXfrm>
        <a:off x="476475" y="916934"/>
        <a:ext cx="5063091" cy="738946"/>
      </dsp:txXfrm>
    </dsp:sp>
    <dsp:sp modelId="{0218250A-EBB8-4715-BEFB-7B9122B1FA48}">
      <dsp:nvSpPr>
        <dsp:cNvPr id="0" name=""/>
        <dsp:cNvSpPr/>
      </dsp:nvSpPr>
      <dsp:spPr>
        <a:xfrm>
          <a:off x="906970" y="1787889"/>
          <a:ext cx="6072759" cy="784926"/>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kern="1200" dirty="0"/>
            <a:t>Data wrangling (inc. cleaning, quality-checks, and analysis)</a:t>
          </a:r>
        </a:p>
        <a:p>
          <a:pPr marL="114300" lvl="1" indent="-114300" algn="l" defTabSz="533400">
            <a:lnSpc>
              <a:spcPct val="90000"/>
            </a:lnSpc>
            <a:spcBef>
              <a:spcPct val="0"/>
            </a:spcBef>
            <a:spcAft>
              <a:spcPct val="15000"/>
            </a:spcAft>
            <a:buChar char="•"/>
          </a:pPr>
          <a:r>
            <a:rPr lang="en-GB" sz="1200" kern="1200" dirty="0"/>
            <a:t>using R programming .</a:t>
          </a:r>
        </a:p>
      </dsp:txBody>
      <dsp:txXfrm>
        <a:off x="929960" y="1810879"/>
        <a:ext cx="5063091" cy="738946"/>
      </dsp:txXfrm>
    </dsp:sp>
    <dsp:sp modelId="{61807D33-D756-47B5-85C6-0837794E7DF2}">
      <dsp:nvSpPr>
        <dsp:cNvPr id="0" name=""/>
        <dsp:cNvSpPr/>
      </dsp:nvSpPr>
      <dsp:spPr>
        <a:xfrm>
          <a:off x="1360455" y="2681833"/>
          <a:ext cx="6072759" cy="784926"/>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kern="1200" dirty="0"/>
            <a:t>Final output: standardised HTML format report, </a:t>
          </a:r>
        </a:p>
        <a:p>
          <a:pPr marL="114300" lvl="1" indent="-114300" algn="l" defTabSz="533400">
            <a:lnSpc>
              <a:spcPct val="90000"/>
            </a:lnSpc>
            <a:spcBef>
              <a:spcPct val="0"/>
            </a:spcBef>
            <a:spcAft>
              <a:spcPct val="15000"/>
            </a:spcAft>
            <a:buFont typeface="Arial" panose="020B0604020202020204" pitchFamily="34" charset="0"/>
            <a:buChar char="•"/>
          </a:pPr>
          <a:r>
            <a:rPr lang="en-GB" sz="1200" kern="1200" dirty="0"/>
            <a:t>generated using Quarto.</a:t>
          </a:r>
        </a:p>
      </dsp:txBody>
      <dsp:txXfrm>
        <a:off x="1383445" y="2704823"/>
        <a:ext cx="5063091" cy="738946"/>
      </dsp:txXfrm>
    </dsp:sp>
    <dsp:sp modelId="{EEAE162C-6830-4D33-9D9F-D15EB25053B3}">
      <dsp:nvSpPr>
        <dsp:cNvPr id="0" name=""/>
        <dsp:cNvSpPr/>
      </dsp:nvSpPr>
      <dsp:spPr>
        <a:xfrm>
          <a:off x="1813940" y="3575778"/>
          <a:ext cx="6072759" cy="784926"/>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GB" sz="1600" kern="1200" dirty="0"/>
            <a:t>Automatically uploaded to a secure, central intranet hub</a:t>
          </a:r>
        </a:p>
        <a:p>
          <a:pPr marL="114300" lvl="1" indent="-114300" algn="l" defTabSz="533400">
            <a:lnSpc>
              <a:spcPct val="90000"/>
            </a:lnSpc>
            <a:spcBef>
              <a:spcPct val="0"/>
            </a:spcBef>
            <a:spcAft>
              <a:spcPct val="15000"/>
            </a:spcAft>
            <a:buChar char="•"/>
          </a:pPr>
          <a:r>
            <a:rPr lang="en-GB" sz="1200" kern="1200" dirty="0"/>
            <a:t>data science intranet site</a:t>
          </a:r>
        </a:p>
      </dsp:txBody>
      <dsp:txXfrm>
        <a:off x="1836930" y="3598768"/>
        <a:ext cx="5063091" cy="738946"/>
      </dsp:txXfrm>
    </dsp:sp>
    <dsp:sp modelId="{CBEC6B7F-1ADC-4159-BB5E-950D75DFC32F}">
      <dsp:nvSpPr>
        <dsp:cNvPr id="0" name=""/>
        <dsp:cNvSpPr/>
      </dsp:nvSpPr>
      <dsp:spPr>
        <a:xfrm>
          <a:off x="5562556" y="573432"/>
          <a:ext cx="510202" cy="510202"/>
        </a:xfrm>
        <a:prstGeom prst="downArrow">
          <a:avLst>
            <a:gd name="adj1" fmla="val 55000"/>
            <a:gd name="adj2" fmla="val 45000"/>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GB" sz="2300" kern="1200" dirty="0"/>
        </a:p>
      </dsp:txBody>
      <dsp:txXfrm>
        <a:off x="5677351" y="573432"/>
        <a:ext cx="280612" cy="383927"/>
      </dsp:txXfrm>
    </dsp:sp>
    <dsp:sp modelId="{E04BDF8A-6BEB-4013-9122-FBB8E52060FD}">
      <dsp:nvSpPr>
        <dsp:cNvPr id="0" name=""/>
        <dsp:cNvSpPr/>
      </dsp:nvSpPr>
      <dsp:spPr>
        <a:xfrm>
          <a:off x="6016041" y="1467377"/>
          <a:ext cx="510202" cy="510202"/>
        </a:xfrm>
        <a:prstGeom prst="downArrow">
          <a:avLst>
            <a:gd name="adj1" fmla="val 55000"/>
            <a:gd name="adj2" fmla="val 45000"/>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GB" sz="2300" kern="1200" dirty="0"/>
        </a:p>
      </dsp:txBody>
      <dsp:txXfrm>
        <a:off x="6130836" y="1467377"/>
        <a:ext cx="280612" cy="383927"/>
      </dsp:txXfrm>
    </dsp:sp>
    <dsp:sp modelId="{57207114-FE88-4013-ACA9-8055CA77A77E}">
      <dsp:nvSpPr>
        <dsp:cNvPr id="0" name=""/>
        <dsp:cNvSpPr/>
      </dsp:nvSpPr>
      <dsp:spPr>
        <a:xfrm>
          <a:off x="6469527" y="2348239"/>
          <a:ext cx="510202" cy="510202"/>
        </a:xfrm>
        <a:prstGeom prst="downArrow">
          <a:avLst>
            <a:gd name="adj1" fmla="val 55000"/>
            <a:gd name="adj2" fmla="val 45000"/>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GB" sz="2300" kern="1200" dirty="0"/>
        </a:p>
      </dsp:txBody>
      <dsp:txXfrm>
        <a:off x="6584322" y="2348239"/>
        <a:ext cx="280612" cy="383927"/>
      </dsp:txXfrm>
    </dsp:sp>
    <dsp:sp modelId="{86AE71C8-BC55-43B4-98B0-F12566DF7F2D}">
      <dsp:nvSpPr>
        <dsp:cNvPr id="0" name=""/>
        <dsp:cNvSpPr/>
      </dsp:nvSpPr>
      <dsp:spPr>
        <a:xfrm>
          <a:off x="6923012" y="3250905"/>
          <a:ext cx="510202" cy="510202"/>
        </a:xfrm>
        <a:prstGeom prst="downArrow">
          <a:avLst>
            <a:gd name="adj1" fmla="val 55000"/>
            <a:gd name="adj2" fmla="val 45000"/>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endParaRPr lang="en-GB" sz="2300" kern="1200" dirty="0"/>
        </a:p>
      </dsp:txBody>
      <dsp:txXfrm>
        <a:off x="7037807" y="3250905"/>
        <a:ext cx="280612" cy="383927"/>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19:12:37.227"/>
    </inkml:context>
    <inkml:brush xml:id="br0">
      <inkml:brushProperty name="width" value="0.035" units="cm"/>
      <inkml:brushProperty name="height" value="0.035" units="cm"/>
      <inkml:brushProperty name="color" value="#E71224"/>
    </inkml:brush>
  </inkml:definitions>
  <inkml:trace contextRef="#ctx0" brushRef="#br0">472 1067 24575,'-16'-1'0,"-1"0"0,0-2 0,1 0 0,-20-6 0,7 1 0,-184-46 0,203 51 0,0 0 0,1 0 0,-1-1 0,-12-7 0,18 8 0,0 0 0,0 1 0,0-1 0,1 0 0,0-1 0,-1 1 0,1-1 0,0 0 0,1 1 0,-1-1 0,-4-9 0,3 2 0,0-1 0,0 1 0,1-1 0,1 0 0,0 0 0,-1-13 0,2-76 0,2 76 0,-1 5 0,1-1 0,1 1 0,0 0 0,2-1 0,9-30 0,48-101 0,-41 104 0,-8 25 0,0 0 0,2 1 0,0 0 0,18-20 0,-20 28 0,1 0 0,0 1 0,0 0 0,2 1 0,22-15 0,-6 8 0,62-28 0,-72 38 0,0 0 0,1 2 0,0 0 0,1 1 0,-1 2 0,31-3 0,202 8 0,-228 1 0,1 2 0,35 10 0,53 21 0,-65-18 0,9 3 0,-2 4 0,67 35 0,-112-52 0,78 44 0,-73-40 0,-1 1 0,30 27 0,-34-25 0,0 0 0,0 0 0,-2 1 0,12 19 0,-17-25 0,-1 1 0,-1 0 0,1 0 0,-1 0 0,-1 0 0,0 1 0,0-1 0,1 19 0,-4-18 0,0 0 0,-1-1 0,0 1 0,-4 17 0,-15 39 0,17-58 0,-6 13 0,-1 0 0,-1-1 0,-1-1 0,-15 20 0,22-31 0,-14 18 0,0 0 0,-1-2 0,-2-1 0,0 0 0,-38 30 0,15-19 0,-81 49 0,90-64 0,-136 68 0,139-74 0,-2-2 0,-63 15 0,-90 1 0,48-8 0,134-19 0,-1 0 0,0 0 0,1-1 0,-14-1 0,17 1 0,0-1 0,0 1 0,0-1 0,1 0 0,-1 0 0,0 0 0,1-1 0,-1 1 0,1-1 0,-1 1 0,1-1 0,0 0 0,0 0 0,-3-3 0,-46-56 0,37 47 0,-50-53 0,53 54 0,1 0 0,0-1 0,-11-21 0,-43-82-1365,49 89-5461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19:12:37.227"/>
    </inkml:context>
    <inkml:brush xml:id="br0">
      <inkml:brushProperty name="width" value="0.035" units="cm"/>
      <inkml:brushProperty name="height" value="0.035" units="cm"/>
      <inkml:brushProperty name="color" value="#E71224"/>
    </inkml:brush>
  </inkml:definitions>
  <inkml:trace contextRef="#ctx0" brushRef="#br0">472 1067 24575,'-16'-1'0,"-1"0"0,0-2 0,1 0 0,-20-6 0,7 1 0,-184-46 0,203 51 0,0 0 0,1 0 0,-1-1 0,-12-7 0,18 8 0,0 0 0,0 1 0,0-1 0,1 0 0,0-1 0,-1 1 0,1-1 0,0 0 0,1 1 0,-1-1 0,-4-9 0,3 2 0,0-1 0,0 1 0,1-1 0,1 0 0,0 0 0,-1-13 0,2-76 0,2 76 0,-1 5 0,1-1 0,1 1 0,0 0 0,2-1 0,9-30 0,48-101 0,-41 104 0,-8 25 0,0 0 0,2 1 0,0 0 0,18-20 0,-20 28 0,1 0 0,0 1 0,0 0 0,2 1 0,22-15 0,-6 8 0,62-28 0,-72 38 0,0 0 0,1 2 0,0 0 0,1 1 0,-1 2 0,31-3 0,202 8 0,-228 1 0,1 2 0,35 10 0,53 21 0,-65-18 0,9 3 0,-2 4 0,67 35 0,-112-52 0,78 44 0,-73-40 0,-1 1 0,30 27 0,-34-25 0,0 0 0,0 0 0,-2 1 0,12 19 0,-17-25 0,-1 1 0,-1 0 0,1 0 0,-1 0 0,-1 0 0,0 1 0,0-1 0,1 19 0,-4-18 0,0 0 0,-1-1 0,0 1 0,-4 17 0,-15 39 0,17-58 0,-6 13 0,-1 0 0,-1-1 0,-1-1 0,-15 20 0,22-31 0,-14 18 0,0 0 0,-1-2 0,-2-1 0,0 0 0,-38 30 0,15-19 0,-81 49 0,90-64 0,-136 68 0,139-74 0,-2-2 0,-63 15 0,-90 1 0,48-8 0,134-19 0,-1 0 0,0 0 0,1-1 0,-14-1 0,17 1 0,0-1 0,0 1 0,0-1 0,1 0 0,-1 0 0,0 0 0,1-1 0,-1 1 0,1-1 0,-1 1 0,1-1 0,0 0 0,0 0 0,-3-3 0,-46-56 0,37 47 0,-50-53 0,53 54 0,1 0 0,0-1 0,-11-21 0,-43-82-1365,49 89-5461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19:12:37.227"/>
    </inkml:context>
    <inkml:brush xml:id="br0">
      <inkml:brushProperty name="width" value="0.035" units="cm"/>
      <inkml:brushProperty name="height" value="0.035" units="cm"/>
      <inkml:brushProperty name="color" value="#E71224"/>
    </inkml:brush>
  </inkml:definitions>
  <inkml:trace contextRef="#ctx0" brushRef="#br0">472 1067 24575,'-16'-1'0,"-1"0"0,0-2 0,1 0 0,-20-6 0,7 1 0,-184-46 0,203 51 0,0 0 0,1 0 0,-1-1 0,-12-7 0,18 8 0,0 0 0,0 1 0,0-1 0,1 0 0,0-1 0,-1 1 0,1-1 0,0 0 0,1 1 0,-1-1 0,-4-9 0,3 2 0,0-1 0,0 1 0,1-1 0,1 0 0,0 0 0,-1-13 0,2-76 0,2 76 0,-1 5 0,1-1 0,1 1 0,0 0 0,2-1 0,9-30 0,48-101 0,-41 104 0,-8 25 0,0 0 0,2 1 0,0 0 0,18-20 0,-20 28 0,1 0 0,0 1 0,0 0 0,2 1 0,22-15 0,-6 8 0,62-28 0,-72 38 0,0 0 0,1 2 0,0 0 0,1 1 0,-1 2 0,31-3 0,202 8 0,-228 1 0,1 2 0,35 10 0,53 21 0,-65-18 0,9 3 0,-2 4 0,67 35 0,-112-52 0,78 44 0,-73-40 0,-1 1 0,30 27 0,-34-25 0,0 0 0,0 0 0,-2 1 0,12 19 0,-17-25 0,-1 1 0,-1 0 0,1 0 0,-1 0 0,-1 0 0,0 1 0,0-1 0,1 19 0,-4-18 0,0 0 0,-1-1 0,0 1 0,-4 17 0,-15 39 0,17-58 0,-6 13 0,-1 0 0,-1-1 0,-1-1 0,-15 20 0,22-31 0,-14 18 0,0 0 0,-1-2 0,-2-1 0,0 0 0,-38 30 0,15-19 0,-81 49 0,90-64 0,-136 68 0,139-74 0,-2-2 0,-63 15 0,-90 1 0,48-8 0,134-19 0,-1 0 0,0 0 0,1-1 0,-14-1 0,17 1 0,0-1 0,0 1 0,0-1 0,1 0 0,-1 0 0,0 0 0,1-1 0,-1 1 0,1-1 0,-1 1 0,1-1 0,0 0 0,0 0 0,-3-3 0,-46-56 0,37 47 0,-50-53 0,53 54 0,1 0 0,0-1 0,-11-21 0,-43-82-1365,49 89-5461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19:12:37.227"/>
    </inkml:context>
    <inkml:brush xml:id="br0">
      <inkml:brushProperty name="width" value="0.035" units="cm"/>
      <inkml:brushProperty name="height" value="0.035" units="cm"/>
      <inkml:brushProperty name="color" value="#E71224"/>
    </inkml:brush>
  </inkml:definitions>
  <inkml:trace contextRef="#ctx0" brushRef="#br0">472 1067 24575,'-16'-1'0,"-1"0"0,0-2 0,1 0 0,-20-6 0,7 1 0,-184-46 0,203 51 0,0 0 0,1 0 0,-1-1 0,-12-7 0,18 8 0,0 0 0,0 1 0,0-1 0,1 0 0,0-1 0,-1 1 0,1-1 0,0 0 0,1 1 0,-1-1 0,-4-9 0,3 2 0,0-1 0,0 1 0,1-1 0,1 0 0,0 0 0,-1-13 0,2-76 0,2 76 0,-1 5 0,1-1 0,1 1 0,0 0 0,2-1 0,9-30 0,48-101 0,-41 104 0,-8 25 0,0 0 0,2 1 0,0 0 0,18-20 0,-20 28 0,1 0 0,0 1 0,0 0 0,2 1 0,22-15 0,-6 8 0,62-28 0,-72 38 0,0 0 0,1 2 0,0 0 0,1 1 0,-1 2 0,31-3 0,202 8 0,-228 1 0,1 2 0,35 10 0,53 21 0,-65-18 0,9 3 0,-2 4 0,67 35 0,-112-52 0,78 44 0,-73-40 0,-1 1 0,30 27 0,-34-25 0,0 0 0,0 0 0,-2 1 0,12 19 0,-17-25 0,-1 1 0,-1 0 0,1 0 0,-1 0 0,-1 0 0,0 1 0,0-1 0,1 19 0,-4-18 0,0 0 0,-1-1 0,0 1 0,-4 17 0,-15 39 0,17-58 0,-6 13 0,-1 0 0,-1-1 0,-1-1 0,-15 20 0,22-31 0,-14 18 0,0 0 0,-1-2 0,-2-1 0,0 0 0,-38 30 0,15-19 0,-81 49 0,90-64 0,-136 68 0,139-74 0,-2-2 0,-63 15 0,-90 1 0,48-8 0,134-19 0,-1 0 0,0 0 0,1-1 0,-14-1 0,17 1 0,0-1 0,0 1 0,0-1 0,1 0 0,-1 0 0,0 0 0,1-1 0,-1 1 0,1-1 0,-1 1 0,1-1 0,0 0 0,0 0 0,-3-3 0,-46-56 0,37 47 0,-50-53 0,53 54 0,1 0 0,0-1 0,-11-21 0,-43-82-1365,49 89-5461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19:17:06.843"/>
    </inkml:context>
    <inkml:brush xml:id="br0">
      <inkml:brushProperty name="width" value="0.1" units="cm"/>
      <inkml:brushProperty name="height" value="0.1" units="cm"/>
      <inkml:brushProperty name="color" value="#008C3A"/>
    </inkml:brush>
  </inkml:definitions>
  <inkml:trace contextRef="#ctx0" brushRef="#br0">1 883 6553,'3'5'447,"1"0"0,1 0-1,-1 0 1,7 6 0,2 2 30,17 18 224,122 134 3949,-117-125-4103,30 37 434,-61-72-867,8 10 151,-12-15-245,0 0 0,1 0 0,-1 1 0,0-1 0,1 0 0,-1 0 0,1 0 0,-1 1 0,1-1 0,-1 0 0,1 0 0,-1 0 0,0 0 0,1 0 0,-1 0 0,1 0 0,-1 0 0,1 0 0,-1 0 0,1 0-1,-1 0 1,1 0 0,-1 0 0,0-1 0,1 1 0,-1 0 0,1 0 0,-1 0 0,0-1 0,1 1 0,-1 0 0,1 0 0,-1-1 0,0 1 0,1-1 0,5-5-305,-1-1 1,0 0 0,0 0-1,0-1 1,4-9-1,-6 10 70,351-694-8551,-342 675 8766,89-189 0,-66 148 0,47-66 0,-42 76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6T19:26:35.278"/>
    </inkml:context>
    <inkml:brush xml:id="br0">
      <inkml:brushProperty name="width" value="0.035" units="cm"/>
      <inkml:brushProperty name="height" value="0.035" units="cm"/>
      <inkml:brushProperty name="color" value="#E71224"/>
    </inkml:brush>
  </inkml:definitions>
  <inkml:trace contextRef="#ctx0" brushRef="#br0">472 1067 24575,'-16'-1'0,"-1"0"0,0-2 0,1 0 0,-20-6 0,7 1 0,-184-46 0,203 51 0,0 0 0,1 0 0,-1-1 0,-12-7 0,18 8 0,0 0 0,0 1 0,0-1 0,1 0 0,0-1 0,-1 1 0,1-1 0,0 0 0,1 1 0,-1-1 0,-4-9 0,3 2 0,0-1 0,0 1 0,1-1 0,1 0 0,0 0 0,-1-13 0,2-76 0,2 76 0,-1 5 0,1-1 0,1 1 0,0 0 0,2-1 0,9-30 0,48-101 0,-41 104 0,-8 25 0,0 0 0,2 1 0,0 0 0,18-20 0,-20 28 0,1 0 0,0 1 0,0 0 0,2 1 0,22-15 0,-6 8 0,62-28 0,-72 38 0,0 0 0,1 2 0,0 0 0,1 1 0,-1 2 0,31-3 0,202 8 0,-228 1 0,1 2 0,35 10 0,53 21 0,-65-18 0,9 3 0,-2 4 0,67 35 0,-112-52 0,78 44 0,-73-40 0,-1 1 0,30 27 0,-34-25 0,0 0 0,0 0 0,-2 1 0,12 19 0,-17-25 0,-1 1 0,-1 0 0,1 0 0,-1 0 0,-1 0 0,0 1 0,0-1 0,1 19 0,-4-18 0,0 0 0,-1-1 0,0 1 0,-4 17 0,-15 39 0,17-58 0,-6 13 0,-1 0 0,-1-1 0,-1-1 0,-15 20 0,22-31 0,-14 18 0,0 0 0,-1-2 0,-2-1 0,0 0 0,-38 30 0,15-19 0,-81 49 0,90-64 0,-136 68 0,139-74 0,-2-2 0,-63 15 0,-90 1 0,48-8 0,134-19 0,-1 0 0,0 0 0,1-1 0,-14-1 0,17 1 0,0-1 0,0 1 0,0-1 0,1 0 0,-1 0 0,0 0 0,1-1 0,-1 1 0,1-1 0,-1 1 0,1-1 0,0 0 0,0 0 0,-3-3 0,-46-56 0,37 47 0,-50-53 0,53 54 0,1 0 0,0-1 0,-11-21 0,-43-82-1365,49 89-5461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r>
              <a:rPr lang="en-GB" dirty="0"/>
              <a:t>Excellence in Clinical Audit Awards 2026</a:t>
            </a:r>
            <a:endParaRPr lang="en-US" dirty="0"/>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r>
              <a:rPr lang="en-US" dirty="0"/>
              <a:t>D Weiand, J Lupton, P Le Roux et al.</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11" name="Date Placeholder 3">
            <a:extLst>
              <a:ext uri="{FF2B5EF4-FFF2-40B4-BE49-F238E27FC236}">
                <a16:creationId xmlns:a16="http://schemas.microsoft.com/office/drawing/2014/main" id="{0CB476FA-7715-0E51-FF7F-7967BD89F71A}"/>
              </a:ext>
            </a:extLst>
          </p:cNvPr>
          <p:cNvSpPr>
            <a:spLocks noGrp="1"/>
          </p:cNvSpPr>
          <p:nvPr>
            <p:ph type="dt" sz="half" idx="10"/>
          </p:nvPr>
        </p:nvSpPr>
        <p:spPr>
          <a:xfrm>
            <a:off x="457200" y="4767263"/>
            <a:ext cx="2133600" cy="273844"/>
          </a:xfrm>
          <a:prstGeom prst="rect">
            <a:avLst/>
          </a:prstGeom>
        </p:spPr>
        <p:txBody>
          <a:bodyPr/>
          <a:lstStyle/>
          <a:p>
            <a:r>
              <a:rPr lang="en-GB" dirty="0"/>
              <a:t>Excellence in Clinical Audit Awards 2026</a:t>
            </a:r>
            <a:endParaRPr lang="en-US" dirty="0"/>
          </a:p>
        </p:txBody>
      </p:sp>
      <p:sp>
        <p:nvSpPr>
          <p:cNvPr id="12" name="Footer Placeholder 4">
            <a:extLst>
              <a:ext uri="{FF2B5EF4-FFF2-40B4-BE49-F238E27FC236}">
                <a16:creationId xmlns:a16="http://schemas.microsoft.com/office/drawing/2014/main" id="{23F17063-1677-181C-D95A-0AE78EFB9422}"/>
              </a:ext>
            </a:extLst>
          </p:cNvPr>
          <p:cNvSpPr>
            <a:spLocks noGrp="1"/>
          </p:cNvSpPr>
          <p:nvPr>
            <p:ph type="ftr" sz="quarter" idx="11"/>
          </p:nvPr>
        </p:nvSpPr>
        <p:spPr>
          <a:xfrm>
            <a:off x="3124200" y="4767263"/>
            <a:ext cx="2895600" cy="273844"/>
          </a:xfrm>
          <a:prstGeom prst="rect">
            <a:avLst/>
          </a:prstGeom>
        </p:spPr>
        <p:txBody>
          <a:bodyPr/>
          <a:lstStyle/>
          <a:p>
            <a:r>
              <a:rPr lang="en-US" dirty="0"/>
              <a:t>D Weiand, J Lupton, P Le Roux et al.</a:t>
            </a:r>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Date Placeholder 3">
            <a:extLst>
              <a:ext uri="{FF2B5EF4-FFF2-40B4-BE49-F238E27FC236}">
                <a16:creationId xmlns:a16="http://schemas.microsoft.com/office/drawing/2014/main" id="{BB55F7EC-D1A0-F0A4-82F4-16D5159F4AE8}"/>
              </a:ext>
            </a:extLst>
          </p:cNvPr>
          <p:cNvSpPr>
            <a:spLocks noGrp="1"/>
          </p:cNvSpPr>
          <p:nvPr>
            <p:ph type="dt" sz="half" idx="10"/>
          </p:nvPr>
        </p:nvSpPr>
        <p:spPr>
          <a:xfrm>
            <a:off x="457200" y="4767263"/>
            <a:ext cx="2133600" cy="273844"/>
          </a:xfrm>
          <a:prstGeom prst="rect">
            <a:avLst/>
          </a:prstGeom>
        </p:spPr>
        <p:txBody>
          <a:bodyPr/>
          <a:lstStyle/>
          <a:p>
            <a:r>
              <a:rPr lang="en-GB" dirty="0"/>
              <a:t>Excellence in Clinical Audit Awards 2026</a:t>
            </a:r>
            <a:endParaRPr lang="en-US" dirty="0"/>
          </a:p>
        </p:txBody>
      </p:sp>
      <p:sp>
        <p:nvSpPr>
          <p:cNvPr id="8" name="Footer Placeholder 4">
            <a:extLst>
              <a:ext uri="{FF2B5EF4-FFF2-40B4-BE49-F238E27FC236}">
                <a16:creationId xmlns:a16="http://schemas.microsoft.com/office/drawing/2014/main" id="{EB787899-778F-C474-D0A5-B7156A7C3CC1}"/>
              </a:ext>
            </a:extLst>
          </p:cNvPr>
          <p:cNvSpPr>
            <a:spLocks noGrp="1"/>
          </p:cNvSpPr>
          <p:nvPr>
            <p:ph type="ftr" sz="quarter" idx="11"/>
          </p:nvPr>
        </p:nvSpPr>
        <p:spPr>
          <a:xfrm>
            <a:off x="3124200" y="4767263"/>
            <a:ext cx="2895600" cy="273844"/>
          </a:xfrm>
          <a:prstGeom prst="rect">
            <a:avLst/>
          </a:prstGeom>
        </p:spPr>
        <p:txBody>
          <a:bodyPr/>
          <a:lstStyle/>
          <a:p>
            <a:r>
              <a:rPr lang="en-US" dirty="0"/>
              <a:t>D Weiand, J Lupton, P Le Roux et al.</a:t>
            </a:r>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8" name="Date Placeholder 3">
            <a:extLst>
              <a:ext uri="{FF2B5EF4-FFF2-40B4-BE49-F238E27FC236}">
                <a16:creationId xmlns:a16="http://schemas.microsoft.com/office/drawing/2014/main" id="{383ACB37-B1A5-CE4B-038B-7DEE4B5F3DF6}"/>
              </a:ext>
            </a:extLst>
          </p:cNvPr>
          <p:cNvSpPr>
            <a:spLocks noGrp="1"/>
          </p:cNvSpPr>
          <p:nvPr>
            <p:ph type="dt" sz="half" idx="10"/>
          </p:nvPr>
        </p:nvSpPr>
        <p:spPr>
          <a:xfrm>
            <a:off x="457200" y="4767263"/>
            <a:ext cx="2133600" cy="273844"/>
          </a:xfrm>
          <a:prstGeom prst="rect">
            <a:avLst/>
          </a:prstGeom>
        </p:spPr>
        <p:txBody>
          <a:bodyPr/>
          <a:lstStyle/>
          <a:p>
            <a:r>
              <a:rPr lang="en-GB" dirty="0"/>
              <a:t>Excellence in Clinical Audit Awards 2026</a:t>
            </a:r>
            <a:endParaRPr lang="en-US" dirty="0"/>
          </a:p>
        </p:txBody>
      </p:sp>
      <p:sp>
        <p:nvSpPr>
          <p:cNvPr id="9" name="Footer Placeholder 4">
            <a:extLst>
              <a:ext uri="{FF2B5EF4-FFF2-40B4-BE49-F238E27FC236}">
                <a16:creationId xmlns:a16="http://schemas.microsoft.com/office/drawing/2014/main" id="{83320007-4BAB-B1DF-5F23-952FC5030019}"/>
              </a:ext>
            </a:extLst>
          </p:cNvPr>
          <p:cNvSpPr>
            <a:spLocks noGrp="1"/>
          </p:cNvSpPr>
          <p:nvPr>
            <p:ph type="ftr" sz="quarter" idx="11"/>
          </p:nvPr>
        </p:nvSpPr>
        <p:spPr>
          <a:xfrm>
            <a:off x="3124200" y="4767263"/>
            <a:ext cx="2895600" cy="273844"/>
          </a:xfrm>
          <a:prstGeom prst="rect">
            <a:avLst/>
          </a:prstGeom>
        </p:spPr>
        <p:txBody>
          <a:bodyPr/>
          <a:lstStyle/>
          <a:p>
            <a:r>
              <a:rPr lang="en-US" dirty="0"/>
              <a:t>D Weiand, J Lupton, P Le Roux et al.</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
        <p:nvSpPr>
          <p:cNvPr id="10" name="Date Placeholder 3">
            <a:extLst>
              <a:ext uri="{FF2B5EF4-FFF2-40B4-BE49-F238E27FC236}">
                <a16:creationId xmlns:a16="http://schemas.microsoft.com/office/drawing/2014/main" id="{0BA6ED04-2DBC-E8E0-78C5-987262BF7534}"/>
              </a:ext>
            </a:extLst>
          </p:cNvPr>
          <p:cNvSpPr>
            <a:spLocks noGrp="1"/>
          </p:cNvSpPr>
          <p:nvPr>
            <p:ph type="dt" sz="half" idx="10"/>
          </p:nvPr>
        </p:nvSpPr>
        <p:spPr>
          <a:xfrm>
            <a:off x="457200" y="4767263"/>
            <a:ext cx="2133600" cy="273844"/>
          </a:xfrm>
          <a:prstGeom prst="rect">
            <a:avLst/>
          </a:prstGeom>
        </p:spPr>
        <p:txBody>
          <a:bodyPr/>
          <a:lstStyle/>
          <a:p>
            <a:r>
              <a:rPr lang="en-GB" dirty="0"/>
              <a:t>Excellence in Clinical Audit Awards 2026</a:t>
            </a:r>
            <a:endParaRPr lang="en-US" dirty="0"/>
          </a:p>
        </p:txBody>
      </p:sp>
      <p:sp>
        <p:nvSpPr>
          <p:cNvPr id="11" name="Footer Placeholder 4">
            <a:extLst>
              <a:ext uri="{FF2B5EF4-FFF2-40B4-BE49-F238E27FC236}">
                <a16:creationId xmlns:a16="http://schemas.microsoft.com/office/drawing/2014/main" id="{65490928-AD2B-439F-B724-173192FD9A15}"/>
              </a:ext>
            </a:extLst>
          </p:cNvPr>
          <p:cNvSpPr>
            <a:spLocks noGrp="1"/>
          </p:cNvSpPr>
          <p:nvPr>
            <p:ph type="ftr" sz="quarter" idx="11"/>
          </p:nvPr>
        </p:nvSpPr>
        <p:spPr>
          <a:xfrm>
            <a:off x="3124200" y="4767263"/>
            <a:ext cx="2895600" cy="273844"/>
          </a:xfrm>
          <a:prstGeom prst="rect">
            <a:avLst/>
          </a:prstGeom>
        </p:spPr>
        <p:txBody>
          <a:bodyPr/>
          <a:lstStyle/>
          <a:p>
            <a:r>
              <a:rPr lang="en-US" dirty="0"/>
              <a:t>D Weiand, J Lupton, P Le Roux et al.</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
        <p:nvSpPr>
          <p:cNvPr id="6" name="Date Placeholder 3">
            <a:extLst>
              <a:ext uri="{FF2B5EF4-FFF2-40B4-BE49-F238E27FC236}">
                <a16:creationId xmlns:a16="http://schemas.microsoft.com/office/drawing/2014/main" id="{0AD201F3-66F8-6A99-FDC9-0FDED9201079}"/>
              </a:ext>
            </a:extLst>
          </p:cNvPr>
          <p:cNvSpPr>
            <a:spLocks noGrp="1"/>
          </p:cNvSpPr>
          <p:nvPr>
            <p:ph type="dt" sz="half" idx="10"/>
          </p:nvPr>
        </p:nvSpPr>
        <p:spPr>
          <a:xfrm>
            <a:off x="457200" y="4767263"/>
            <a:ext cx="2133600" cy="273844"/>
          </a:xfrm>
          <a:prstGeom prst="rect">
            <a:avLst/>
          </a:prstGeom>
        </p:spPr>
        <p:txBody>
          <a:bodyPr/>
          <a:lstStyle/>
          <a:p>
            <a:r>
              <a:rPr lang="en-GB" dirty="0"/>
              <a:t>Excellence in Clinical Audit Awards 2026</a:t>
            </a:r>
            <a:endParaRPr lang="en-US" dirty="0"/>
          </a:p>
        </p:txBody>
      </p:sp>
      <p:sp>
        <p:nvSpPr>
          <p:cNvPr id="7" name="Footer Placeholder 4">
            <a:extLst>
              <a:ext uri="{FF2B5EF4-FFF2-40B4-BE49-F238E27FC236}">
                <a16:creationId xmlns:a16="http://schemas.microsoft.com/office/drawing/2014/main" id="{93CBDEC7-10FA-1043-3FA4-8685DE184D3D}"/>
              </a:ext>
            </a:extLst>
          </p:cNvPr>
          <p:cNvSpPr>
            <a:spLocks noGrp="1"/>
          </p:cNvSpPr>
          <p:nvPr>
            <p:ph type="ftr" sz="quarter" idx="11"/>
          </p:nvPr>
        </p:nvSpPr>
        <p:spPr>
          <a:xfrm>
            <a:off x="3124200" y="4767263"/>
            <a:ext cx="2895600" cy="273844"/>
          </a:xfrm>
          <a:prstGeom prst="rect">
            <a:avLst/>
          </a:prstGeom>
        </p:spPr>
        <p:txBody>
          <a:bodyPr/>
          <a:lstStyle/>
          <a:p>
            <a:r>
              <a:rPr lang="en-US" dirty="0"/>
              <a:t>D Weiand, J Lupton, P Le Roux et al.</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
        <p:nvSpPr>
          <p:cNvPr id="5" name="Date Placeholder 3">
            <a:extLst>
              <a:ext uri="{FF2B5EF4-FFF2-40B4-BE49-F238E27FC236}">
                <a16:creationId xmlns:a16="http://schemas.microsoft.com/office/drawing/2014/main" id="{5F4782B0-16CC-ED13-E487-9B57D2794F83}"/>
              </a:ext>
            </a:extLst>
          </p:cNvPr>
          <p:cNvSpPr>
            <a:spLocks noGrp="1"/>
          </p:cNvSpPr>
          <p:nvPr>
            <p:ph type="dt" sz="half" idx="10"/>
          </p:nvPr>
        </p:nvSpPr>
        <p:spPr>
          <a:xfrm>
            <a:off x="457200" y="4767263"/>
            <a:ext cx="2133600" cy="273844"/>
          </a:xfrm>
          <a:prstGeom prst="rect">
            <a:avLst/>
          </a:prstGeom>
        </p:spPr>
        <p:txBody>
          <a:bodyPr/>
          <a:lstStyle/>
          <a:p>
            <a:r>
              <a:rPr lang="en-GB" dirty="0"/>
              <a:t>Excellence in Clinical Audit Awards 2026</a:t>
            </a:r>
            <a:endParaRPr lang="en-US" dirty="0"/>
          </a:p>
        </p:txBody>
      </p:sp>
      <p:sp>
        <p:nvSpPr>
          <p:cNvPr id="6" name="Footer Placeholder 4">
            <a:extLst>
              <a:ext uri="{FF2B5EF4-FFF2-40B4-BE49-F238E27FC236}">
                <a16:creationId xmlns:a16="http://schemas.microsoft.com/office/drawing/2014/main" id="{E4F12030-D708-E505-0A4C-05F37C41A7F5}"/>
              </a:ext>
            </a:extLst>
          </p:cNvPr>
          <p:cNvSpPr>
            <a:spLocks noGrp="1"/>
          </p:cNvSpPr>
          <p:nvPr>
            <p:ph type="ftr" sz="quarter" idx="11"/>
          </p:nvPr>
        </p:nvSpPr>
        <p:spPr>
          <a:xfrm>
            <a:off x="3124200" y="4767263"/>
            <a:ext cx="2895600" cy="273844"/>
          </a:xfrm>
          <a:prstGeom prst="rect">
            <a:avLst/>
          </a:prstGeom>
        </p:spPr>
        <p:txBody>
          <a:bodyPr/>
          <a:lstStyle/>
          <a:p>
            <a:r>
              <a:rPr lang="en-US" dirty="0"/>
              <a:t>D Weiand, J Lupton, P Le Roux et al.</a:t>
            </a:r>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8" name="Date Placeholder 3">
            <a:extLst>
              <a:ext uri="{FF2B5EF4-FFF2-40B4-BE49-F238E27FC236}">
                <a16:creationId xmlns:a16="http://schemas.microsoft.com/office/drawing/2014/main" id="{E34FF875-738F-D798-1DF2-4EDBCEB50F98}"/>
              </a:ext>
            </a:extLst>
          </p:cNvPr>
          <p:cNvSpPr>
            <a:spLocks noGrp="1"/>
          </p:cNvSpPr>
          <p:nvPr>
            <p:ph type="dt" sz="half" idx="10"/>
          </p:nvPr>
        </p:nvSpPr>
        <p:spPr>
          <a:xfrm>
            <a:off x="457200" y="4767263"/>
            <a:ext cx="2133600" cy="273844"/>
          </a:xfrm>
          <a:prstGeom prst="rect">
            <a:avLst/>
          </a:prstGeom>
        </p:spPr>
        <p:txBody>
          <a:bodyPr/>
          <a:lstStyle/>
          <a:p>
            <a:r>
              <a:rPr lang="en-GB" dirty="0"/>
              <a:t>Excellence in Clinical Audit Awards 2026</a:t>
            </a:r>
            <a:endParaRPr lang="en-US" dirty="0"/>
          </a:p>
        </p:txBody>
      </p:sp>
      <p:sp>
        <p:nvSpPr>
          <p:cNvPr id="9" name="Footer Placeholder 4">
            <a:extLst>
              <a:ext uri="{FF2B5EF4-FFF2-40B4-BE49-F238E27FC236}">
                <a16:creationId xmlns:a16="http://schemas.microsoft.com/office/drawing/2014/main" id="{F1700A14-6187-0121-B53C-A7195DACBBFA}"/>
              </a:ext>
            </a:extLst>
          </p:cNvPr>
          <p:cNvSpPr>
            <a:spLocks noGrp="1"/>
          </p:cNvSpPr>
          <p:nvPr>
            <p:ph type="ftr" sz="quarter" idx="11"/>
          </p:nvPr>
        </p:nvSpPr>
        <p:spPr>
          <a:xfrm>
            <a:off x="3124200" y="4767263"/>
            <a:ext cx="2895600" cy="273844"/>
          </a:xfrm>
          <a:prstGeom prst="rect">
            <a:avLst/>
          </a:prstGeom>
        </p:spPr>
        <p:txBody>
          <a:bodyPr/>
          <a:lstStyle/>
          <a:p>
            <a:r>
              <a:rPr lang="en-US" dirty="0"/>
              <a:t>D Weiand, J Lupton, P Le Roux et al.</a:t>
            </a:r>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
        <p:nvSpPr>
          <p:cNvPr id="8" name="Date Placeholder 3">
            <a:extLst>
              <a:ext uri="{FF2B5EF4-FFF2-40B4-BE49-F238E27FC236}">
                <a16:creationId xmlns:a16="http://schemas.microsoft.com/office/drawing/2014/main" id="{0A5C38C4-6918-5715-DDA8-92D74BDFD8EF}"/>
              </a:ext>
            </a:extLst>
          </p:cNvPr>
          <p:cNvSpPr>
            <a:spLocks noGrp="1"/>
          </p:cNvSpPr>
          <p:nvPr>
            <p:ph type="dt" sz="half" idx="10"/>
          </p:nvPr>
        </p:nvSpPr>
        <p:spPr>
          <a:xfrm>
            <a:off x="457200" y="4767263"/>
            <a:ext cx="2133600" cy="273844"/>
          </a:xfrm>
          <a:prstGeom prst="rect">
            <a:avLst/>
          </a:prstGeom>
        </p:spPr>
        <p:txBody>
          <a:bodyPr/>
          <a:lstStyle/>
          <a:p>
            <a:r>
              <a:rPr lang="en-GB" dirty="0"/>
              <a:t>Excellence in Clinical Audit Awards 2026</a:t>
            </a:r>
            <a:endParaRPr lang="en-US" dirty="0"/>
          </a:p>
        </p:txBody>
      </p:sp>
      <p:sp>
        <p:nvSpPr>
          <p:cNvPr id="9" name="Footer Placeholder 4">
            <a:extLst>
              <a:ext uri="{FF2B5EF4-FFF2-40B4-BE49-F238E27FC236}">
                <a16:creationId xmlns:a16="http://schemas.microsoft.com/office/drawing/2014/main" id="{82A95915-9921-5DE0-7193-4BF4BDA35EB6}"/>
              </a:ext>
            </a:extLst>
          </p:cNvPr>
          <p:cNvSpPr>
            <a:spLocks noGrp="1"/>
          </p:cNvSpPr>
          <p:nvPr>
            <p:ph type="ftr" sz="quarter" idx="11"/>
          </p:nvPr>
        </p:nvSpPr>
        <p:spPr>
          <a:xfrm>
            <a:off x="3124200" y="4767263"/>
            <a:ext cx="2895600" cy="273844"/>
          </a:xfrm>
          <a:prstGeom prst="rect">
            <a:avLst/>
          </a:prstGeom>
        </p:spPr>
        <p:txBody>
          <a:bodyPr/>
          <a:lstStyle/>
          <a:p>
            <a:r>
              <a:rPr lang="en-US" dirty="0"/>
              <a:t>D Weiand, J Lupton, P Le Roux et al.</a:t>
            </a:r>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Date Placeholder 3">
            <a:extLst>
              <a:ext uri="{FF2B5EF4-FFF2-40B4-BE49-F238E27FC236}">
                <a16:creationId xmlns:a16="http://schemas.microsoft.com/office/drawing/2014/main" id="{B89A59BE-8D14-DBDB-E65C-10D9E66CBB0B}"/>
              </a:ext>
            </a:extLst>
          </p:cNvPr>
          <p:cNvSpPr>
            <a:spLocks noGrp="1"/>
          </p:cNvSpPr>
          <p:nvPr>
            <p:ph type="dt" sz="half" idx="10"/>
          </p:nvPr>
        </p:nvSpPr>
        <p:spPr>
          <a:xfrm>
            <a:off x="457200" y="4767263"/>
            <a:ext cx="2133600" cy="273844"/>
          </a:xfrm>
          <a:prstGeom prst="rect">
            <a:avLst/>
          </a:prstGeom>
        </p:spPr>
        <p:txBody>
          <a:bodyPr/>
          <a:lstStyle/>
          <a:p>
            <a:r>
              <a:rPr lang="en-GB" dirty="0"/>
              <a:t>Excellence in Clinical Audit Awards 2026</a:t>
            </a:r>
            <a:endParaRPr lang="en-US" dirty="0"/>
          </a:p>
        </p:txBody>
      </p:sp>
      <p:sp>
        <p:nvSpPr>
          <p:cNvPr id="8" name="Footer Placeholder 4">
            <a:extLst>
              <a:ext uri="{FF2B5EF4-FFF2-40B4-BE49-F238E27FC236}">
                <a16:creationId xmlns:a16="http://schemas.microsoft.com/office/drawing/2014/main" id="{DD6DE9FF-C23C-ABB3-9E63-D464CFB3B1B1}"/>
              </a:ext>
            </a:extLst>
          </p:cNvPr>
          <p:cNvSpPr>
            <a:spLocks noGrp="1"/>
          </p:cNvSpPr>
          <p:nvPr>
            <p:ph type="ftr" sz="quarter" idx="11"/>
          </p:nvPr>
        </p:nvSpPr>
        <p:spPr>
          <a:xfrm>
            <a:off x="3124200" y="4767263"/>
            <a:ext cx="2895600" cy="273844"/>
          </a:xfrm>
          <a:prstGeom prst="rect">
            <a:avLst/>
          </a:prstGeom>
        </p:spPr>
        <p:txBody>
          <a:bodyPr/>
          <a:lstStyle/>
          <a:p>
            <a:r>
              <a:rPr lang="en-US" dirty="0"/>
              <a:t>D Weiand, J Lupton, P Le Roux et al.</a:t>
            </a:r>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7" name="Date Placeholder 3">
            <a:extLst>
              <a:ext uri="{FF2B5EF4-FFF2-40B4-BE49-F238E27FC236}">
                <a16:creationId xmlns:a16="http://schemas.microsoft.com/office/drawing/2014/main" id="{79F9F440-D1C3-29DA-D447-2F4E928CC399}"/>
              </a:ext>
            </a:extLst>
          </p:cNvPr>
          <p:cNvSpPr>
            <a:spLocks noGrp="1"/>
          </p:cNvSpPr>
          <p:nvPr>
            <p:ph type="dt" sz="half" idx="10"/>
          </p:nvPr>
        </p:nvSpPr>
        <p:spPr>
          <a:xfrm>
            <a:off x="457200" y="4767263"/>
            <a:ext cx="2133600" cy="273844"/>
          </a:xfrm>
          <a:prstGeom prst="rect">
            <a:avLst/>
          </a:prstGeom>
        </p:spPr>
        <p:txBody>
          <a:bodyPr/>
          <a:lstStyle/>
          <a:p>
            <a:r>
              <a:rPr lang="en-GB" dirty="0"/>
              <a:t>Excellence in Clinical Audit Awards 2026</a:t>
            </a:r>
            <a:endParaRPr lang="en-US" dirty="0"/>
          </a:p>
        </p:txBody>
      </p:sp>
      <p:sp>
        <p:nvSpPr>
          <p:cNvPr id="8" name="Footer Placeholder 4">
            <a:extLst>
              <a:ext uri="{FF2B5EF4-FFF2-40B4-BE49-F238E27FC236}">
                <a16:creationId xmlns:a16="http://schemas.microsoft.com/office/drawing/2014/main" id="{5EA6230F-9E5E-D300-2322-CED880CF994B}"/>
              </a:ext>
            </a:extLst>
          </p:cNvPr>
          <p:cNvSpPr>
            <a:spLocks noGrp="1"/>
          </p:cNvSpPr>
          <p:nvPr>
            <p:ph type="ftr" sz="quarter" idx="11"/>
          </p:nvPr>
        </p:nvSpPr>
        <p:spPr>
          <a:xfrm>
            <a:off x="3124200" y="4767263"/>
            <a:ext cx="2895600" cy="273844"/>
          </a:xfrm>
          <a:prstGeom prst="rect">
            <a:avLst/>
          </a:prstGeom>
        </p:spPr>
        <p:txBody>
          <a:bodyPr/>
          <a:lstStyle/>
          <a:p>
            <a:r>
              <a:rPr lang="en-US" dirty="0"/>
              <a:t>D Weiand, J Lupton, P Le Roux et al.</a:t>
            </a:r>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Excellence in Clinical Audit Awards 2026</a:t>
            </a: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D Weiand, J Lupton, P Le Roux et al.</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pic>
        <p:nvPicPr>
          <p:cNvPr id="8" name="Picture 7" descr="A qr code with a black background&#10;&#10;AI-generated content may be incorrect.">
            <a:extLst>
              <a:ext uri="{FF2B5EF4-FFF2-40B4-BE49-F238E27FC236}">
                <a16:creationId xmlns:a16="http://schemas.microsoft.com/office/drawing/2014/main" id="{31A2F951-641C-3910-2978-8BB413794A3F}"/>
              </a:ext>
            </a:extLst>
          </p:cNvPr>
          <p:cNvPicPr>
            <a:picLocks noChangeAspect="1"/>
          </p:cNvPicPr>
          <p:nvPr userDrawn="1"/>
        </p:nvPicPr>
        <p:blipFill>
          <a:blip r:embed="rId13"/>
          <a:stretch>
            <a:fillRect/>
          </a:stretch>
        </p:blipFill>
        <p:spPr>
          <a:xfrm>
            <a:off x="8263697" y="4258206"/>
            <a:ext cx="857250" cy="857250"/>
          </a:xfrm>
          <a:prstGeom prst="rect">
            <a:avLst/>
          </a:prstGeom>
        </p:spPr>
      </p:pic>
      <p:pic>
        <p:nvPicPr>
          <p:cNvPr id="10" name="Picture 9" descr="A close up of a logo&#10;&#10;AI-generated content may be incorrect.">
            <a:extLst>
              <a:ext uri="{FF2B5EF4-FFF2-40B4-BE49-F238E27FC236}">
                <a16:creationId xmlns:a16="http://schemas.microsoft.com/office/drawing/2014/main" id="{E1EA7ED3-8E31-D795-7874-E52C7CC90B12}"/>
              </a:ext>
            </a:extLst>
          </p:cNvPr>
          <p:cNvPicPr>
            <a:picLocks noChangeAspect="1"/>
          </p:cNvPicPr>
          <p:nvPr userDrawn="1"/>
        </p:nvPicPr>
        <p:blipFill>
          <a:blip r:embed="rId14"/>
          <a:stretch>
            <a:fillRect/>
          </a:stretch>
        </p:blipFill>
        <p:spPr>
          <a:xfrm>
            <a:off x="6553200" y="4773340"/>
            <a:ext cx="1289304" cy="267767"/>
          </a:xfrm>
          <a:prstGeom prst="rect">
            <a:avLst/>
          </a:prstGeom>
        </p:spPr>
      </p:pic>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hyperlink" Target="https://twitter.com/send2dan" TargetMode="External"/><Relationship Id="rId1" Type="http://schemas.openxmlformats.org/officeDocument/2006/relationships/slideLayout" Target="../slideLayouts/slideLayout4.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image" Target="../media/image5.jpg"/><Relationship Id="rId10" Type="http://schemas.openxmlformats.org/officeDocument/2006/relationships/image" Target="../media/image10.jpeg"/><Relationship Id="rId4" Type="http://schemas.openxmlformats.org/officeDocument/2006/relationships/image" Target="../media/image4.jpeg"/><Relationship Id="rId9" Type="http://schemas.openxmlformats.org/officeDocument/2006/relationships/image" Target="../media/image9.jpeg"/></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customXml" Target="../ink/ink5.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hyperlink" Target="https://zenodo.org/records/18468788" TargetMode="Externa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hyperlink" Target="https://twitter.com/send2dan" TargetMode="External"/><Relationship Id="rId1" Type="http://schemas.openxmlformats.org/officeDocument/2006/relationships/slideLayout" Target="../slideLayouts/slideLayout4.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image" Target="../media/image5.jpg"/><Relationship Id="rId10" Type="http://schemas.openxmlformats.org/officeDocument/2006/relationships/image" Target="../media/image10.jpeg"/><Relationship Id="rId4" Type="http://schemas.openxmlformats.org/officeDocument/2006/relationships/image" Target="../media/image4.jpeg"/><Relationship Id="rId9" Type="http://schemas.openxmlformats.org/officeDocument/2006/relationships/image" Target="../media/image9.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hyperlink" Target="https://gettingitrightfirsttime.co.uk/wp-content/uploads/2025/05/GIRFT-Guide-to-preoperative-testing-MRSA-May-2025.pdf" TargetMode="External"/><Relationship Id="rId13" Type="http://schemas.openxmlformats.org/officeDocument/2006/relationships/hyperlink" Target="http://dx.doi.org/10.1186/1741-7015-8-63" TargetMode="External"/><Relationship Id="rId18" Type="http://schemas.openxmlformats.org/officeDocument/2006/relationships/hyperlink" Target="https://www.newcastle-hospitals.nhs.uk/about/" TargetMode="External"/><Relationship Id="rId3" Type="http://schemas.openxmlformats.org/officeDocument/2006/relationships/hyperlink" Target="https://gettingitrightfirsttime.co.uk/delivering-a-standardised-approach-to-screening-for-mrsa/" TargetMode="External"/><Relationship Id="rId7" Type="http://schemas.openxmlformats.org/officeDocument/2006/relationships/hyperlink" Target="https://assets.publishing.service.gov.uk/government/uploads/system/uploads/attachment_data/file/345144/Implementation_of_modified_admission_MRSA_screening_guidance_for_NHS.pdf" TargetMode="External"/><Relationship Id="rId12" Type="http://schemas.openxmlformats.org/officeDocument/2006/relationships/hyperlink" Target="http://dx.doi.org/10.1186/s13012-015-0242-0" TargetMode="External"/><Relationship Id="rId17" Type="http://schemas.openxmlformats.org/officeDocument/2006/relationships/hyperlink" Target="http://dx.doi.org/10.1002/pros.24363" TargetMode="External"/><Relationship Id="rId2" Type="http://schemas.openxmlformats.org/officeDocument/2006/relationships/hyperlink" Target="http://dx.doi.org/10.1016/j.ajic.2007.10.007" TargetMode="External"/><Relationship Id="rId16" Type="http://schemas.openxmlformats.org/officeDocument/2006/relationships/hyperlink" Target="https://nhsdigital.github.io/rap-community-of-practice/introduction_to_RAP/what_is_RAP/" TargetMode="External"/><Relationship Id="rId1" Type="http://schemas.openxmlformats.org/officeDocument/2006/relationships/slideLayout" Target="../slideLayouts/slideLayout2.xml"/><Relationship Id="rId6" Type="http://schemas.openxmlformats.org/officeDocument/2006/relationships/hyperlink" Target="http://dx.doi.org/10.1016/j.jhin.2018.08.006" TargetMode="External"/><Relationship Id="rId11" Type="http://schemas.openxmlformats.org/officeDocument/2006/relationships/hyperlink" Target="http://dx.doi.org/10.1186/1471-2296-8-42" TargetMode="External"/><Relationship Id="rId5" Type="http://schemas.openxmlformats.org/officeDocument/2006/relationships/hyperlink" Target="http://dx.doi.org/10.1016/j.jhin.2006.01.001" TargetMode="External"/><Relationship Id="rId15" Type="http://schemas.openxmlformats.org/officeDocument/2006/relationships/hyperlink" Target="http://dx.doi.org/10.1088/1361-6498/ac89f8" TargetMode="External"/><Relationship Id="rId10" Type="http://schemas.openxmlformats.org/officeDocument/2006/relationships/hyperlink" Target="https://www.elgaronline.com/downloadpdf/edcollchap/edcoll/9781788975988/9781788975988.00013.pdf" TargetMode="External"/><Relationship Id="rId4" Type="http://schemas.openxmlformats.org/officeDocument/2006/relationships/hyperlink" Target="http://dx.doi.org/10.3389/fpubh.2017.00044" TargetMode="External"/><Relationship Id="rId9" Type="http://schemas.openxmlformats.org/officeDocument/2006/relationships/hyperlink" Target="http://dx.doi.org/10.1016/j.jhin.2021.09.022" TargetMode="External"/><Relationship Id="rId14" Type="http://schemas.openxmlformats.org/officeDocument/2006/relationships/hyperlink" Target="https://assets.publishing.service.gov.uk/government/uploads/system/uploads/attachment_data/file/1067053/goldacre-review-using-health-data-for-research-and-analysis.pdf" TargetMode="External"/></Relationships>
</file>

<file path=ppt/slides/_rels/slide38.xml.rels><?xml version="1.0" encoding="UTF-8" standalone="yes"?>
<Relationships xmlns="http://schemas.openxmlformats.org/package/2006/relationships"><Relationship Id="rId8" Type="http://schemas.openxmlformats.org/officeDocument/2006/relationships/hyperlink" Target="https://github.com/quarto-dev/quarto-r" TargetMode="External"/><Relationship Id="rId13" Type="http://schemas.openxmlformats.org/officeDocument/2006/relationships/hyperlink" Target="http://dx.doi.org/10.1136/bmjqs-2015-004951" TargetMode="External"/><Relationship Id="rId18" Type="http://schemas.openxmlformats.org/officeDocument/2006/relationships/hyperlink" Target="http://dx.doi.org/10.1371/journal.pone.0074219" TargetMode="External"/><Relationship Id="rId3" Type="http://schemas.openxmlformats.org/officeDocument/2006/relationships/hyperlink" Target="https://www.ukas.com/accreditation/standards/medical-laboratory-accreditation/" TargetMode="External"/><Relationship Id="rId7" Type="http://schemas.openxmlformats.org/officeDocument/2006/relationships/hyperlink" Target="https://www.R-project.org/" TargetMode="External"/><Relationship Id="rId12" Type="http://schemas.openxmlformats.org/officeDocument/2006/relationships/hyperlink" Target="http://dx.doi.org/10.1136/qhc.13.4.243" TargetMode="External"/><Relationship Id="rId17" Type="http://schemas.openxmlformats.org/officeDocument/2006/relationships/hyperlink" Target="http://dx.doi.org/10.1136/bmjoq-2021-001699" TargetMode="External"/><Relationship Id="rId2" Type="http://schemas.openxmlformats.org/officeDocument/2006/relationships/hyperlink" Target="https://laboratories.newcastle-hospitals.nhs.uk/" TargetMode="External"/><Relationship Id="rId16" Type="http://schemas.openxmlformats.org/officeDocument/2006/relationships/hyperlink" Target="http://dx.doi.org/10.1017/ice.2015.216" TargetMode="External"/><Relationship Id="rId1" Type="http://schemas.openxmlformats.org/officeDocument/2006/relationships/slideLayout" Target="../slideLayouts/slideLayout2.xml"/><Relationship Id="rId6" Type="http://schemas.openxmlformats.org/officeDocument/2006/relationships/hyperlink" Target="https://rsqlite.r-dbi.org" TargetMode="External"/><Relationship Id="rId11" Type="http://schemas.openxmlformats.org/officeDocument/2006/relationships/hyperlink" Target="http://dx.doi.org/10.1136/qhc.12.6.458" TargetMode="External"/><Relationship Id="rId5" Type="http://schemas.openxmlformats.org/officeDocument/2006/relationships/hyperlink" Target="https://github.com/" TargetMode="External"/><Relationship Id="rId15" Type="http://schemas.openxmlformats.org/officeDocument/2006/relationships/hyperlink" Target="https://nhsrplotthedots.nhsrcommunity.com" TargetMode="External"/><Relationship Id="rId10" Type="http://schemas.openxmlformats.org/officeDocument/2006/relationships/hyperlink" Target="https://ico.org.uk/for-organisations/uk-gdpr-guidance-and-resources/" TargetMode="External"/><Relationship Id="rId4" Type="http://schemas.openxmlformats.org/officeDocument/2006/relationships/hyperlink" Target="https://nhsdigital.github.io/rap-community-of-practice/training_resources/git/introduction-to-git/" TargetMode="External"/><Relationship Id="rId9" Type="http://schemas.openxmlformats.org/officeDocument/2006/relationships/hyperlink" Target="https://www.iis.net/overview" TargetMode="External"/><Relationship Id="rId14" Type="http://schemas.openxmlformats.org/officeDocument/2006/relationships/hyperlink" Target="https://www.england.nhs.uk/publication/making-data-cou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79712"/>
            <a:ext cx="7772400" cy="2805707"/>
          </a:xfrm>
        </p:spPr>
        <p:txBody>
          <a:bodyPr>
            <a:normAutofit/>
          </a:bodyPr>
          <a:lstStyle/>
          <a:p>
            <a:pPr marL="0" lvl="0" indent="0">
              <a:buNone/>
            </a:pPr>
            <a:r>
              <a:rPr b="1" dirty="0"/>
              <a:t>From Data to Action</a:t>
            </a:r>
            <a:r>
              <a:rPr lang="en-GB" b="1" dirty="0"/>
              <a:t>:</a:t>
            </a:r>
            <a:br>
              <a:rPr lang="en-GB" b="1" dirty="0"/>
            </a:br>
            <a:r>
              <a:rPr lang="en-GB" dirty="0"/>
              <a:t>Reproducible Analytical Pipeline (RAP) for Rapid, Sustained and Statistically-Significant Improvement in MRSA Admission Screening Compliance</a:t>
            </a:r>
            <a:r>
              <a:rPr dirty="0"/>
              <a:t>.</a:t>
            </a:r>
          </a:p>
        </p:txBody>
      </p:sp>
      <p:sp>
        <p:nvSpPr>
          <p:cNvPr id="4" name="Date Placeholder 3"/>
          <p:cNvSpPr>
            <a:spLocks noGrp="1"/>
          </p:cNvSpPr>
          <p:nvPr>
            <p:ph type="dt" sz="half" idx="10"/>
          </p:nvPr>
        </p:nvSpPr>
        <p:spPr/>
        <p:txBody>
          <a:bodyPr/>
          <a:lstStyle/>
          <a:p>
            <a:r>
              <a:rPr lang="en-GB" dirty="0"/>
              <a:t>Excellence in Clinical Audit Awards 2026 Innovation award category</a:t>
            </a:r>
            <a:endParaRPr lang="en-US" dirty="0"/>
          </a:p>
        </p:txBody>
      </p:sp>
      <p:sp>
        <p:nvSpPr>
          <p:cNvPr id="7" name="Footer Placeholder 4">
            <a:extLst>
              <a:ext uri="{FF2B5EF4-FFF2-40B4-BE49-F238E27FC236}">
                <a16:creationId xmlns:a16="http://schemas.microsoft.com/office/drawing/2014/main" id="{5BA3624D-FCD2-AC3A-0DC8-131EF285FF26}"/>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78FEF-670F-9072-0DFE-2377344C96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652DF2-D8A6-121C-4921-3AB67BB30612}"/>
              </a:ext>
            </a:extLst>
          </p:cNvPr>
          <p:cNvSpPr>
            <a:spLocks noGrp="1"/>
          </p:cNvSpPr>
          <p:nvPr>
            <p:ph type="title"/>
          </p:nvPr>
        </p:nvSpPr>
        <p:spPr>
          <a:xfrm>
            <a:off x="457200" y="205979"/>
            <a:ext cx="8229600" cy="541886"/>
          </a:xfrm>
        </p:spPr>
        <p:txBody>
          <a:bodyPr>
            <a:normAutofit fontScale="90000"/>
          </a:bodyPr>
          <a:lstStyle/>
          <a:p>
            <a:pPr marL="0" lvl="0" indent="0">
              <a:buNone/>
            </a:pPr>
            <a:r>
              <a:rPr lang="en-GB" dirty="0"/>
              <a:t>Meet the Team</a:t>
            </a:r>
            <a:endParaRPr dirty="0"/>
          </a:p>
        </p:txBody>
      </p:sp>
      <p:sp>
        <p:nvSpPr>
          <p:cNvPr id="3" name="Content Placeholder 2">
            <a:extLst>
              <a:ext uri="{FF2B5EF4-FFF2-40B4-BE49-F238E27FC236}">
                <a16:creationId xmlns:a16="http://schemas.microsoft.com/office/drawing/2014/main" id="{55401E0B-0726-CB21-78D2-070D7846FC7C}"/>
              </a:ext>
            </a:extLst>
          </p:cNvPr>
          <p:cNvSpPr>
            <a:spLocks noGrp="1"/>
          </p:cNvSpPr>
          <p:nvPr>
            <p:ph sz="half" idx="1"/>
          </p:nvPr>
        </p:nvSpPr>
        <p:spPr>
          <a:xfrm>
            <a:off x="457199" y="747865"/>
            <a:ext cx="8096866" cy="3194868"/>
          </a:xfrm>
        </p:spPr>
        <p:txBody>
          <a:bodyPr>
            <a:normAutofit/>
          </a:bodyPr>
          <a:lstStyle/>
          <a:p>
            <a:pPr marL="0" indent="0">
              <a:buNone/>
            </a:pPr>
            <a:r>
              <a:rPr lang="en-GB" dirty="0"/>
              <a:t>Daniel Weiand; Paul Bradley; Caroline Cullerton; Geoff Dines; </a:t>
            </a:r>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r>
              <a:rPr lang="en-GB" dirty="0"/>
              <a:t>Joanne Field; Peta Le Roux; Jamie Lupton; Julie Samuel; Chris Plummer</a:t>
            </a:r>
          </a:p>
          <a:p>
            <a:pPr marL="0" lvl="0" indent="0">
              <a:buNone/>
            </a:pPr>
            <a:endParaRPr dirty="0">
              <a:hlinkClick r:id="rId2"/>
            </a:endParaRPr>
          </a:p>
        </p:txBody>
      </p:sp>
      <p:sp>
        <p:nvSpPr>
          <p:cNvPr id="11" name="Date Placeholder 3">
            <a:extLst>
              <a:ext uri="{FF2B5EF4-FFF2-40B4-BE49-F238E27FC236}">
                <a16:creationId xmlns:a16="http://schemas.microsoft.com/office/drawing/2014/main" id="{1729D6D0-F48B-4583-6466-FB7B93DC4017}"/>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pic>
        <p:nvPicPr>
          <p:cNvPr id="14340" name="Picture 4">
            <a:extLst>
              <a:ext uri="{FF2B5EF4-FFF2-40B4-BE49-F238E27FC236}">
                <a16:creationId xmlns:a16="http://schemas.microsoft.com/office/drawing/2014/main" id="{9E3578AE-36CE-67E8-7A40-BDCC32B264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5475" y="1251083"/>
            <a:ext cx="108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4342" name="Picture 6">
            <a:extLst>
              <a:ext uri="{FF2B5EF4-FFF2-40B4-BE49-F238E27FC236}">
                <a16:creationId xmlns:a16="http://schemas.microsoft.com/office/drawing/2014/main" id="{9EF016A4-383A-2A72-89C1-0ED690C914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0294" y="1249255"/>
            <a:ext cx="108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0095323D-B49A-735C-EE98-526C098CC6B6}"/>
              </a:ext>
            </a:extLst>
          </p:cNvPr>
          <p:cNvPicPr>
            <a:picLocks noChangeAspect="1"/>
          </p:cNvPicPr>
          <p:nvPr/>
        </p:nvPicPr>
        <p:blipFill>
          <a:blip r:embed="rId5"/>
          <a:srcRect t="6443" b="6443"/>
          <a:stretch>
            <a:fillRect/>
          </a:stretch>
        </p:blipFill>
        <p:spPr>
          <a:xfrm>
            <a:off x="905475" y="1239423"/>
            <a:ext cx="1080000" cy="1440000"/>
          </a:xfrm>
          <a:prstGeom prst="rect">
            <a:avLst/>
          </a:prstGeom>
        </p:spPr>
      </p:pic>
      <p:pic>
        <p:nvPicPr>
          <p:cNvPr id="14344" name="Picture 8">
            <a:extLst>
              <a:ext uri="{FF2B5EF4-FFF2-40B4-BE49-F238E27FC236}">
                <a16:creationId xmlns:a16="http://schemas.microsoft.com/office/drawing/2014/main" id="{D0C51EFA-EB4D-5575-A191-CCD7493BD88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5475" y="3093778"/>
            <a:ext cx="108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4346" name="Picture 10">
            <a:extLst>
              <a:ext uri="{FF2B5EF4-FFF2-40B4-BE49-F238E27FC236}">
                <a16:creationId xmlns:a16="http://schemas.microsoft.com/office/drawing/2014/main" id="{B762CA02-C365-6B13-03C2-78F036852BD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58470" y="3093778"/>
            <a:ext cx="108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4348" name="Picture 12">
            <a:extLst>
              <a:ext uri="{FF2B5EF4-FFF2-40B4-BE49-F238E27FC236}">
                <a16:creationId xmlns:a16="http://schemas.microsoft.com/office/drawing/2014/main" id="{3B63EE4A-7383-BE07-6D68-CA7B735D609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38470" y="3093778"/>
            <a:ext cx="108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4352" name="Picture 16">
            <a:extLst>
              <a:ext uri="{FF2B5EF4-FFF2-40B4-BE49-F238E27FC236}">
                <a16:creationId xmlns:a16="http://schemas.microsoft.com/office/drawing/2014/main" id="{278EA704-558D-4FF7-2219-7D5A5C01088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08641" y="3093778"/>
            <a:ext cx="108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4354" name="Picture 18">
            <a:extLst>
              <a:ext uri="{FF2B5EF4-FFF2-40B4-BE49-F238E27FC236}">
                <a16:creationId xmlns:a16="http://schemas.microsoft.com/office/drawing/2014/main" id="{37CA0B1E-658F-7103-53A1-3A880921AC5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88641" y="3099977"/>
            <a:ext cx="108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4356" name="Picture 20">
            <a:extLst>
              <a:ext uri="{FF2B5EF4-FFF2-40B4-BE49-F238E27FC236}">
                <a16:creationId xmlns:a16="http://schemas.microsoft.com/office/drawing/2014/main" id="{13BDBFD9-7168-0447-EB00-7ECC70B18D5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50293" y="1249255"/>
            <a:ext cx="1079999" cy="1439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7122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60771-A7CC-20D9-6D74-DEF54B9842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D586E-A9C9-3DB0-9472-FD5C5ABA67C4}"/>
              </a:ext>
            </a:extLst>
          </p:cNvPr>
          <p:cNvSpPr>
            <a:spLocks noGrp="1"/>
          </p:cNvSpPr>
          <p:nvPr>
            <p:ph type="title"/>
          </p:nvPr>
        </p:nvSpPr>
        <p:spPr/>
        <p:txBody>
          <a:bodyPr/>
          <a:lstStyle/>
          <a:p>
            <a:pPr marL="0" lvl="0" indent="0">
              <a:buNone/>
            </a:pPr>
            <a:r>
              <a:rPr lang="en-GB" dirty="0"/>
              <a:t>What is a RAP?</a:t>
            </a:r>
            <a:endParaRPr dirty="0"/>
          </a:p>
        </p:txBody>
      </p:sp>
      <p:sp>
        <p:nvSpPr>
          <p:cNvPr id="5" name="Footer Placeholder 4">
            <a:extLst>
              <a:ext uri="{FF2B5EF4-FFF2-40B4-BE49-F238E27FC236}">
                <a16:creationId xmlns:a16="http://schemas.microsoft.com/office/drawing/2014/main" id="{338D48E6-960B-CD95-81B7-11E827D3B57C}"/>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
        <p:nvSpPr>
          <p:cNvPr id="8" name="Date Placeholder 3">
            <a:extLst>
              <a:ext uri="{FF2B5EF4-FFF2-40B4-BE49-F238E27FC236}">
                <a16:creationId xmlns:a16="http://schemas.microsoft.com/office/drawing/2014/main" id="{DB917BF9-8D32-F3D2-98B0-0A17680BAE18}"/>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pic>
        <p:nvPicPr>
          <p:cNvPr id="44" name="Picture 43">
            <a:extLst>
              <a:ext uri="{FF2B5EF4-FFF2-40B4-BE49-F238E27FC236}">
                <a16:creationId xmlns:a16="http://schemas.microsoft.com/office/drawing/2014/main" id="{9A280FBE-F85C-77A8-3ED2-8AE5AE509A60}"/>
              </a:ext>
            </a:extLst>
          </p:cNvPr>
          <p:cNvPicPr>
            <a:picLocks noChangeAspect="1"/>
          </p:cNvPicPr>
          <p:nvPr/>
        </p:nvPicPr>
        <p:blipFill>
          <a:blip r:embed="rId2"/>
          <a:stretch>
            <a:fillRect/>
          </a:stretch>
        </p:blipFill>
        <p:spPr>
          <a:xfrm>
            <a:off x="3124200" y="1180742"/>
            <a:ext cx="5039863" cy="3300902"/>
          </a:xfrm>
          <a:prstGeom prst="rect">
            <a:avLst/>
          </a:prstGeom>
        </p:spPr>
      </p:pic>
      <p:sp>
        <p:nvSpPr>
          <p:cNvPr id="4" name="TextBox 3">
            <a:extLst>
              <a:ext uri="{FF2B5EF4-FFF2-40B4-BE49-F238E27FC236}">
                <a16:creationId xmlns:a16="http://schemas.microsoft.com/office/drawing/2014/main" id="{884496E2-D561-6D6F-B0D9-954E63FB98D1}"/>
              </a:ext>
            </a:extLst>
          </p:cNvPr>
          <p:cNvSpPr txBox="1"/>
          <p:nvPr/>
        </p:nvSpPr>
        <p:spPr>
          <a:xfrm>
            <a:off x="413132" y="1573797"/>
            <a:ext cx="2458598" cy="2308324"/>
          </a:xfrm>
          <a:prstGeom prst="rect">
            <a:avLst/>
          </a:prstGeom>
          <a:noFill/>
        </p:spPr>
        <p:txBody>
          <a:bodyPr wrap="square">
            <a:spAutoFit/>
          </a:bodyPr>
          <a:lstStyle/>
          <a:p>
            <a:r>
              <a:rPr lang="en-GB" sz="1800" dirty="0">
                <a:effectLst/>
                <a:latin typeface="Cambria" panose="02040503050406030204" pitchFamily="18" charset="0"/>
                <a:ea typeface="Cambria" panose="02040503050406030204" pitchFamily="18" charset="0"/>
                <a:cs typeface="Times New Roman" panose="02020603050405020304" pitchFamily="18" charset="0"/>
              </a:rPr>
              <a:t>A </a:t>
            </a:r>
            <a:r>
              <a:rPr lang="en-GB" sz="1800" b="1" dirty="0">
                <a:effectLst/>
                <a:latin typeface="Cambria" panose="02040503050406030204" pitchFamily="18" charset="0"/>
                <a:ea typeface="Cambria" panose="02040503050406030204" pitchFamily="18" charset="0"/>
                <a:cs typeface="Times New Roman" panose="02020603050405020304" pitchFamily="18" charset="0"/>
              </a:rPr>
              <a:t>Reproducible Analytical Pipeline (RAP) </a:t>
            </a:r>
            <a:r>
              <a:rPr lang="en-GB" sz="1800" dirty="0">
                <a:effectLst/>
                <a:latin typeface="Cambria" panose="02040503050406030204" pitchFamily="18" charset="0"/>
                <a:ea typeface="Cambria" panose="02040503050406030204" pitchFamily="18" charset="0"/>
                <a:cs typeface="Times New Roman" panose="02020603050405020304" pitchFamily="18" charset="0"/>
              </a:rPr>
              <a:t>comprises a set of principles and practices that create </a:t>
            </a:r>
            <a:r>
              <a:rPr lang="en-GB" sz="1800" b="1" dirty="0">
                <a:effectLst/>
                <a:latin typeface="Cambria" panose="02040503050406030204" pitchFamily="18" charset="0"/>
                <a:ea typeface="Cambria" panose="02040503050406030204" pitchFamily="18" charset="0"/>
                <a:cs typeface="Times New Roman" panose="02020603050405020304" pitchFamily="18" charset="0"/>
              </a:rPr>
              <a:t>faster, more robust, and transparent analytical processes</a:t>
            </a:r>
            <a:endParaRPr lang="en-GB" b="1" dirty="0"/>
          </a:p>
        </p:txBody>
      </p:sp>
    </p:spTree>
    <p:extLst>
      <p:ext uri="{BB962C8B-B14F-4D97-AF65-F5344CB8AC3E}">
        <p14:creationId xmlns:p14="http://schemas.microsoft.com/office/powerpoint/2010/main" val="1753451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58E29982-A497-9A86-7CFD-4FAEBBB7948D}"/>
              </a:ext>
            </a:extLst>
          </p:cNvPr>
          <p:cNvGraphicFramePr>
            <a:graphicFrameLocks noGrp="1"/>
          </p:cNvGraphicFramePr>
          <p:nvPr>
            <p:extLst>
              <p:ext uri="{D42A27DB-BD31-4B8C-83A1-F6EECF244321}">
                <p14:modId xmlns:p14="http://schemas.microsoft.com/office/powerpoint/2010/main" val="3238759291"/>
              </p:ext>
            </p:extLst>
          </p:nvPr>
        </p:nvGraphicFramePr>
        <p:xfrm>
          <a:off x="399393" y="368350"/>
          <a:ext cx="8345214" cy="3487875"/>
        </p:xfrm>
        <a:graphic>
          <a:graphicData uri="http://schemas.openxmlformats.org/drawingml/2006/table">
            <a:tbl>
              <a:tblPr firstRow="1">
                <a:tableStyleId>{21E4AEA4-8DFA-4A89-87EB-49C32662AFE0}</a:tableStyleId>
              </a:tblPr>
              <a:tblGrid>
                <a:gridCol w="2221887">
                  <a:extLst>
                    <a:ext uri="{9D8B030D-6E8A-4147-A177-3AD203B41FA5}">
                      <a16:colId xmlns:a16="http://schemas.microsoft.com/office/drawing/2014/main" val="2670159843"/>
                    </a:ext>
                  </a:extLst>
                </a:gridCol>
                <a:gridCol w="2499360">
                  <a:extLst>
                    <a:ext uri="{9D8B030D-6E8A-4147-A177-3AD203B41FA5}">
                      <a16:colId xmlns:a16="http://schemas.microsoft.com/office/drawing/2014/main" val="2305006358"/>
                    </a:ext>
                  </a:extLst>
                </a:gridCol>
                <a:gridCol w="3623967">
                  <a:extLst>
                    <a:ext uri="{9D8B030D-6E8A-4147-A177-3AD203B41FA5}">
                      <a16:colId xmlns:a16="http://schemas.microsoft.com/office/drawing/2014/main" val="1930122878"/>
                    </a:ext>
                  </a:extLst>
                </a:gridCol>
              </a:tblGrid>
              <a:tr h="121057">
                <a:tc>
                  <a:txBody>
                    <a:bodyPr/>
                    <a:lstStyle/>
                    <a:p>
                      <a:pPr algn="l" fontAlgn="ctr">
                        <a:buNone/>
                      </a:pPr>
                      <a:r>
                        <a:rPr lang="en-GB" sz="1400" u="none" strike="noStrike" dirty="0">
                          <a:effectLst/>
                        </a:rPr>
                        <a:t>Challenge</a:t>
                      </a:r>
                      <a:endParaRPr lang="en-GB" sz="1400" b="1" i="0" u="none" strike="noStrike" dirty="0">
                        <a:solidFill>
                          <a:srgbClr val="000000"/>
                        </a:solidFill>
                        <a:effectLst/>
                        <a:latin typeface="Arial" panose="020B0604020202020204" pitchFamily="34" charset="0"/>
                      </a:endParaRPr>
                    </a:p>
                  </a:txBody>
                  <a:tcPr marL="13451" marR="1495" marT="1495" marB="0" anchor="ctr"/>
                </a:tc>
                <a:tc>
                  <a:txBody>
                    <a:bodyPr/>
                    <a:lstStyle/>
                    <a:p>
                      <a:pPr algn="l" fontAlgn="ctr">
                        <a:buNone/>
                      </a:pPr>
                      <a:r>
                        <a:rPr lang="en-GB" sz="1400" u="none" strike="noStrike" dirty="0">
                          <a:effectLst/>
                        </a:rPr>
                        <a:t>Benefit</a:t>
                      </a:r>
                      <a:endParaRPr lang="en-GB" sz="1400" b="1" i="0" u="none" strike="noStrike" dirty="0">
                        <a:solidFill>
                          <a:srgbClr val="000000"/>
                        </a:solidFill>
                        <a:effectLst/>
                        <a:latin typeface="Arial" panose="020B0604020202020204" pitchFamily="34" charset="0"/>
                      </a:endParaRPr>
                    </a:p>
                  </a:txBody>
                  <a:tcPr marL="13451" marR="1495" marT="1495" marB="0" anchor="ctr"/>
                </a:tc>
                <a:tc>
                  <a:txBody>
                    <a:bodyPr/>
                    <a:lstStyle/>
                    <a:p>
                      <a:pPr algn="l" fontAlgn="ctr">
                        <a:buNone/>
                      </a:pPr>
                      <a:r>
                        <a:rPr lang="en-GB" sz="1400" u="none" strike="noStrike">
                          <a:effectLst/>
                        </a:rPr>
                        <a:t>How RAP Solves It</a:t>
                      </a:r>
                      <a:endParaRPr lang="en-GB" sz="1400" b="1" i="0" u="none" strike="noStrike">
                        <a:solidFill>
                          <a:srgbClr val="000000"/>
                        </a:solidFill>
                        <a:effectLst/>
                        <a:latin typeface="Arial" panose="020B0604020202020204" pitchFamily="34" charset="0"/>
                      </a:endParaRPr>
                    </a:p>
                  </a:txBody>
                  <a:tcPr marL="13451" marR="1495" marT="1495" marB="0" anchor="ctr"/>
                </a:tc>
                <a:extLst>
                  <a:ext uri="{0D108BD9-81ED-4DB2-BD59-A6C34878D82A}">
                    <a16:rowId xmlns:a16="http://schemas.microsoft.com/office/drawing/2014/main" val="2387319641"/>
                  </a:ext>
                </a:extLst>
              </a:tr>
              <a:tr h="597812">
                <a:tc>
                  <a:txBody>
                    <a:bodyPr/>
                    <a:lstStyle/>
                    <a:p>
                      <a:pPr>
                        <a:buNone/>
                      </a:pPr>
                      <a:r>
                        <a:rPr lang="en-GB" b="1"/>
                        <a:t>Slow reporting cycles</a:t>
                      </a:r>
                      <a:endParaRPr lang="en-GB"/>
                    </a:p>
                  </a:txBody>
                  <a:tcPr anchor="ctr"/>
                </a:tc>
                <a:tc>
                  <a:txBody>
                    <a:bodyPr/>
                    <a:lstStyle/>
                    <a:p>
                      <a:pPr>
                        <a:buNone/>
                      </a:pPr>
                      <a:r>
                        <a:rPr lang="en-GB"/>
                        <a:t>Reduced time to insight</a:t>
                      </a:r>
                    </a:p>
                  </a:txBody>
                  <a:tcPr anchor="ctr"/>
                </a:tc>
                <a:tc>
                  <a:txBody>
                    <a:bodyPr/>
                    <a:lstStyle/>
                    <a:p>
                      <a:pPr>
                        <a:buNone/>
                      </a:pPr>
                      <a:r>
                        <a:rPr lang="en-GB"/>
                        <a:t>Automating data extraction, processing, and output eliminates manual steps.</a:t>
                      </a:r>
                    </a:p>
                  </a:txBody>
                  <a:tcPr anchor="ctr"/>
                </a:tc>
                <a:extLst>
                  <a:ext uri="{0D108BD9-81ED-4DB2-BD59-A6C34878D82A}">
                    <a16:rowId xmlns:a16="http://schemas.microsoft.com/office/drawing/2014/main" val="971236059"/>
                  </a:ext>
                </a:extLst>
              </a:tr>
              <a:tr h="739792">
                <a:tc>
                  <a:txBody>
                    <a:bodyPr/>
                    <a:lstStyle/>
                    <a:p>
                      <a:pPr>
                        <a:buNone/>
                      </a:pPr>
                      <a:r>
                        <a:rPr lang="en-GB" b="1"/>
                        <a:t>Lack of trust in data</a:t>
                      </a:r>
                      <a:endParaRPr lang="en-GB"/>
                    </a:p>
                  </a:txBody>
                  <a:tcPr anchor="ctr"/>
                </a:tc>
                <a:tc>
                  <a:txBody>
                    <a:bodyPr/>
                    <a:lstStyle/>
                    <a:p>
                      <a:pPr>
                        <a:buNone/>
                      </a:pPr>
                      <a:r>
                        <a:rPr lang="en-GB"/>
                        <a:t>Enhanced trust in data</a:t>
                      </a:r>
                    </a:p>
                  </a:txBody>
                  <a:tcPr anchor="ctr"/>
                </a:tc>
                <a:tc>
                  <a:txBody>
                    <a:bodyPr/>
                    <a:lstStyle/>
                    <a:p>
                      <a:pPr>
                        <a:buNone/>
                      </a:pPr>
                      <a:r>
                        <a:rPr lang="en-GB"/>
                        <a:t>Version-controlled code ensures the pipeline is fully auditable and consistent.</a:t>
                      </a:r>
                    </a:p>
                  </a:txBody>
                  <a:tcPr anchor="ctr"/>
                </a:tc>
                <a:extLst>
                  <a:ext uri="{0D108BD9-81ED-4DB2-BD59-A6C34878D82A}">
                    <a16:rowId xmlns:a16="http://schemas.microsoft.com/office/drawing/2014/main" val="2277515842"/>
                  </a:ext>
                </a:extLst>
              </a:tr>
              <a:tr h="626208">
                <a:tc>
                  <a:txBody>
                    <a:bodyPr/>
                    <a:lstStyle/>
                    <a:p>
                      <a:pPr>
                        <a:buNone/>
                      </a:pPr>
                      <a:r>
                        <a:rPr lang="en-GB" b="1"/>
                        <a:t>Difficulty replicating findings</a:t>
                      </a:r>
                      <a:endParaRPr lang="en-GB"/>
                    </a:p>
                  </a:txBody>
                  <a:tcPr anchor="ctr"/>
                </a:tc>
                <a:tc>
                  <a:txBody>
                    <a:bodyPr/>
                    <a:lstStyle/>
                    <a:p>
                      <a:pPr>
                        <a:buNone/>
                      </a:pPr>
                      <a:r>
                        <a:rPr lang="en-GB"/>
                        <a:t>Improved reproducibility and transparency</a:t>
                      </a:r>
                    </a:p>
                  </a:txBody>
                  <a:tcPr anchor="ctr"/>
                </a:tc>
                <a:tc>
                  <a:txBody>
                    <a:bodyPr/>
                    <a:lstStyle/>
                    <a:p>
                      <a:pPr>
                        <a:buNone/>
                      </a:pPr>
                      <a:r>
                        <a:rPr lang="en-GB"/>
                        <a:t>Code acts as a permanent recipe for anyone to independently achieve identical outputs.</a:t>
                      </a:r>
                    </a:p>
                  </a:txBody>
                  <a:tcPr anchor="ctr"/>
                </a:tc>
                <a:extLst>
                  <a:ext uri="{0D108BD9-81ED-4DB2-BD59-A6C34878D82A}">
                    <a16:rowId xmlns:a16="http://schemas.microsoft.com/office/drawing/2014/main" val="3383294163"/>
                  </a:ext>
                </a:extLst>
              </a:tr>
              <a:tr h="626208">
                <a:tc>
                  <a:txBody>
                    <a:bodyPr/>
                    <a:lstStyle/>
                    <a:p>
                      <a:pPr>
                        <a:buNone/>
                      </a:pPr>
                      <a:r>
                        <a:rPr lang="en-GB" b="1"/>
                        <a:t>Case-finding complexities</a:t>
                      </a:r>
                      <a:endParaRPr lang="en-GB"/>
                    </a:p>
                  </a:txBody>
                  <a:tcPr anchor="ctr"/>
                </a:tc>
                <a:tc>
                  <a:txBody>
                    <a:bodyPr/>
                    <a:lstStyle/>
                    <a:p>
                      <a:pPr>
                        <a:buNone/>
                      </a:pPr>
                      <a:r>
                        <a:rPr lang="en-GB" dirty="0"/>
                        <a:t>Better resource allocation</a:t>
                      </a:r>
                    </a:p>
                  </a:txBody>
                  <a:tcPr anchor="ctr"/>
                </a:tc>
                <a:tc>
                  <a:txBody>
                    <a:bodyPr/>
                    <a:lstStyle/>
                    <a:p>
                      <a:pPr>
                        <a:buNone/>
                      </a:pPr>
                      <a:r>
                        <a:rPr lang="en-GB"/>
                        <a:t>Programmatic, rule-based filtering automatically targets specific cohorts of interest.</a:t>
                      </a:r>
                    </a:p>
                  </a:txBody>
                  <a:tcPr anchor="ctr"/>
                </a:tc>
                <a:extLst>
                  <a:ext uri="{0D108BD9-81ED-4DB2-BD59-A6C34878D82A}">
                    <a16:rowId xmlns:a16="http://schemas.microsoft.com/office/drawing/2014/main" val="1028183942"/>
                  </a:ext>
                </a:extLst>
              </a:tr>
              <a:tr h="683000">
                <a:tc>
                  <a:txBody>
                    <a:bodyPr/>
                    <a:lstStyle/>
                    <a:p>
                      <a:pPr>
                        <a:buNone/>
                      </a:pPr>
                      <a:r>
                        <a:rPr lang="en-GB" b="1" dirty="0"/>
                        <a:t>Subjective decision-making</a:t>
                      </a:r>
                      <a:endParaRPr lang="en-GB" dirty="0"/>
                    </a:p>
                  </a:txBody>
                  <a:tcPr anchor="ctr"/>
                </a:tc>
                <a:tc>
                  <a:txBody>
                    <a:bodyPr/>
                    <a:lstStyle/>
                    <a:p>
                      <a:pPr>
                        <a:buNone/>
                      </a:pPr>
                      <a:r>
                        <a:rPr lang="en-GB" dirty="0"/>
                        <a:t>Evidence-based decision-making</a:t>
                      </a:r>
                    </a:p>
                  </a:txBody>
                  <a:tcPr anchor="ctr"/>
                </a:tc>
                <a:tc>
                  <a:txBody>
                    <a:bodyPr/>
                    <a:lstStyle/>
                    <a:p>
                      <a:pPr>
                        <a:buNone/>
                      </a:pPr>
                      <a:r>
                        <a:rPr lang="en-GB" dirty="0"/>
                        <a:t>Repeatable analysis ensures strategic choices are based on evidence rather than assumptions.</a:t>
                      </a:r>
                    </a:p>
                  </a:txBody>
                  <a:tcPr anchor="ctr"/>
                </a:tc>
                <a:extLst>
                  <a:ext uri="{0D108BD9-81ED-4DB2-BD59-A6C34878D82A}">
                    <a16:rowId xmlns:a16="http://schemas.microsoft.com/office/drawing/2014/main" val="3230986973"/>
                  </a:ext>
                </a:extLst>
              </a:tr>
            </a:tbl>
          </a:graphicData>
        </a:graphic>
      </p:graphicFrame>
      <p:sp>
        <p:nvSpPr>
          <p:cNvPr id="14" name="Footer Placeholder 4">
            <a:extLst>
              <a:ext uri="{FF2B5EF4-FFF2-40B4-BE49-F238E27FC236}">
                <a16:creationId xmlns:a16="http://schemas.microsoft.com/office/drawing/2014/main" id="{730F212C-B946-E6F4-BD76-C2CCD498B632}"/>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
        <p:nvSpPr>
          <p:cNvPr id="15" name="Date Placeholder 3">
            <a:extLst>
              <a:ext uri="{FF2B5EF4-FFF2-40B4-BE49-F238E27FC236}">
                <a16:creationId xmlns:a16="http://schemas.microsoft.com/office/drawing/2014/main" id="{3CDB8B63-D070-9242-3850-9D2B72ACAF8C}"/>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Tree>
    <p:extLst>
      <p:ext uri="{BB962C8B-B14F-4D97-AF65-F5344CB8AC3E}">
        <p14:creationId xmlns:p14="http://schemas.microsoft.com/office/powerpoint/2010/main" val="3671729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GB" dirty="0"/>
              <a:t>Problem description</a:t>
            </a:r>
            <a:endParaRPr dirty="0"/>
          </a:p>
        </p:txBody>
      </p:sp>
      <p:sp>
        <p:nvSpPr>
          <p:cNvPr id="3" name="Content Placeholder 2"/>
          <p:cNvSpPr>
            <a:spLocks noGrp="1"/>
          </p:cNvSpPr>
          <p:nvPr>
            <p:ph idx="1"/>
          </p:nvPr>
        </p:nvSpPr>
        <p:spPr>
          <a:xfrm>
            <a:off x="457199" y="1095643"/>
            <a:ext cx="8042367" cy="3394472"/>
          </a:xfrm>
        </p:spPr>
        <p:txBody>
          <a:bodyPr>
            <a:normAutofit/>
          </a:bodyPr>
          <a:lstStyle/>
          <a:p>
            <a:pPr marL="0" lvl="0" indent="0">
              <a:buNone/>
            </a:pPr>
            <a:r>
              <a:rPr lang="en-GB" sz="2000" dirty="0"/>
              <a:t>MRSA blood stream infection (BSI; bacteraemia):</a:t>
            </a:r>
          </a:p>
          <a:p>
            <a:r>
              <a:rPr lang="en-GB" sz="2000" dirty="0"/>
              <a:t>National frameworks mandate organisation-level reporting of cases</a:t>
            </a:r>
          </a:p>
          <a:p>
            <a:r>
              <a:rPr lang="en-GB" sz="2000" dirty="0"/>
              <a:t>Q2 25/26, NUTH was ranked </a:t>
            </a:r>
          </a:p>
          <a:p>
            <a:pPr lvl="1"/>
            <a:r>
              <a:rPr lang="en-GB" sz="1700" dirty="0"/>
              <a:t>… 22nd (out of 134), in segment 2 of the dashboard</a:t>
            </a:r>
          </a:p>
          <a:p>
            <a:pPr lvl="1"/>
            <a:r>
              <a:rPr lang="en-GB" sz="1700" dirty="0"/>
              <a:t>… 125th (out of 134) for the metric 'Number of MRSA bacteraemia cases’</a:t>
            </a:r>
          </a:p>
          <a:p>
            <a:pPr marL="0" indent="0">
              <a:buNone/>
            </a:pPr>
            <a:endParaRPr lang="en-GB" sz="2000" dirty="0"/>
          </a:p>
        </p:txBody>
      </p:sp>
      <p:sp>
        <p:nvSpPr>
          <p:cNvPr id="5" name="Footer Placeholder 4">
            <a:extLst>
              <a:ext uri="{FF2B5EF4-FFF2-40B4-BE49-F238E27FC236}">
                <a16:creationId xmlns:a16="http://schemas.microsoft.com/office/drawing/2014/main" id="{7A7575A6-842B-2B0D-84B4-62FEEB7B1C88}"/>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
        <p:nvSpPr>
          <p:cNvPr id="8" name="Date Placeholder 3">
            <a:extLst>
              <a:ext uri="{FF2B5EF4-FFF2-40B4-BE49-F238E27FC236}">
                <a16:creationId xmlns:a16="http://schemas.microsoft.com/office/drawing/2014/main" id="{9D952C33-B350-599D-1AD4-CCEE1DA8F7A6}"/>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pic>
        <p:nvPicPr>
          <p:cNvPr id="9" name="Picture 8" descr="A screenshot of a computer&#10;&#10;AI-generated content may be incorrect.">
            <a:extLst>
              <a:ext uri="{FF2B5EF4-FFF2-40B4-BE49-F238E27FC236}">
                <a16:creationId xmlns:a16="http://schemas.microsoft.com/office/drawing/2014/main" id="{2A4E4DE1-ECA8-35A7-CCB6-0D16F584667C}"/>
              </a:ext>
            </a:extLst>
          </p:cNvPr>
          <p:cNvPicPr>
            <a:picLocks noChangeAspect="1"/>
          </p:cNvPicPr>
          <p:nvPr/>
        </p:nvPicPr>
        <p:blipFill>
          <a:blip r:embed="rId2"/>
          <a:srcRect l="1340" t="6584" r="1610" b="65268"/>
          <a:stretch>
            <a:fillRect/>
          </a:stretch>
        </p:blipFill>
        <p:spPr>
          <a:xfrm>
            <a:off x="766355" y="3187332"/>
            <a:ext cx="5025433" cy="1193541"/>
          </a:xfrm>
          <a:prstGeom prst="rect">
            <a:avLst/>
          </a:prstGeom>
          <a:ln w="228600" cap="sq" cmpd="thickThin">
            <a:solidFill>
              <a:srgbClr val="000000"/>
            </a:solidFill>
            <a:prstDash val="solid"/>
            <a:miter lim="800000"/>
          </a:ln>
          <a:effectLst>
            <a:innerShdw blurRad="76200">
              <a:srgbClr val="000000"/>
            </a:inn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10660F6-58DE-2EC5-48AB-B1AD89564B26}"/>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
        <p:nvSpPr>
          <p:cNvPr id="6" name="Date Placeholder 3">
            <a:extLst>
              <a:ext uri="{FF2B5EF4-FFF2-40B4-BE49-F238E27FC236}">
                <a16:creationId xmlns:a16="http://schemas.microsoft.com/office/drawing/2014/main" id="{B0948D14-9D81-9BAF-4036-DEE52B31F8D5}"/>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graphicFrame>
        <p:nvGraphicFramePr>
          <p:cNvPr id="7" name="Table 6">
            <a:extLst>
              <a:ext uri="{FF2B5EF4-FFF2-40B4-BE49-F238E27FC236}">
                <a16:creationId xmlns:a16="http://schemas.microsoft.com/office/drawing/2014/main" id="{74C9A552-416D-F6E4-C9C8-4C47B3BFCF57}"/>
              </a:ext>
            </a:extLst>
          </p:cNvPr>
          <p:cNvGraphicFramePr>
            <a:graphicFrameLocks noGrp="1"/>
          </p:cNvGraphicFramePr>
          <p:nvPr>
            <p:extLst>
              <p:ext uri="{D42A27DB-BD31-4B8C-83A1-F6EECF244321}">
                <p14:modId xmlns:p14="http://schemas.microsoft.com/office/powerpoint/2010/main" val="2890072850"/>
              </p:ext>
            </p:extLst>
          </p:nvPr>
        </p:nvGraphicFramePr>
        <p:xfrm>
          <a:off x="383177" y="378324"/>
          <a:ext cx="8360229" cy="3692455"/>
        </p:xfrm>
        <a:graphic>
          <a:graphicData uri="http://schemas.openxmlformats.org/drawingml/2006/table">
            <a:tbl>
              <a:tblPr firstRow="1">
                <a:tableStyleId>{21E4AEA4-8DFA-4A89-87EB-49C32662AFE0}</a:tableStyleId>
              </a:tblPr>
              <a:tblGrid>
                <a:gridCol w="2353452">
                  <a:extLst>
                    <a:ext uri="{9D8B030D-6E8A-4147-A177-3AD203B41FA5}">
                      <a16:colId xmlns:a16="http://schemas.microsoft.com/office/drawing/2014/main" val="3246805544"/>
                    </a:ext>
                  </a:extLst>
                </a:gridCol>
                <a:gridCol w="1147394">
                  <a:extLst>
                    <a:ext uri="{9D8B030D-6E8A-4147-A177-3AD203B41FA5}">
                      <a16:colId xmlns:a16="http://schemas.microsoft.com/office/drawing/2014/main" val="2055772240"/>
                    </a:ext>
                  </a:extLst>
                </a:gridCol>
                <a:gridCol w="4859383">
                  <a:extLst>
                    <a:ext uri="{9D8B030D-6E8A-4147-A177-3AD203B41FA5}">
                      <a16:colId xmlns:a16="http://schemas.microsoft.com/office/drawing/2014/main" val="1423334516"/>
                    </a:ext>
                  </a:extLst>
                </a:gridCol>
              </a:tblGrid>
              <a:tr h="104178">
                <a:tc>
                  <a:txBody>
                    <a:bodyPr/>
                    <a:lstStyle/>
                    <a:p>
                      <a:pPr algn="l" fontAlgn="ctr">
                        <a:buNone/>
                      </a:pPr>
                      <a:r>
                        <a:rPr lang="en-GB" sz="1400" u="none" strike="noStrike">
                          <a:effectLst/>
                        </a:rPr>
                        <a:t>Intervention / Strategy</a:t>
                      </a:r>
                      <a:endParaRPr lang="en-GB" sz="1400" b="1" i="0" u="none" strike="noStrike">
                        <a:solidFill>
                          <a:srgbClr val="000000"/>
                        </a:solidFill>
                        <a:effectLst/>
                        <a:latin typeface="Arial" panose="020B0604020202020204" pitchFamily="34" charset="0"/>
                      </a:endParaRPr>
                    </a:p>
                  </a:txBody>
                  <a:tcPr marL="7749" marR="861" marT="861" marB="0" anchor="ctr"/>
                </a:tc>
                <a:tc>
                  <a:txBody>
                    <a:bodyPr/>
                    <a:lstStyle/>
                    <a:p>
                      <a:pPr algn="l" fontAlgn="ctr">
                        <a:buNone/>
                      </a:pPr>
                      <a:r>
                        <a:rPr lang="en-GB" sz="1400" u="none" strike="noStrike">
                          <a:effectLst/>
                        </a:rPr>
                        <a:t>RAP Role</a:t>
                      </a:r>
                      <a:endParaRPr lang="en-GB" sz="1400" b="1" i="0" u="none" strike="noStrike">
                        <a:solidFill>
                          <a:srgbClr val="000000"/>
                        </a:solidFill>
                        <a:effectLst/>
                        <a:latin typeface="Arial" panose="020B0604020202020204" pitchFamily="34" charset="0"/>
                      </a:endParaRPr>
                    </a:p>
                  </a:txBody>
                  <a:tcPr marL="7749" marR="861" marT="861" marB="0" anchor="ctr"/>
                </a:tc>
                <a:tc>
                  <a:txBody>
                    <a:bodyPr/>
                    <a:lstStyle/>
                    <a:p>
                      <a:pPr algn="l" fontAlgn="ctr">
                        <a:buNone/>
                      </a:pPr>
                      <a:r>
                        <a:rPr lang="en-GB" sz="1400" u="none" strike="noStrike" dirty="0">
                          <a:effectLst/>
                        </a:rPr>
                        <a:t>Impact of RAP</a:t>
                      </a:r>
                      <a:endParaRPr lang="en-GB" sz="1400" b="1" i="0" u="none" strike="noStrike" dirty="0">
                        <a:solidFill>
                          <a:srgbClr val="000000"/>
                        </a:solidFill>
                        <a:effectLst/>
                        <a:latin typeface="Arial" panose="020B0604020202020204" pitchFamily="34" charset="0"/>
                      </a:endParaRPr>
                    </a:p>
                  </a:txBody>
                  <a:tcPr marL="7749" marR="861" marT="861" marB="0" anchor="ctr"/>
                </a:tc>
                <a:extLst>
                  <a:ext uri="{0D108BD9-81ED-4DB2-BD59-A6C34878D82A}">
                    <a16:rowId xmlns:a16="http://schemas.microsoft.com/office/drawing/2014/main" val="2536373744"/>
                  </a:ext>
                </a:extLst>
              </a:tr>
              <a:tr h="393465">
                <a:tc>
                  <a:txBody>
                    <a:bodyPr/>
                    <a:lstStyle/>
                    <a:p>
                      <a:pPr algn="l" fontAlgn="ctr">
                        <a:buNone/>
                      </a:pPr>
                      <a:r>
                        <a:rPr lang="en-GB" sz="1400" b="1" u="none" strike="noStrike" dirty="0">
                          <a:effectLst/>
                        </a:rPr>
                        <a:t>Enhanced Surveillance &amp; Reporting</a:t>
                      </a:r>
                      <a:endParaRPr lang="en-GB" sz="1400" b="1" i="0" u="none" strike="noStrike" dirty="0">
                        <a:solidFill>
                          <a:srgbClr val="000000"/>
                        </a:solidFill>
                        <a:effectLst/>
                        <a:latin typeface="Arial" panose="020B0604020202020204" pitchFamily="34" charset="0"/>
                      </a:endParaRPr>
                    </a:p>
                  </a:txBody>
                  <a:tcPr marL="7749" marR="861" marT="861" marB="0" anchor="ctr"/>
                </a:tc>
                <a:tc>
                  <a:txBody>
                    <a:bodyPr/>
                    <a:lstStyle/>
                    <a:p>
                      <a:pPr algn="l" fontAlgn="ctr">
                        <a:buNone/>
                      </a:pPr>
                      <a:r>
                        <a:rPr lang="en-GB" sz="1400" u="none" strike="noStrike">
                          <a:effectLst/>
                        </a:rPr>
                        <a:t>✅ Direct</a:t>
                      </a:r>
                      <a:endParaRPr lang="en-GB" sz="1400" b="0" i="0" u="none" strike="noStrike">
                        <a:solidFill>
                          <a:srgbClr val="000000"/>
                        </a:solidFill>
                        <a:effectLst/>
                        <a:latin typeface="Arial" panose="020B0604020202020204" pitchFamily="34" charset="0"/>
                      </a:endParaRPr>
                    </a:p>
                  </a:txBody>
                  <a:tcPr marL="7749" marR="861" marT="861" marB="0" anchor="ctr"/>
                </a:tc>
                <a:tc>
                  <a:txBody>
                    <a:bodyPr/>
                    <a:lstStyle/>
                    <a:p>
                      <a:pPr algn="l" fontAlgn="ctr">
                        <a:buNone/>
                      </a:pPr>
                      <a:r>
                        <a:rPr lang="en-GB" sz="1400" u="none" strike="noStrike" dirty="0">
                          <a:effectLst/>
                        </a:rPr>
                        <a:t>Automatically processes pathology and admission data to generate timely, patient-level intelligence.</a:t>
                      </a:r>
                      <a:endParaRPr lang="en-GB" sz="1400" b="0" i="0" u="none" strike="noStrike" dirty="0">
                        <a:solidFill>
                          <a:srgbClr val="000000"/>
                        </a:solidFill>
                        <a:effectLst/>
                        <a:latin typeface="Arial" panose="020B0604020202020204" pitchFamily="34" charset="0"/>
                      </a:endParaRPr>
                    </a:p>
                  </a:txBody>
                  <a:tcPr marL="7749" marR="861" marT="861" marB="0" anchor="ctr"/>
                </a:tc>
                <a:extLst>
                  <a:ext uri="{0D108BD9-81ED-4DB2-BD59-A6C34878D82A}">
                    <a16:rowId xmlns:a16="http://schemas.microsoft.com/office/drawing/2014/main" val="3040019800"/>
                  </a:ext>
                </a:extLst>
              </a:tr>
              <a:tr h="393465">
                <a:tc>
                  <a:txBody>
                    <a:bodyPr/>
                    <a:lstStyle/>
                    <a:p>
                      <a:pPr algn="l" fontAlgn="ctr">
                        <a:buNone/>
                      </a:pPr>
                      <a:r>
                        <a:rPr lang="en-GB" sz="1400" b="1" u="none" strike="noStrike" dirty="0">
                          <a:effectLst/>
                        </a:rPr>
                        <a:t>Universal Screening &amp; Decolonisation Protocols</a:t>
                      </a:r>
                      <a:endParaRPr lang="en-GB" sz="1400" b="1" i="0" u="none" strike="noStrike" dirty="0">
                        <a:solidFill>
                          <a:srgbClr val="000000"/>
                        </a:solidFill>
                        <a:effectLst/>
                        <a:latin typeface="Arial" panose="020B0604020202020204" pitchFamily="34" charset="0"/>
                      </a:endParaRPr>
                    </a:p>
                  </a:txBody>
                  <a:tcPr marL="7749" marR="861" marT="861" marB="0" anchor="ctr"/>
                </a:tc>
                <a:tc>
                  <a:txBody>
                    <a:bodyPr/>
                    <a:lstStyle/>
                    <a:p>
                      <a:pPr algn="l" fontAlgn="ctr">
                        <a:buNone/>
                      </a:pPr>
                      <a:r>
                        <a:rPr lang="en-GB" sz="1400" u="none" strike="noStrike" dirty="0">
                          <a:effectLst/>
                        </a:rPr>
                        <a:t>✅ Direct</a:t>
                      </a:r>
                      <a:endParaRPr lang="en-GB" sz="1400" b="0" i="0" u="none" strike="noStrike" dirty="0">
                        <a:solidFill>
                          <a:srgbClr val="000000"/>
                        </a:solidFill>
                        <a:effectLst/>
                        <a:latin typeface="Arial" panose="020B0604020202020204" pitchFamily="34" charset="0"/>
                      </a:endParaRPr>
                    </a:p>
                  </a:txBody>
                  <a:tcPr marL="7749" marR="861" marT="861" marB="0" anchor="ctr"/>
                </a:tc>
                <a:tc>
                  <a:txBody>
                    <a:bodyPr/>
                    <a:lstStyle/>
                    <a:p>
                      <a:pPr algn="l" fontAlgn="ctr">
                        <a:buNone/>
                      </a:pPr>
                      <a:r>
                        <a:rPr lang="en-GB" sz="1400" u="none" strike="noStrike" dirty="0">
                          <a:effectLst/>
                        </a:rPr>
                        <a:t>Programmatically evaluate compliance with MRSA policy, including admission screening practices</a:t>
                      </a:r>
                      <a:endParaRPr lang="en-GB" sz="1400" b="0" i="0" u="none" strike="noStrike" dirty="0">
                        <a:solidFill>
                          <a:srgbClr val="000000"/>
                        </a:solidFill>
                        <a:effectLst/>
                        <a:latin typeface="Arial" panose="020B0604020202020204" pitchFamily="34" charset="0"/>
                      </a:endParaRPr>
                    </a:p>
                  </a:txBody>
                  <a:tcPr marL="7749" marR="861" marT="861" marB="0" anchor="ctr"/>
                </a:tc>
                <a:extLst>
                  <a:ext uri="{0D108BD9-81ED-4DB2-BD59-A6C34878D82A}">
                    <a16:rowId xmlns:a16="http://schemas.microsoft.com/office/drawing/2014/main" val="516845255"/>
                  </a:ext>
                </a:extLst>
              </a:tr>
              <a:tr h="377107">
                <a:tc>
                  <a:txBody>
                    <a:bodyPr/>
                    <a:lstStyle/>
                    <a:p>
                      <a:pPr algn="l" fontAlgn="ctr">
                        <a:buNone/>
                      </a:pPr>
                      <a:r>
                        <a:rPr lang="en-GB" sz="1400" b="1" u="none" strike="noStrike" dirty="0">
                          <a:effectLst/>
                        </a:rPr>
                        <a:t>Prudent Antimicrobial Stewardship</a:t>
                      </a:r>
                      <a:endParaRPr lang="en-GB" sz="1400" b="1" i="0" u="none" strike="noStrike" dirty="0">
                        <a:solidFill>
                          <a:srgbClr val="000000"/>
                        </a:solidFill>
                        <a:effectLst/>
                        <a:latin typeface="Arial" panose="020B0604020202020204" pitchFamily="34" charset="0"/>
                      </a:endParaRPr>
                    </a:p>
                  </a:txBody>
                  <a:tcPr marL="7749" marR="861" marT="861" marB="0" anchor="ctr"/>
                </a:tc>
                <a:tc>
                  <a:txBody>
                    <a:bodyPr/>
                    <a:lstStyle/>
                    <a:p>
                      <a:pPr algn="l" fontAlgn="ctr">
                        <a:buNone/>
                      </a:pPr>
                      <a:r>
                        <a:rPr lang="en-GB" sz="1400" u="none" strike="noStrike">
                          <a:effectLst/>
                        </a:rPr>
                        <a:t>✅ Direct</a:t>
                      </a:r>
                      <a:endParaRPr lang="en-GB" sz="1400" b="0" i="0" u="none" strike="noStrike">
                        <a:solidFill>
                          <a:srgbClr val="000000"/>
                        </a:solidFill>
                        <a:effectLst/>
                        <a:latin typeface="Arial" panose="020B0604020202020204" pitchFamily="34" charset="0"/>
                      </a:endParaRPr>
                    </a:p>
                  </a:txBody>
                  <a:tcPr marL="7749" marR="861" marT="861" marB="0" anchor="ctr"/>
                </a:tc>
                <a:tc>
                  <a:txBody>
                    <a:bodyPr/>
                    <a:lstStyle/>
                    <a:p>
                      <a:pPr algn="l" fontAlgn="ctr">
                        <a:buNone/>
                      </a:pPr>
                      <a:r>
                        <a:rPr lang="en-GB" sz="1400" u="none" strike="noStrike" dirty="0">
                          <a:effectLst/>
                        </a:rPr>
                        <a:t>Facilitate earlier review of antimicrobial prescriptions in MRSA-positive patients</a:t>
                      </a:r>
                      <a:endParaRPr lang="en-GB" sz="1400" b="0" i="0" u="none" strike="noStrike" dirty="0">
                        <a:solidFill>
                          <a:srgbClr val="000000"/>
                        </a:solidFill>
                        <a:effectLst/>
                        <a:latin typeface="Arial" panose="020B0604020202020204" pitchFamily="34" charset="0"/>
                      </a:endParaRPr>
                    </a:p>
                  </a:txBody>
                  <a:tcPr marL="7749" marR="861" marT="861" marB="0" anchor="ctr"/>
                </a:tc>
                <a:extLst>
                  <a:ext uri="{0D108BD9-81ED-4DB2-BD59-A6C34878D82A}">
                    <a16:rowId xmlns:a16="http://schemas.microsoft.com/office/drawing/2014/main" val="490002539"/>
                  </a:ext>
                </a:extLst>
              </a:tr>
              <a:tr h="409824">
                <a:tc>
                  <a:txBody>
                    <a:bodyPr/>
                    <a:lstStyle/>
                    <a:p>
                      <a:pPr algn="l" fontAlgn="ctr">
                        <a:buNone/>
                      </a:pPr>
                      <a:r>
                        <a:rPr lang="en-GB" sz="1400" b="1" u="none" strike="noStrike" dirty="0">
                          <a:effectLst/>
                        </a:rPr>
                        <a:t>Innovation &amp; Technology</a:t>
                      </a:r>
                      <a:endParaRPr lang="en-GB" sz="1400" b="1" i="0" u="none" strike="noStrike" dirty="0">
                        <a:solidFill>
                          <a:srgbClr val="000000"/>
                        </a:solidFill>
                        <a:effectLst/>
                        <a:latin typeface="Arial" panose="020B0604020202020204" pitchFamily="34" charset="0"/>
                      </a:endParaRPr>
                    </a:p>
                  </a:txBody>
                  <a:tcPr marL="7749" marR="861" marT="861" marB="0" anchor="ctr"/>
                </a:tc>
                <a:tc>
                  <a:txBody>
                    <a:bodyPr/>
                    <a:lstStyle/>
                    <a:p>
                      <a:pPr algn="l" fontAlgn="ctr">
                        <a:buNone/>
                      </a:pPr>
                      <a:r>
                        <a:rPr lang="en-GB" sz="1400" u="none" strike="noStrike" dirty="0">
                          <a:effectLst/>
                        </a:rPr>
                        <a:t>✅ Direct</a:t>
                      </a:r>
                      <a:endParaRPr lang="en-GB" sz="1400" b="0" i="0" u="none" strike="noStrike" dirty="0">
                        <a:solidFill>
                          <a:srgbClr val="000000"/>
                        </a:solidFill>
                        <a:effectLst/>
                        <a:latin typeface="Arial" panose="020B0604020202020204" pitchFamily="34" charset="0"/>
                      </a:endParaRPr>
                    </a:p>
                  </a:txBody>
                  <a:tcPr marL="7749" marR="861" marT="861" marB="0" anchor="ctr"/>
                </a:tc>
                <a:tc>
                  <a:txBody>
                    <a:bodyPr/>
                    <a:lstStyle/>
                    <a:p>
                      <a:pPr algn="l" fontAlgn="ctr">
                        <a:buNone/>
                      </a:pPr>
                      <a:r>
                        <a:rPr lang="en-GB" sz="1400" u="none" strike="noStrike" dirty="0">
                          <a:effectLst/>
                        </a:rPr>
                        <a:t>RAP allows for automated, patient-level surveillance of key assurance measures, and rapid sharing of results</a:t>
                      </a:r>
                      <a:endParaRPr lang="en-GB" sz="1400" b="0" i="0" u="none" strike="noStrike" dirty="0">
                        <a:solidFill>
                          <a:srgbClr val="000000"/>
                        </a:solidFill>
                        <a:effectLst/>
                        <a:latin typeface="Arial" panose="020B0604020202020204" pitchFamily="34" charset="0"/>
                      </a:endParaRPr>
                    </a:p>
                  </a:txBody>
                  <a:tcPr marL="7749" marR="861" marT="861" marB="0" anchor="ctr"/>
                </a:tc>
                <a:extLst>
                  <a:ext uri="{0D108BD9-81ED-4DB2-BD59-A6C34878D82A}">
                    <a16:rowId xmlns:a16="http://schemas.microsoft.com/office/drawing/2014/main" val="2688736883"/>
                  </a:ext>
                </a:extLst>
              </a:tr>
              <a:tr h="393465">
                <a:tc>
                  <a:txBody>
                    <a:bodyPr/>
                    <a:lstStyle/>
                    <a:p>
                      <a:pPr algn="l" fontAlgn="ctr">
                        <a:buNone/>
                      </a:pPr>
                      <a:r>
                        <a:rPr lang="en-GB" sz="1400" b="1" u="none" strike="noStrike" dirty="0">
                          <a:effectLst/>
                        </a:rPr>
                        <a:t>Leadership Engagement &amp; Governance</a:t>
                      </a:r>
                      <a:endParaRPr lang="en-GB" sz="1400" b="1" i="0" u="none" strike="noStrike" dirty="0">
                        <a:solidFill>
                          <a:srgbClr val="000000"/>
                        </a:solidFill>
                        <a:effectLst/>
                        <a:latin typeface="Arial" panose="020B0604020202020204" pitchFamily="34" charset="0"/>
                      </a:endParaRPr>
                    </a:p>
                  </a:txBody>
                  <a:tcPr marL="7749" marR="861" marT="861" marB="0" anchor="ctr"/>
                </a:tc>
                <a:tc>
                  <a:txBody>
                    <a:bodyPr/>
                    <a:lstStyle/>
                    <a:p>
                      <a:pPr algn="l" fontAlgn="ctr">
                        <a:buNone/>
                      </a:pPr>
                      <a:r>
                        <a:rPr lang="en-GB" sz="1400" u="none" strike="noStrike" dirty="0">
                          <a:effectLst/>
                        </a:rPr>
                        <a:t>✅ Direct</a:t>
                      </a:r>
                      <a:endParaRPr lang="en-GB" sz="1400" b="0" i="0" u="none" strike="noStrike" dirty="0">
                        <a:solidFill>
                          <a:srgbClr val="000000"/>
                        </a:solidFill>
                        <a:effectLst/>
                        <a:latin typeface="Arial" panose="020B0604020202020204" pitchFamily="34" charset="0"/>
                      </a:endParaRPr>
                    </a:p>
                  </a:txBody>
                  <a:tcPr marL="7749" marR="861" marT="861" marB="0" anchor="ctr"/>
                </a:tc>
                <a:tc>
                  <a:txBody>
                    <a:bodyPr/>
                    <a:lstStyle/>
                    <a:p>
                      <a:pPr algn="l" fontAlgn="ctr">
                        <a:buNone/>
                      </a:pPr>
                      <a:r>
                        <a:rPr lang="en-GB" sz="1400" u="none" strike="noStrike" dirty="0">
                          <a:effectLst/>
                        </a:rPr>
                        <a:t>Delivers fully auditable, trustworthy, timely and immediately actionable data to key stakeholders</a:t>
                      </a:r>
                      <a:endParaRPr lang="en-GB" sz="1400" b="0" i="0" u="none" strike="noStrike" dirty="0">
                        <a:solidFill>
                          <a:srgbClr val="000000"/>
                        </a:solidFill>
                        <a:effectLst/>
                        <a:latin typeface="Arial" panose="020B0604020202020204" pitchFamily="34" charset="0"/>
                      </a:endParaRPr>
                    </a:p>
                  </a:txBody>
                  <a:tcPr marL="7749" marR="861" marT="861" marB="0" anchor="ctr"/>
                </a:tc>
                <a:extLst>
                  <a:ext uri="{0D108BD9-81ED-4DB2-BD59-A6C34878D82A}">
                    <a16:rowId xmlns:a16="http://schemas.microsoft.com/office/drawing/2014/main" val="1244551530"/>
                  </a:ext>
                </a:extLst>
              </a:tr>
              <a:tr h="409824">
                <a:tc>
                  <a:txBody>
                    <a:bodyPr/>
                    <a:lstStyle/>
                    <a:p>
                      <a:pPr algn="l" fontAlgn="ctr">
                        <a:buNone/>
                      </a:pPr>
                      <a:r>
                        <a:rPr lang="en-GB" sz="1400" b="1" u="none" strike="noStrike" dirty="0">
                          <a:effectLst/>
                        </a:rPr>
                        <a:t>Staff Education &amp; Competency</a:t>
                      </a:r>
                      <a:endParaRPr lang="en-GB" sz="1400" b="1" i="0" u="none" strike="noStrike" dirty="0">
                        <a:solidFill>
                          <a:srgbClr val="000000"/>
                        </a:solidFill>
                        <a:effectLst/>
                        <a:latin typeface="Arial" panose="020B0604020202020204" pitchFamily="34" charset="0"/>
                      </a:endParaRPr>
                    </a:p>
                  </a:txBody>
                  <a:tcPr marL="7749" marR="861" marT="861" marB="0" anchor="ctr"/>
                </a:tc>
                <a:tc>
                  <a:txBody>
                    <a:bodyPr/>
                    <a:lstStyle/>
                    <a:p>
                      <a:pPr algn="l" fontAlgn="ctr">
                        <a:buNone/>
                      </a:pPr>
                      <a:r>
                        <a:rPr lang="en-GB" sz="1400" u="none" strike="noStrike">
                          <a:effectLst/>
                        </a:rPr>
                        <a:t>🔗 Indirect</a:t>
                      </a:r>
                      <a:endParaRPr lang="en-GB" sz="1400" b="0" i="0" u="none" strike="noStrike">
                        <a:solidFill>
                          <a:srgbClr val="000000"/>
                        </a:solidFill>
                        <a:effectLst/>
                        <a:latin typeface="Arial" panose="020B0604020202020204" pitchFamily="34" charset="0"/>
                      </a:endParaRPr>
                    </a:p>
                  </a:txBody>
                  <a:tcPr marL="7749" marR="861" marT="861" marB="0" anchor="ctr"/>
                </a:tc>
                <a:tc>
                  <a:txBody>
                    <a:bodyPr/>
                    <a:lstStyle/>
                    <a:p>
                      <a:pPr algn="l" fontAlgn="ctr">
                        <a:buNone/>
                      </a:pPr>
                      <a:r>
                        <a:rPr lang="en-GB" sz="1400" u="none" strike="noStrike" dirty="0">
                          <a:effectLst/>
                        </a:rPr>
                        <a:t>Ward-level data allows educators to target training and intervention where it is objectively needed most</a:t>
                      </a:r>
                      <a:endParaRPr lang="en-GB" sz="1400" b="0" i="0" u="none" strike="noStrike" dirty="0">
                        <a:solidFill>
                          <a:srgbClr val="000000"/>
                        </a:solidFill>
                        <a:effectLst/>
                        <a:latin typeface="Arial" panose="020B0604020202020204" pitchFamily="34" charset="0"/>
                      </a:endParaRPr>
                    </a:p>
                  </a:txBody>
                  <a:tcPr marL="7749" marR="861" marT="861" marB="0" anchor="ctr"/>
                </a:tc>
                <a:extLst>
                  <a:ext uri="{0D108BD9-81ED-4DB2-BD59-A6C34878D82A}">
                    <a16:rowId xmlns:a16="http://schemas.microsoft.com/office/drawing/2014/main" val="3134982286"/>
                  </a:ext>
                </a:extLst>
              </a:tr>
              <a:tr h="442541">
                <a:tc>
                  <a:txBody>
                    <a:bodyPr/>
                    <a:lstStyle/>
                    <a:p>
                      <a:pPr algn="l" fontAlgn="ctr">
                        <a:buNone/>
                      </a:pPr>
                      <a:r>
                        <a:rPr lang="en-GB" sz="1400" b="1" u="none" strike="noStrike" dirty="0">
                          <a:effectLst/>
                        </a:rPr>
                        <a:t>Optimised Hand Hygiene Compliance</a:t>
                      </a:r>
                      <a:endParaRPr lang="en-GB" sz="1400" b="1" i="0" u="none" strike="noStrike" dirty="0">
                        <a:solidFill>
                          <a:srgbClr val="000000"/>
                        </a:solidFill>
                        <a:effectLst/>
                        <a:latin typeface="Arial" panose="020B0604020202020204" pitchFamily="34" charset="0"/>
                      </a:endParaRPr>
                    </a:p>
                  </a:txBody>
                  <a:tcPr marL="7749" marR="861" marT="861" marB="0" anchor="ctr"/>
                </a:tc>
                <a:tc>
                  <a:txBody>
                    <a:bodyPr/>
                    <a:lstStyle/>
                    <a:p>
                      <a:pPr algn="l" fontAlgn="ctr">
                        <a:buNone/>
                      </a:pPr>
                      <a:r>
                        <a:rPr lang="en-GB" sz="1400" u="none" strike="noStrike">
                          <a:effectLst/>
                        </a:rPr>
                        <a:t>❌ None</a:t>
                      </a:r>
                      <a:endParaRPr lang="en-GB" sz="1400" b="0" i="0" u="none" strike="noStrike">
                        <a:solidFill>
                          <a:srgbClr val="000000"/>
                        </a:solidFill>
                        <a:effectLst/>
                        <a:latin typeface="Arial" panose="020B0604020202020204" pitchFamily="34" charset="0"/>
                      </a:endParaRPr>
                    </a:p>
                  </a:txBody>
                  <a:tcPr marL="7749" marR="861" marT="861" marB="0" anchor="ctr"/>
                </a:tc>
                <a:tc>
                  <a:txBody>
                    <a:bodyPr/>
                    <a:lstStyle/>
                    <a:p>
                      <a:pPr algn="l" fontAlgn="ctr">
                        <a:buNone/>
                      </a:pPr>
                      <a:r>
                        <a:rPr lang="en-GB" sz="1400" u="none" strike="noStrike" dirty="0">
                          <a:effectLst/>
                        </a:rPr>
                        <a:t>Physical clinical practice. RAP cannot monitor bedside compliance.</a:t>
                      </a:r>
                      <a:endParaRPr lang="en-GB" sz="1400" b="0" i="1" u="none" strike="noStrike" dirty="0">
                        <a:solidFill>
                          <a:srgbClr val="000000"/>
                        </a:solidFill>
                        <a:effectLst/>
                        <a:latin typeface="Arial" panose="020B0604020202020204" pitchFamily="34" charset="0"/>
                      </a:endParaRPr>
                    </a:p>
                  </a:txBody>
                  <a:tcPr marL="7749" marR="861" marT="861" marB="0" anchor="ctr"/>
                </a:tc>
                <a:extLst>
                  <a:ext uri="{0D108BD9-81ED-4DB2-BD59-A6C34878D82A}">
                    <a16:rowId xmlns:a16="http://schemas.microsoft.com/office/drawing/2014/main" val="565326325"/>
                  </a:ext>
                </a:extLst>
              </a:tr>
              <a:tr h="470207">
                <a:tc>
                  <a:txBody>
                    <a:bodyPr/>
                    <a:lstStyle/>
                    <a:p>
                      <a:pPr algn="l" fontAlgn="ctr">
                        <a:buNone/>
                      </a:pPr>
                      <a:r>
                        <a:rPr lang="en-GB" sz="1400" b="1" u="none" strike="noStrike" dirty="0">
                          <a:effectLst/>
                        </a:rPr>
                        <a:t>Rigorous Environmental Cleaning</a:t>
                      </a:r>
                      <a:endParaRPr lang="en-GB" sz="1400" b="1" i="0" u="none" strike="noStrike" dirty="0">
                        <a:solidFill>
                          <a:srgbClr val="000000"/>
                        </a:solidFill>
                        <a:effectLst/>
                        <a:latin typeface="Arial" panose="020B0604020202020204" pitchFamily="34" charset="0"/>
                      </a:endParaRPr>
                    </a:p>
                  </a:txBody>
                  <a:tcPr marL="7749" marR="861" marT="861" marB="0" anchor="ctr"/>
                </a:tc>
                <a:tc>
                  <a:txBody>
                    <a:bodyPr/>
                    <a:lstStyle/>
                    <a:p>
                      <a:pPr algn="l" fontAlgn="ctr">
                        <a:buNone/>
                      </a:pPr>
                      <a:r>
                        <a:rPr lang="en-GB" sz="1400" u="none" strike="noStrike">
                          <a:effectLst/>
                        </a:rPr>
                        <a:t>❌ None</a:t>
                      </a:r>
                      <a:endParaRPr lang="en-GB" sz="1400" b="0" i="0" u="none" strike="noStrike">
                        <a:solidFill>
                          <a:srgbClr val="000000"/>
                        </a:solidFill>
                        <a:effectLst/>
                        <a:latin typeface="Arial" panose="020B0604020202020204" pitchFamily="34" charset="0"/>
                      </a:endParaRPr>
                    </a:p>
                  </a:txBody>
                  <a:tcPr marL="7749" marR="861" marT="861" marB="0" anchor="ctr"/>
                </a:tc>
                <a:tc>
                  <a:txBody>
                    <a:bodyPr/>
                    <a:lstStyle/>
                    <a:p>
                      <a:pPr algn="l" fontAlgn="ctr">
                        <a:buNone/>
                      </a:pPr>
                      <a:r>
                        <a:rPr lang="en-GB" sz="1400" u="none" strike="noStrike" dirty="0">
                          <a:effectLst/>
                        </a:rPr>
                        <a:t>Physical clinical practice. RAP cannot clean a ward.</a:t>
                      </a:r>
                      <a:endParaRPr lang="en-GB" sz="1400" b="0" i="1" u="none" strike="noStrike" dirty="0">
                        <a:solidFill>
                          <a:srgbClr val="000000"/>
                        </a:solidFill>
                        <a:effectLst/>
                        <a:latin typeface="Arial" panose="020B0604020202020204" pitchFamily="34" charset="0"/>
                      </a:endParaRPr>
                    </a:p>
                  </a:txBody>
                  <a:tcPr marL="7749" marR="861" marT="861" marB="0" anchor="ctr"/>
                </a:tc>
                <a:extLst>
                  <a:ext uri="{0D108BD9-81ED-4DB2-BD59-A6C34878D82A}">
                    <a16:rowId xmlns:a16="http://schemas.microsoft.com/office/drawing/2014/main" val="230235149"/>
                  </a:ext>
                </a:extLst>
              </a:tr>
            </a:tbl>
          </a:graphicData>
        </a:graphic>
      </p:graphicFrame>
    </p:spTree>
    <p:extLst>
      <p:ext uri="{BB962C8B-B14F-4D97-AF65-F5344CB8AC3E}">
        <p14:creationId xmlns:p14="http://schemas.microsoft.com/office/powerpoint/2010/main" val="2360892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DCA16-E212-2CE0-0E8D-1EA619C252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AAEAFC-BF60-E4A8-0485-7F641E00774D}"/>
              </a:ext>
            </a:extLst>
          </p:cNvPr>
          <p:cNvSpPr>
            <a:spLocks noGrp="1"/>
          </p:cNvSpPr>
          <p:nvPr>
            <p:ph type="title"/>
          </p:nvPr>
        </p:nvSpPr>
        <p:spPr/>
        <p:txBody>
          <a:bodyPr>
            <a:normAutofit/>
          </a:bodyPr>
          <a:lstStyle/>
          <a:p>
            <a:pPr marL="0" lvl="0" indent="0">
              <a:buNone/>
            </a:pPr>
            <a:r>
              <a:rPr lang="en-GB" dirty="0"/>
              <a:t>Problem description</a:t>
            </a:r>
            <a:endParaRPr dirty="0"/>
          </a:p>
        </p:txBody>
      </p:sp>
      <p:sp>
        <p:nvSpPr>
          <p:cNvPr id="3" name="Content Placeholder 2">
            <a:extLst>
              <a:ext uri="{FF2B5EF4-FFF2-40B4-BE49-F238E27FC236}">
                <a16:creationId xmlns:a16="http://schemas.microsoft.com/office/drawing/2014/main" id="{8253AC48-2D7C-7A49-D0EC-E3024393B8F4}"/>
              </a:ext>
            </a:extLst>
          </p:cNvPr>
          <p:cNvSpPr>
            <a:spLocks noGrp="1"/>
          </p:cNvSpPr>
          <p:nvPr>
            <p:ph idx="1"/>
          </p:nvPr>
        </p:nvSpPr>
        <p:spPr>
          <a:xfrm>
            <a:off x="457199" y="1200151"/>
            <a:ext cx="7354389" cy="3394472"/>
          </a:xfrm>
        </p:spPr>
        <p:txBody>
          <a:bodyPr>
            <a:normAutofit/>
          </a:bodyPr>
          <a:lstStyle/>
          <a:p>
            <a:pPr marL="0" lvl="0" indent="0">
              <a:buNone/>
            </a:pPr>
            <a:r>
              <a:rPr lang="en-GB" sz="2000" dirty="0"/>
              <a:t>At NUTH, MRSA admission screening is mandated for practically most inpatients</a:t>
            </a:r>
          </a:p>
          <a:p>
            <a:pPr marL="0" lvl="0" indent="0">
              <a:buNone/>
            </a:pPr>
            <a:endParaRPr lang="en-GB" sz="2000" dirty="0"/>
          </a:p>
          <a:p>
            <a:pPr marL="0" lvl="0" indent="0">
              <a:buNone/>
            </a:pPr>
            <a:r>
              <a:rPr lang="en-GB" sz="2000" dirty="0"/>
              <a:t>Screening must be undertaken between:</a:t>
            </a:r>
          </a:p>
          <a:p>
            <a:pPr marL="342900" lvl="1" indent="0">
              <a:buNone/>
            </a:pPr>
            <a:r>
              <a:rPr lang="en-GB" sz="1700" dirty="0"/>
              <a:t>[18 weeks preceding admission] – </a:t>
            </a:r>
          </a:p>
          <a:p>
            <a:pPr marL="342900" lvl="1" indent="0">
              <a:buNone/>
            </a:pPr>
            <a:r>
              <a:rPr lang="en-GB" sz="1700" dirty="0"/>
              <a:t>[admission date]</a:t>
            </a:r>
          </a:p>
          <a:p>
            <a:pPr marL="0" lvl="0" indent="0">
              <a:buNone/>
            </a:pPr>
            <a:endParaRPr lang="en-GB" sz="2000" dirty="0"/>
          </a:p>
          <a:p>
            <a:pPr marL="0" lvl="0" indent="0">
              <a:buNone/>
            </a:pPr>
            <a:r>
              <a:rPr lang="en-GB" sz="2000" dirty="0"/>
              <a:t>Prior to this project, MRSA admission screening compliance levels were effectively unknown at NUTH.</a:t>
            </a:r>
          </a:p>
        </p:txBody>
      </p:sp>
      <p:sp>
        <p:nvSpPr>
          <p:cNvPr id="5" name="Footer Placeholder 4">
            <a:extLst>
              <a:ext uri="{FF2B5EF4-FFF2-40B4-BE49-F238E27FC236}">
                <a16:creationId xmlns:a16="http://schemas.microsoft.com/office/drawing/2014/main" id="{DA7F437F-04FB-FF13-FA94-9A456CAB258E}"/>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
        <p:nvSpPr>
          <p:cNvPr id="8" name="Date Placeholder 3">
            <a:extLst>
              <a:ext uri="{FF2B5EF4-FFF2-40B4-BE49-F238E27FC236}">
                <a16:creationId xmlns:a16="http://schemas.microsoft.com/office/drawing/2014/main" id="{9E776CEF-E557-9A01-54CB-3B92AF8F7D51}"/>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Tree>
    <p:extLst>
      <p:ext uri="{BB962C8B-B14F-4D97-AF65-F5344CB8AC3E}">
        <p14:creationId xmlns:p14="http://schemas.microsoft.com/office/powerpoint/2010/main" val="3650313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err="1"/>
              <a:t>Normalisation</a:t>
            </a:r>
            <a:r>
              <a:rPr dirty="0"/>
              <a:t> Process Theory (NPT)</a:t>
            </a:r>
          </a:p>
        </p:txBody>
      </p:sp>
      <p:sp>
        <p:nvSpPr>
          <p:cNvPr id="5" name="Footer Placeholder 4">
            <a:extLst>
              <a:ext uri="{FF2B5EF4-FFF2-40B4-BE49-F238E27FC236}">
                <a16:creationId xmlns:a16="http://schemas.microsoft.com/office/drawing/2014/main" id="{475EE1AB-F885-BECF-724C-13845E86646D}"/>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pic>
        <p:nvPicPr>
          <p:cNvPr id="1026" name="Picture 2" descr="Applying Normalization Process Theory">
            <a:extLst>
              <a:ext uri="{FF2B5EF4-FFF2-40B4-BE49-F238E27FC236}">
                <a16:creationId xmlns:a16="http://schemas.microsoft.com/office/drawing/2014/main" id="{80644AC2-4054-867F-9325-76D74D355E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7279" y="1063229"/>
            <a:ext cx="1714500" cy="2419350"/>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4">
            <a:extLst>
              <a:ext uri="{FF2B5EF4-FFF2-40B4-BE49-F238E27FC236}">
                <a16:creationId xmlns:a16="http://schemas.microsoft.com/office/drawing/2014/main" id="{7CB42B4F-E2EA-B934-E434-C90942FD347E}"/>
              </a:ext>
            </a:extLst>
          </p:cNvPr>
          <p:cNvSpPr txBox="1">
            <a:spLocks/>
          </p:cNvSpPr>
          <p:nvPr/>
        </p:nvSpPr>
        <p:spPr>
          <a:xfrm>
            <a:off x="5906729" y="3518297"/>
            <a:ext cx="2895600" cy="273844"/>
          </a:xfrm>
          <a:prstGeom prst="rect">
            <a:avLst/>
          </a:prstGeom>
        </p:spPr>
        <p:txBody>
          <a:bodyPr vert="horz" lIns="91440" tIns="45720" rIns="91440" bIns="45720" rtlCol="0" anchor="ctr"/>
          <a:lstStyle>
            <a:defPPr>
              <a:defRPr lang="en-US"/>
            </a:defPPr>
            <a:lvl1pPr marL="0" algn="ct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Per Nilsen [2024]</a:t>
            </a:r>
          </a:p>
        </p:txBody>
      </p:sp>
      <p:sp>
        <p:nvSpPr>
          <p:cNvPr id="7" name="Date Placeholder 3">
            <a:extLst>
              <a:ext uri="{FF2B5EF4-FFF2-40B4-BE49-F238E27FC236}">
                <a16:creationId xmlns:a16="http://schemas.microsoft.com/office/drawing/2014/main" id="{37E06421-F1DC-03BF-C696-A74DC6935393}"/>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graphicFrame>
        <p:nvGraphicFramePr>
          <p:cNvPr id="10" name="Content Placeholder 3">
            <a:extLst>
              <a:ext uri="{FF2B5EF4-FFF2-40B4-BE49-F238E27FC236}">
                <a16:creationId xmlns:a16="http://schemas.microsoft.com/office/drawing/2014/main" id="{54AE38BD-C398-3213-D689-2423FA1A2612}"/>
              </a:ext>
            </a:extLst>
          </p:cNvPr>
          <p:cNvGraphicFramePr>
            <a:graphicFrameLocks/>
          </p:cNvGraphicFramePr>
          <p:nvPr>
            <p:extLst>
              <p:ext uri="{D42A27DB-BD31-4B8C-83A1-F6EECF244321}">
                <p14:modId xmlns:p14="http://schemas.microsoft.com/office/powerpoint/2010/main" val="4274932565"/>
              </p:ext>
            </p:extLst>
          </p:nvPr>
        </p:nvGraphicFramePr>
        <p:xfrm>
          <a:off x="829409" y="1134893"/>
          <a:ext cx="6924447" cy="34441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Rectangle 10">
            <a:extLst>
              <a:ext uri="{FF2B5EF4-FFF2-40B4-BE49-F238E27FC236}">
                <a16:creationId xmlns:a16="http://schemas.microsoft.com/office/drawing/2014/main" id="{56434A4A-E915-C802-1544-3563200DD68D}"/>
              </a:ext>
            </a:extLst>
          </p:cNvPr>
          <p:cNvSpPr/>
          <p:nvPr/>
        </p:nvSpPr>
        <p:spPr>
          <a:xfrm>
            <a:off x="1513300" y="1167678"/>
            <a:ext cx="2134800" cy="61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t>Monitoring and report on performance</a:t>
            </a:r>
          </a:p>
        </p:txBody>
      </p:sp>
      <p:sp>
        <p:nvSpPr>
          <p:cNvPr id="12" name="Rectangle 11">
            <a:extLst>
              <a:ext uri="{FF2B5EF4-FFF2-40B4-BE49-F238E27FC236}">
                <a16:creationId xmlns:a16="http://schemas.microsoft.com/office/drawing/2014/main" id="{DB385F63-0A66-5C15-333D-1FEE37154313}"/>
              </a:ext>
            </a:extLst>
          </p:cNvPr>
          <p:cNvSpPr/>
          <p:nvPr/>
        </p:nvSpPr>
        <p:spPr>
          <a:xfrm>
            <a:off x="6078319" y="3883153"/>
            <a:ext cx="2133460" cy="61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t>Improve understanding</a:t>
            </a:r>
          </a:p>
        </p:txBody>
      </p:sp>
      <p:sp>
        <p:nvSpPr>
          <p:cNvPr id="13" name="Rectangle 12">
            <a:extLst>
              <a:ext uri="{FF2B5EF4-FFF2-40B4-BE49-F238E27FC236}">
                <a16:creationId xmlns:a16="http://schemas.microsoft.com/office/drawing/2014/main" id="{5FDE78F6-6007-10CC-2BAB-D09C9E6B7788}"/>
              </a:ext>
            </a:extLst>
          </p:cNvPr>
          <p:cNvSpPr/>
          <p:nvPr/>
        </p:nvSpPr>
        <p:spPr>
          <a:xfrm>
            <a:off x="542680" y="2764046"/>
            <a:ext cx="2134800" cy="612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t>Improved practice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animBg="1"/>
      <p:bldP spid="12" grpId="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Aims</a:t>
            </a:r>
          </a:p>
        </p:txBody>
      </p:sp>
      <p:sp>
        <p:nvSpPr>
          <p:cNvPr id="3" name="Content Placeholder 2"/>
          <p:cNvSpPr>
            <a:spLocks noGrp="1"/>
          </p:cNvSpPr>
          <p:nvPr>
            <p:ph idx="1"/>
          </p:nvPr>
        </p:nvSpPr>
        <p:spPr/>
        <p:txBody>
          <a:bodyPr>
            <a:normAutofit/>
          </a:bodyPr>
          <a:lstStyle/>
          <a:p>
            <a:pPr marL="0" lvl="0" indent="0">
              <a:buNone/>
            </a:pPr>
            <a:endParaRPr lang="en-GB" dirty="0"/>
          </a:p>
          <a:p>
            <a:pPr marL="0" lvl="0" indent="0">
              <a:buNone/>
            </a:pPr>
            <a:r>
              <a:rPr lang="en-GB" dirty="0"/>
              <a:t>To develop </a:t>
            </a:r>
            <a:r>
              <a:rPr dirty="0"/>
              <a:t>and implement a </a:t>
            </a:r>
            <a:r>
              <a:rPr lang="en-GB" dirty="0"/>
              <a:t>RAP </a:t>
            </a:r>
          </a:p>
          <a:p>
            <a:pPr marL="0" lvl="0" indent="0">
              <a:buNone/>
            </a:pPr>
            <a:r>
              <a:rPr lang="en-GB" dirty="0"/>
              <a:t>…That triangulates data from different silos</a:t>
            </a:r>
          </a:p>
          <a:p>
            <a:pPr marL="0" lvl="0" indent="0">
              <a:buNone/>
            </a:pPr>
            <a:r>
              <a:rPr lang="en-GB" dirty="0"/>
              <a:t>…</a:t>
            </a:r>
            <a:r>
              <a:rPr dirty="0"/>
              <a:t>To prospectively evaluate, report, monitor and improve compliance with MRSA admission screening practices</a:t>
            </a:r>
            <a:endParaRPr lang="en-GB" dirty="0"/>
          </a:p>
          <a:p>
            <a:pPr marL="0" lvl="0" indent="0">
              <a:buNone/>
            </a:pPr>
            <a:endParaRPr dirty="0"/>
          </a:p>
        </p:txBody>
      </p:sp>
      <p:sp>
        <p:nvSpPr>
          <p:cNvPr id="4" name="Date Placeholder 3">
            <a:extLst>
              <a:ext uri="{FF2B5EF4-FFF2-40B4-BE49-F238E27FC236}">
                <a16:creationId xmlns:a16="http://schemas.microsoft.com/office/drawing/2014/main" id="{68E4A099-6C05-3054-D3E0-3A78DDE397C5}"/>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5" name="Footer Placeholder 4">
            <a:extLst>
              <a:ext uri="{FF2B5EF4-FFF2-40B4-BE49-F238E27FC236}">
                <a16:creationId xmlns:a16="http://schemas.microsoft.com/office/drawing/2014/main" id="{DCB0B860-8D4F-36C6-61D9-38CEFCBAB58D}"/>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GB" dirty="0"/>
              <a:t>Setting</a:t>
            </a:r>
            <a:endParaRPr dirty="0"/>
          </a:p>
        </p:txBody>
      </p:sp>
      <p:sp>
        <p:nvSpPr>
          <p:cNvPr id="3" name="Content Placeholder 2"/>
          <p:cNvSpPr>
            <a:spLocks noGrp="1"/>
          </p:cNvSpPr>
          <p:nvPr>
            <p:ph idx="1"/>
          </p:nvPr>
        </p:nvSpPr>
        <p:spPr/>
        <p:txBody>
          <a:bodyPr>
            <a:normAutofit/>
          </a:bodyPr>
          <a:lstStyle/>
          <a:p>
            <a:pPr marL="0" lvl="0" indent="0">
              <a:buNone/>
            </a:pPr>
            <a:r>
              <a:rPr dirty="0"/>
              <a:t>Newcastle upon Tyne Hospitals NHS Foundation Trust (NUTH)</a:t>
            </a:r>
          </a:p>
          <a:p>
            <a:pPr marL="0" lvl="0" indent="0">
              <a:buNone/>
            </a:pPr>
            <a:r>
              <a:rPr lang="en-GB" dirty="0"/>
              <a:t>	</a:t>
            </a:r>
            <a:r>
              <a:rPr dirty="0"/>
              <a:t>Major tertiary care NHS provider</a:t>
            </a:r>
          </a:p>
          <a:p>
            <a:pPr marL="0" lvl="0" indent="0">
              <a:buNone/>
            </a:pPr>
            <a:r>
              <a:rPr lang="en-GB" dirty="0"/>
              <a:t>	</a:t>
            </a:r>
            <a:r>
              <a:rPr dirty="0"/>
              <a:t>Approximately 16,000 staff </a:t>
            </a:r>
            <a:endParaRPr lang="en-GB" dirty="0"/>
          </a:p>
          <a:p>
            <a:pPr marL="0" lvl="0" indent="0">
              <a:buNone/>
            </a:pPr>
            <a:r>
              <a:rPr lang="en-GB" dirty="0"/>
              <a:t>	</a:t>
            </a:r>
            <a:r>
              <a:rPr dirty="0"/>
              <a:t>Serving around two million patient contacts annually.</a:t>
            </a:r>
            <a:endParaRPr lang="en-GB" dirty="0"/>
          </a:p>
          <a:p>
            <a:pPr marL="0" lvl="0" indent="0">
              <a:buNone/>
            </a:pPr>
            <a:endParaRPr lang="en-GB" dirty="0"/>
          </a:p>
          <a:p>
            <a:pPr marL="0" lvl="0" indent="0">
              <a:buNone/>
            </a:pPr>
            <a:r>
              <a:rPr lang="en-GB" dirty="0"/>
              <a:t>The microbiology laboratory at NUTH is fully UKAS-accredited to ISO 15189:2022 (18,19)</a:t>
            </a:r>
          </a:p>
        </p:txBody>
      </p:sp>
      <p:sp>
        <p:nvSpPr>
          <p:cNvPr id="4" name="Date Placeholder 3">
            <a:extLst>
              <a:ext uri="{FF2B5EF4-FFF2-40B4-BE49-F238E27FC236}">
                <a16:creationId xmlns:a16="http://schemas.microsoft.com/office/drawing/2014/main" id="{5AA5586D-CFF9-1996-38DA-D5AF0CFA1CE6}"/>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5" name="Footer Placeholder 4">
            <a:extLst>
              <a:ext uri="{FF2B5EF4-FFF2-40B4-BE49-F238E27FC236}">
                <a16:creationId xmlns:a16="http://schemas.microsoft.com/office/drawing/2014/main" id="{4E7661E1-F96C-9FC3-D8AF-93B994F1255F}"/>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a:extLst>
              <a:ext uri="{FF2B5EF4-FFF2-40B4-BE49-F238E27FC236}">
                <a16:creationId xmlns:a16="http://schemas.microsoft.com/office/drawing/2014/main" id="{8BA85051-8F69-E390-6504-B8D5C21D1DC1}"/>
              </a:ext>
            </a:extLst>
          </p:cNvPr>
          <p:cNvSpPr>
            <a:spLocks noGrp="1"/>
          </p:cNvSpPr>
          <p:nvPr>
            <p:ph type="title"/>
          </p:nvPr>
        </p:nvSpPr>
        <p:spPr>
          <a:xfrm>
            <a:off x="127205" y="3003804"/>
            <a:ext cx="1278808" cy="850124"/>
          </a:xfrm>
        </p:spPr>
        <p:txBody>
          <a:bodyPr vert="horz" lIns="91440" tIns="45720" rIns="91440" bIns="45720" rtlCol="0" anchor="ctr">
            <a:normAutofit/>
          </a:bodyPr>
          <a:lstStyle/>
          <a:p>
            <a:pPr defTabSz="914400">
              <a:lnSpc>
                <a:spcPct val="90000"/>
              </a:lnSpc>
            </a:pPr>
            <a:r>
              <a:rPr lang="en-US" sz="3900" kern="1200" dirty="0">
                <a:solidFill>
                  <a:schemeClr val="tx1"/>
                </a:solidFill>
                <a:latin typeface="+mj-lt"/>
                <a:ea typeface="+mj-ea"/>
                <a:cs typeface="+mj-cs"/>
              </a:rPr>
              <a:t>RAP</a:t>
            </a:r>
          </a:p>
        </p:txBody>
      </p:sp>
      <p:graphicFrame>
        <p:nvGraphicFramePr>
          <p:cNvPr id="4" name="Diagram 3">
            <a:extLst>
              <a:ext uri="{FF2B5EF4-FFF2-40B4-BE49-F238E27FC236}">
                <a16:creationId xmlns:a16="http://schemas.microsoft.com/office/drawing/2014/main" id="{5A365E5D-2404-C083-6546-5C30FB66A8B1}"/>
              </a:ext>
            </a:extLst>
          </p:cNvPr>
          <p:cNvGraphicFramePr/>
          <p:nvPr>
            <p:extLst>
              <p:ext uri="{D42A27DB-BD31-4B8C-83A1-F6EECF244321}">
                <p14:modId xmlns:p14="http://schemas.microsoft.com/office/powerpoint/2010/main" val="3730126703"/>
              </p:ext>
            </p:extLst>
          </p:nvPr>
        </p:nvGraphicFramePr>
        <p:xfrm>
          <a:off x="1061269" y="275303"/>
          <a:ext cx="7886700" cy="4360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Date Placeholder 3">
            <a:extLst>
              <a:ext uri="{FF2B5EF4-FFF2-40B4-BE49-F238E27FC236}">
                <a16:creationId xmlns:a16="http://schemas.microsoft.com/office/drawing/2014/main" id="{9BABFC15-C8A7-03C4-6B85-5A722144D527}"/>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3" name="Footer Placeholder 4">
            <a:extLst>
              <a:ext uri="{FF2B5EF4-FFF2-40B4-BE49-F238E27FC236}">
                <a16:creationId xmlns:a16="http://schemas.microsoft.com/office/drawing/2014/main" id="{7312C80C-41B9-428A-02F8-379AFE244D1E}"/>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Tree>
    <p:extLst>
      <p:ext uri="{BB962C8B-B14F-4D97-AF65-F5344CB8AC3E}">
        <p14:creationId xmlns:p14="http://schemas.microsoft.com/office/powerpoint/2010/main" val="183136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1A40AF-A8A3-D21E-2036-087DE6B2E09D}"/>
              </a:ext>
            </a:extLst>
          </p:cNvPr>
          <p:cNvPicPr>
            <a:picLocks noChangeAspect="1"/>
          </p:cNvPicPr>
          <p:nvPr/>
        </p:nvPicPr>
        <p:blipFill>
          <a:blip r:embed="rId2"/>
          <a:stretch>
            <a:fillRect/>
          </a:stretch>
        </p:blipFill>
        <p:spPr>
          <a:xfrm>
            <a:off x="959455" y="0"/>
            <a:ext cx="7225090" cy="5143500"/>
          </a:xfrm>
          <a:prstGeom prst="rect">
            <a:avLst/>
          </a:prstGeom>
        </p:spPr>
      </p:pic>
    </p:spTree>
    <p:extLst>
      <p:ext uri="{BB962C8B-B14F-4D97-AF65-F5344CB8AC3E}">
        <p14:creationId xmlns:p14="http://schemas.microsoft.com/office/powerpoint/2010/main" val="3285110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D80EAF-FDA9-EB28-08AB-38F9B182A519}"/>
              </a:ext>
            </a:extLst>
          </p:cNvPr>
          <p:cNvPicPr>
            <a:picLocks noChangeAspect="1"/>
          </p:cNvPicPr>
          <p:nvPr/>
        </p:nvPicPr>
        <p:blipFill>
          <a:blip r:embed="rId2"/>
          <a:stretch>
            <a:fillRect/>
          </a:stretch>
        </p:blipFill>
        <p:spPr>
          <a:xfrm>
            <a:off x="699707" y="0"/>
            <a:ext cx="7744585" cy="5143500"/>
          </a:xfrm>
          <a:prstGeom prst="rect">
            <a:avLst/>
          </a:prstGeom>
        </p:spPr>
      </p:pic>
    </p:spTree>
    <p:extLst>
      <p:ext uri="{BB962C8B-B14F-4D97-AF65-F5344CB8AC3E}">
        <p14:creationId xmlns:p14="http://schemas.microsoft.com/office/powerpoint/2010/main" val="2129928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Approach to Assessing Impact</a:t>
            </a:r>
          </a:p>
        </p:txBody>
      </p:sp>
      <p:sp>
        <p:nvSpPr>
          <p:cNvPr id="3" name="Content Placeholder 2"/>
          <p:cNvSpPr>
            <a:spLocks noGrp="1"/>
          </p:cNvSpPr>
          <p:nvPr>
            <p:ph idx="1"/>
          </p:nvPr>
        </p:nvSpPr>
        <p:spPr>
          <a:xfrm>
            <a:off x="457200" y="1200151"/>
            <a:ext cx="6346723" cy="3394472"/>
          </a:xfrm>
        </p:spPr>
        <p:txBody>
          <a:bodyPr>
            <a:normAutofit/>
          </a:bodyPr>
          <a:lstStyle/>
          <a:p>
            <a:pPr marL="0" lvl="0" indent="0">
              <a:buNone/>
            </a:pPr>
            <a:r>
              <a:rPr lang="en-GB" dirty="0"/>
              <a:t>Design: </a:t>
            </a:r>
            <a:r>
              <a:rPr dirty="0"/>
              <a:t>Prospective weekly surveillance study</a:t>
            </a:r>
            <a:endParaRPr lang="en-GB" dirty="0"/>
          </a:p>
          <a:p>
            <a:pPr marL="0" lvl="0" indent="0">
              <a:buNone/>
            </a:pPr>
            <a:endParaRPr dirty="0"/>
          </a:p>
          <a:p>
            <a:pPr marL="0" lvl="0" indent="0">
              <a:buNone/>
            </a:pPr>
            <a:r>
              <a:rPr dirty="0"/>
              <a:t>Systematic outcome measurement commenced on </a:t>
            </a:r>
            <a:r>
              <a:rPr lang="en-GB" dirty="0"/>
              <a:t>07/01/2025</a:t>
            </a:r>
            <a:endParaRPr dirty="0"/>
          </a:p>
          <a:p>
            <a:pPr marL="0" lvl="0" indent="0">
              <a:buNone/>
            </a:pPr>
            <a:endParaRPr lang="en-GB" dirty="0"/>
          </a:p>
          <a:p>
            <a:pPr marL="0" lvl="0" indent="0">
              <a:buNone/>
            </a:pPr>
            <a:r>
              <a:rPr dirty="0"/>
              <a:t>Time series analysis using Statistical Process Control (SPC) methods </a:t>
            </a:r>
            <a:r>
              <a:rPr lang="en-GB" dirty="0"/>
              <a:t>used to </a:t>
            </a:r>
            <a:r>
              <a:rPr dirty="0"/>
              <a:t>detect meaningful changes in compliance</a:t>
            </a:r>
          </a:p>
        </p:txBody>
      </p:sp>
      <p:sp>
        <p:nvSpPr>
          <p:cNvPr id="4" name="Date Placeholder 3">
            <a:extLst>
              <a:ext uri="{FF2B5EF4-FFF2-40B4-BE49-F238E27FC236}">
                <a16:creationId xmlns:a16="http://schemas.microsoft.com/office/drawing/2014/main" id="{16F98605-34B6-F42B-875B-9ED7BB8F38A9}"/>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5" name="Footer Placeholder 4">
            <a:extLst>
              <a:ext uri="{FF2B5EF4-FFF2-40B4-BE49-F238E27FC236}">
                <a16:creationId xmlns:a16="http://schemas.microsoft.com/office/drawing/2014/main" id="{B0BE4BD8-83D9-08D5-ADF0-053FCAC438E7}"/>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pic>
        <p:nvPicPr>
          <p:cNvPr id="2050" name="Picture 2" descr="README">
            <a:extLst>
              <a:ext uri="{FF2B5EF4-FFF2-40B4-BE49-F238E27FC236}">
                <a16:creationId xmlns:a16="http://schemas.microsoft.com/office/drawing/2014/main" id="{85B175A7-AD6A-6510-51C3-7D3F9B98B7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5187" y="1332777"/>
            <a:ext cx="1990725" cy="2305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dirty="0"/>
              <a:t>Selection of participants</a:t>
            </a:r>
            <a:r>
              <a:rPr lang="en-GB" dirty="0"/>
              <a:t> (pragmatic approach)</a:t>
            </a:r>
            <a:endParaRPr dirty="0"/>
          </a:p>
        </p:txBody>
      </p:sp>
      <p:sp>
        <p:nvSpPr>
          <p:cNvPr id="3" name="Content Placeholder 2"/>
          <p:cNvSpPr>
            <a:spLocks noGrp="1"/>
          </p:cNvSpPr>
          <p:nvPr>
            <p:ph idx="1"/>
          </p:nvPr>
        </p:nvSpPr>
        <p:spPr/>
        <p:txBody>
          <a:bodyPr>
            <a:normAutofit fontScale="92500"/>
          </a:bodyPr>
          <a:lstStyle/>
          <a:p>
            <a:pPr marL="0" lvl="0" indent="0">
              <a:buNone/>
            </a:pPr>
            <a:r>
              <a:rPr lang="en-GB" dirty="0"/>
              <a:t>Inclusion criteria</a:t>
            </a:r>
            <a:r>
              <a:rPr dirty="0"/>
              <a:t>:</a:t>
            </a:r>
          </a:p>
          <a:p>
            <a:pPr lvl="0"/>
            <a:r>
              <a:rPr dirty="0"/>
              <a:t>all current inpatients at NUTH; with</a:t>
            </a:r>
          </a:p>
          <a:p>
            <a:pPr lvl="0"/>
            <a:r>
              <a:rPr dirty="0"/>
              <a:t>length of stay of at least 24 hours; and</a:t>
            </a:r>
          </a:p>
          <a:p>
            <a:pPr lvl="0"/>
            <a:r>
              <a:rPr dirty="0"/>
              <a:t>prescribed a new inpatient medication within the previous 7 days.</a:t>
            </a:r>
          </a:p>
          <a:p>
            <a:pPr marL="0" lvl="0" indent="0">
              <a:buNone/>
            </a:pPr>
            <a:endParaRPr lang="en-GB" dirty="0"/>
          </a:p>
          <a:p>
            <a:pPr marL="0" lvl="0" indent="0">
              <a:buNone/>
            </a:pPr>
            <a:r>
              <a:rPr dirty="0" err="1"/>
              <a:t>Exclu</a:t>
            </a:r>
            <a:r>
              <a:rPr lang="en-GB" dirty="0"/>
              <a:t>sion criteria</a:t>
            </a:r>
            <a:r>
              <a:rPr dirty="0"/>
              <a:t>:</a:t>
            </a:r>
          </a:p>
          <a:p>
            <a:pPr lvl="0"/>
            <a:r>
              <a:rPr dirty="0"/>
              <a:t>admitted </a:t>
            </a:r>
            <a:r>
              <a:rPr lang="en-GB" dirty="0"/>
              <a:t>&gt;6</a:t>
            </a:r>
            <a:r>
              <a:rPr dirty="0"/>
              <a:t> weeks prior to the date of analysis; or</a:t>
            </a:r>
          </a:p>
          <a:p>
            <a:pPr lvl="0"/>
            <a:r>
              <a:rPr dirty="0"/>
              <a:t>exempt from MRSA </a:t>
            </a:r>
            <a:r>
              <a:rPr lang="en-GB" dirty="0"/>
              <a:t>admission </a:t>
            </a:r>
            <a:r>
              <a:rPr dirty="0"/>
              <a:t>screening</a:t>
            </a:r>
            <a:r>
              <a:rPr lang="en-GB" dirty="0"/>
              <a:t> as per policy</a:t>
            </a:r>
            <a:r>
              <a:rPr dirty="0"/>
              <a:t>.</a:t>
            </a:r>
          </a:p>
          <a:p>
            <a:pPr marL="0" lvl="0" indent="0">
              <a:buNone/>
            </a:pPr>
            <a:endParaRPr lang="en-GB" dirty="0"/>
          </a:p>
          <a:p>
            <a:pPr marL="0" lvl="0" indent="0">
              <a:buNone/>
            </a:pPr>
            <a:endParaRPr dirty="0"/>
          </a:p>
        </p:txBody>
      </p:sp>
      <p:sp>
        <p:nvSpPr>
          <p:cNvPr id="4" name="Date Placeholder 3">
            <a:extLst>
              <a:ext uri="{FF2B5EF4-FFF2-40B4-BE49-F238E27FC236}">
                <a16:creationId xmlns:a16="http://schemas.microsoft.com/office/drawing/2014/main" id="{9F3F347D-6B98-9CF8-24A5-1495C25F00CE}"/>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5" name="Footer Placeholder 4">
            <a:extLst>
              <a:ext uri="{FF2B5EF4-FFF2-40B4-BE49-F238E27FC236}">
                <a16:creationId xmlns:a16="http://schemas.microsoft.com/office/drawing/2014/main" id="{723AE19A-3E01-EAC5-8E9D-037D54624A80}"/>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BBB75-B996-5C0E-2238-CBFA55A4FB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2E190A-F5FC-76FC-E29D-FCA8CF956532}"/>
              </a:ext>
            </a:extLst>
          </p:cNvPr>
          <p:cNvSpPr>
            <a:spLocks noGrp="1"/>
          </p:cNvSpPr>
          <p:nvPr>
            <p:ph type="title"/>
          </p:nvPr>
        </p:nvSpPr>
        <p:spPr/>
        <p:txBody>
          <a:bodyPr/>
          <a:lstStyle/>
          <a:p>
            <a:pPr marL="0" lvl="0" indent="0">
              <a:buNone/>
            </a:pPr>
            <a:r>
              <a:rPr lang="en-GB" dirty="0"/>
              <a:t>Results</a:t>
            </a:r>
            <a:endParaRPr dirty="0"/>
          </a:p>
        </p:txBody>
      </p:sp>
      <p:sp>
        <p:nvSpPr>
          <p:cNvPr id="3" name="Content Placeholder 2">
            <a:extLst>
              <a:ext uri="{FF2B5EF4-FFF2-40B4-BE49-F238E27FC236}">
                <a16:creationId xmlns:a16="http://schemas.microsoft.com/office/drawing/2014/main" id="{39F70D01-A611-7125-DED0-C2B2D52919B7}"/>
              </a:ext>
            </a:extLst>
          </p:cNvPr>
          <p:cNvSpPr>
            <a:spLocks noGrp="1"/>
          </p:cNvSpPr>
          <p:nvPr>
            <p:ph idx="1"/>
          </p:nvPr>
        </p:nvSpPr>
        <p:spPr>
          <a:xfrm>
            <a:off x="457200" y="1200151"/>
            <a:ext cx="1763973" cy="3394472"/>
          </a:xfrm>
        </p:spPr>
        <p:txBody>
          <a:bodyPr>
            <a:normAutofit/>
          </a:bodyPr>
          <a:lstStyle/>
          <a:p>
            <a:pPr marL="0" indent="0">
              <a:buNone/>
            </a:pPr>
            <a:r>
              <a:rPr sz="1400" dirty="0"/>
              <a:t>Between 07</a:t>
            </a:r>
            <a:r>
              <a:rPr lang="en-GB" sz="1400" dirty="0"/>
              <a:t>/01/</a:t>
            </a:r>
            <a:r>
              <a:rPr sz="1400" dirty="0"/>
              <a:t>2025 and </a:t>
            </a:r>
            <a:r>
              <a:rPr lang="en-GB" sz="1400" dirty="0"/>
              <a:t>16/06/2026 </a:t>
            </a:r>
          </a:p>
          <a:p>
            <a:pPr marL="0" indent="0">
              <a:buNone/>
            </a:pPr>
            <a:r>
              <a:rPr lang="en-GB" sz="1400" dirty="0"/>
              <a:t>(~ 1.5 years)</a:t>
            </a:r>
          </a:p>
          <a:p>
            <a:pPr marL="0" indent="0">
              <a:buNone/>
            </a:pPr>
            <a:endParaRPr lang="en-GB" sz="1400" dirty="0"/>
          </a:p>
          <a:p>
            <a:pPr marL="0" indent="0">
              <a:buNone/>
            </a:pPr>
            <a:endParaRPr lang="en-GB" sz="1400" dirty="0"/>
          </a:p>
          <a:p>
            <a:pPr marL="0" lvl="0" indent="0">
              <a:buNone/>
            </a:pPr>
            <a:r>
              <a:rPr lang="en-GB" sz="1400" b="1" dirty="0"/>
              <a:t>Total inpatients </a:t>
            </a:r>
            <a:r>
              <a:rPr lang="en-GB" sz="1400" b="1" dirty="0" err="1"/>
              <a:t>surveilled</a:t>
            </a:r>
            <a:r>
              <a:rPr lang="en-GB" sz="1400" b="1" dirty="0"/>
              <a:t> per week (n) </a:t>
            </a:r>
          </a:p>
        </p:txBody>
      </p:sp>
      <p:sp>
        <p:nvSpPr>
          <p:cNvPr id="4" name="Date Placeholder 3">
            <a:extLst>
              <a:ext uri="{FF2B5EF4-FFF2-40B4-BE49-F238E27FC236}">
                <a16:creationId xmlns:a16="http://schemas.microsoft.com/office/drawing/2014/main" id="{74D8EC56-D19D-3DC3-6227-F9AE1CC4FF57}"/>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5" name="Footer Placeholder 4">
            <a:extLst>
              <a:ext uri="{FF2B5EF4-FFF2-40B4-BE49-F238E27FC236}">
                <a16:creationId xmlns:a16="http://schemas.microsoft.com/office/drawing/2014/main" id="{1975335A-91F5-738C-4D12-DFDCB8C62DBE}"/>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pic>
        <p:nvPicPr>
          <p:cNvPr id="7" name="Picture 6">
            <a:extLst>
              <a:ext uri="{FF2B5EF4-FFF2-40B4-BE49-F238E27FC236}">
                <a16:creationId xmlns:a16="http://schemas.microsoft.com/office/drawing/2014/main" id="{A303C3B1-CC58-A9F2-D6E5-0FA7DF1B04A6}"/>
              </a:ext>
            </a:extLst>
          </p:cNvPr>
          <p:cNvPicPr>
            <a:picLocks noChangeAspect="1"/>
          </p:cNvPicPr>
          <p:nvPr/>
        </p:nvPicPr>
        <p:blipFill>
          <a:blip r:embed="rId2"/>
          <a:stretch>
            <a:fillRect/>
          </a:stretch>
        </p:blipFill>
        <p:spPr>
          <a:xfrm>
            <a:off x="2405681" y="994623"/>
            <a:ext cx="5244231" cy="3600000"/>
          </a:xfrm>
          <a:prstGeom prst="rect">
            <a:avLst/>
          </a:prstGeom>
        </p:spPr>
      </p:pic>
    </p:spTree>
    <p:extLst>
      <p:ext uri="{BB962C8B-B14F-4D97-AF65-F5344CB8AC3E}">
        <p14:creationId xmlns:p14="http://schemas.microsoft.com/office/powerpoint/2010/main" val="27335772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55FAA-9F96-647D-84F6-FCE2C108DD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6D4958-57DA-C66A-B128-5EC215B9D8C6}"/>
              </a:ext>
            </a:extLst>
          </p:cNvPr>
          <p:cNvSpPr>
            <a:spLocks noGrp="1"/>
          </p:cNvSpPr>
          <p:nvPr>
            <p:ph type="title"/>
          </p:nvPr>
        </p:nvSpPr>
        <p:spPr/>
        <p:txBody>
          <a:bodyPr/>
          <a:lstStyle/>
          <a:p>
            <a:pPr marL="0" lvl="0" indent="0">
              <a:buNone/>
            </a:pPr>
            <a:r>
              <a:rPr lang="en-GB" dirty="0"/>
              <a:t>Impact of RAP on screening</a:t>
            </a:r>
            <a:endParaRPr dirty="0"/>
          </a:p>
        </p:txBody>
      </p:sp>
      <p:sp>
        <p:nvSpPr>
          <p:cNvPr id="3" name="Content Placeholder 2">
            <a:extLst>
              <a:ext uri="{FF2B5EF4-FFF2-40B4-BE49-F238E27FC236}">
                <a16:creationId xmlns:a16="http://schemas.microsoft.com/office/drawing/2014/main" id="{DFFE417A-3C84-0605-9D0B-62D619D1F43E}"/>
              </a:ext>
            </a:extLst>
          </p:cNvPr>
          <p:cNvSpPr>
            <a:spLocks noGrp="1"/>
          </p:cNvSpPr>
          <p:nvPr>
            <p:ph idx="1"/>
          </p:nvPr>
        </p:nvSpPr>
        <p:spPr>
          <a:xfrm>
            <a:off x="457200" y="1200151"/>
            <a:ext cx="1763973" cy="3394472"/>
          </a:xfrm>
        </p:spPr>
        <p:txBody>
          <a:bodyPr>
            <a:normAutofit/>
          </a:bodyPr>
          <a:lstStyle/>
          <a:p>
            <a:pPr marL="0" indent="0">
              <a:buNone/>
            </a:pPr>
            <a:r>
              <a:rPr sz="1400" dirty="0"/>
              <a:t>Between 07</a:t>
            </a:r>
            <a:r>
              <a:rPr lang="en-GB" sz="1400" dirty="0"/>
              <a:t>/01/</a:t>
            </a:r>
            <a:r>
              <a:rPr sz="1400" dirty="0"/>
              <a:t>2025 and </a:t>
            </a:r>
            <a:r>
              <a:rPr lang="en-GB" sz="1400" dirty="0"/>
              <a:t>16/06/2026 </a:t>
            </a:r>
          </a:p>
          <a:p>
            <a:pPr marL="0" indent="0">
              <a:buNone/>
            </a:pPr>
            <a:r>
              <a:rPr lang="en-GB" sz="1400" dirty="0"/>
              <a:t>(~ 1.5 years)</a:t>
            </a:r>
          </a:p>
          <a:p>
            <a:pPr marL="0" indent="0">
              <a:buNone/>
            </a:pPr>
            <a:endParaRPr lang="en-GB" sz="1400" dirty="0"/>
          </a:p>
          <a:p>
            <a:pPr marL="0" indent="0">
              <a:buNone/>
            </a:pPr>
            <a:endParaRPr lang="en-GB" sz="1400" dirty="0"/>
          </a:p>
          <a:p>
            <a:pPr marL="0" lvl="0" indent="0">
              <a:buNone/>
            </a:pPr>
            <a:r>
              <a:rPr lang="en-GB" sz="1400" b="1" dirty="0"/>
              <a:t>Inpatients compliant with MRSA admission screening (n) </a:t>
            </a:r>
          </a:p>
          <a:p>
            <a:pPr marL="0" lvl="0" indent="0">
              <a:buNone/>
            </a:pPr>
            <a:r>
              <a:rPr lang="en-GB" sz="1400" dirty="0"/>
              <a:t>(higher is better)</a:t>
            </a:r>
          </a:p>
        </p:txBody>
      </p:sp>
      <p:sp>
        <p:nvSpPr>
          <p:cNvPr id="4" name="Date Placeholder 3">
            <a:extLst>
              <a:ext uri="{FF2B5EF4-FFF2-40B4-BE49-F238E27FC236}">
                <a16:creationId xmlns:a16="http://schemas.microsoft.com/office/drawing/2014/main" id="{2B94AA1E-7FFC-C1DC-CEA6-8502108F7D51}"/>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5" name="Footer Placeholder 4">
            <a:extLst>
              <a:ext uri="{FF2B5EF4-FFF2-40B4-BE49-F238E27FC236}">
                <a16:creationId xmlns:a16="http://schemas.microsoft.com/office/drawing/2014/main" id="{9636230C-5975-A5BE-4F43-848FFE9F7AA6}"/>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pic>
        <p:nvPicPr>
          <p:cNvPr id="7" name="Picture 6">
            <a:extLst>
              <a:ext uri="{FF2B5EF4-FFF2-40B4-BE49-F238E27FC236}">
                <a16:creationId xmlns:a16="http://schemas.microsoft.com/office/drawing/2014/main" id="{1DAE7219-3FB0-6936-8911-2DB4E7EADFE8}"/>
              </a:ext>
            </a:extLst>
          </p:cNvPr>
          <p:cNvPicPr>
            <a:picLocks noChangeAspect="1"/>
          </p:cNvPicPr>
          <p:nvPr/>
        </p:nvPicPr>
        <p:blipFill>
          <a:blip r:embed="rId2"/>
          <a:stretch>
            <a:fillRect/>
          </a:stretch>
        </p:blipFill>
        <p:spPr>
          <a:xfrm>
            <a:off x="2493088" y="994623"/>
            <a:ext cx="5244231" cy="3600000"/>
          </a:xfrm>
          <a:prstGeom prst="rect">
            <a:avLst/>
          </a:prstGeom>
        </p:spPr>
      </p:pic>
    </p:spTree>
    <p:extLst>
      <p:ext uri="{BB962C8B-B14F-4D97-AF65-F5344CB8AC3E}">
        <p14:creationId xmlns:p14="http://schemas.microsoft.com/office/powerpoint/2010/main" val="22497472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dirty="0"/>
              <a:t>Impact of RAP on screening</a:t>
            </a:r>
            <a:endParaRPr dirty="0"/>
          </a:p>
        </p:txBody>
      </p:sp>
      <p:sp>
        <p:nvSpPr>
          <p:cNvPr id="3" name="Content Placeholder 2"/>
          <p:cNvSpPr>
            <a:spLocks noGrp="1"/>
          </p:cNvSpPr>
          <p:nvPr>
            <p:ph idx="1"/>
          </p:nvPr>
        </p:nvSpPr>
        <p:spPr>
          <a:xfrm>
            <a:off x="457200" y="1200151"/>
            <a:ext cx="1763973" cy="3394472"/>
          </a:xfrm>
        </p:spPr>
        <p:txBody>
          <a:bodyPr>
            <a:normAutofit/>
          </a:bodyPr>
          <a:lstStyle/>
          <a:p>
            <a:pPr marL="0" indent="0">
              <a:buNone/>
            </a:pPr>
            <a:r>
              <a:rPr sz="1400" dirty="0"/>
              <a:t>Between 07</a:t>
            </a:r>
            <a:r>
              <a:rPr lang="en-GB" sz="1400" dirty="0"/>
              <a:t>/01/</a:t>
            </a:r>
            <a:r>
              <a:rPr sz="1400" dirty="0"/>
              <a:t>2025 and </a:t>
            </a:r>
            <a:r>
              <a:rPr lang="en-GB" sz="1400" dirty="0"/>
              <a:t>16/06/2026 </a:t>
            </a:r>
          </a:p>
          <a:p>
            <a:pPr marL="0" indent="0">
              <a:buNone/>
            </a:pPr>
            <a:r>
              <a:rPr lang="en-GB" sz="1400" dirty="0"/>
              <a:t>(~ 1.5 years)</a:t>
            </a:r>
          </a:p>
          <a:p>
            <a:pPr marL="0" indent="0">
              <a:buNone/>
            </a:pPr>
            <a:endParaRPr lang="en-GB" sz="1400" dirty="0"/>
          </a:p>
          <a:p>
            <a:pPr marL="0" indent="0">
              <a:buNone/>
            </a:pPr>
            <a:endParaRPr lang="en-GB" sz="1400" dirty="0"/>
          </a:p>
          <a:p>
            <a:pPr marL="0" lvl="0" indent="0">
              <a:buNone/>
            </a:pPr>
            <a:r>
              <a:rPr lang="en-GB" sz="1400" b="1" dirty="0"/>
              <a:t>Compliance with MRSA admission screening (%) </a:t>
            </a:r>
          </a:p>
          <a:p>
            <a:pPr marL="0" lvl="0" indent="0">
              <a:buNone/>
            </a:pPr>
            <a:r>
              <a:rPr lang="en-GB" sz="1400" dirty="0"/>
              <a:t>(higher is better)</a:t>
            </a:r>
          </a:p>
        </p:txBody>
      </p:sp>
      <p:sp>
        <p:nvSpPr>
          <p:cNvPr id="4" name="Date Placeholder 3">
            <a:extLst>
              <a:ext uri="{FF2B5EF4-FFF2-40B4-BE49-F238E27FC236}">
                <a16:creationId xmlns:a16="http://schemas.microsoft.com/office/drawing/2014/main" id="{9CF6D161-107B-DDAA-7B48-12A78C370B3A}"/>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5" name="Footer Placeholder 4">
            <a:extLst>
              <a:ext uri="{FF2B5EF4-FFF2-40B4-BE49-F238E27FC236}">
                <a16:creationId xmlns:a16="http://schemas.microsoft.com/office/drawing/2014/main" id="{676B50B9-3B78-6557-153D-4D991A52E1C6}"/>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pic>
        <p:nvPicPr>
          <p:cNvPr id="7" name="Picture 6">
            <a:extLst>
              <a:ext uri="{FF2B5EF4-FFF2-40B4-BE49-F238E27FC236}">
                <a16:creationId xmlns:a16="http://schemas.microsoft.com/office/drawing/2014/main" id="{9D7F95FC-26D5-4A24-7D91-46DD613202B3}"/>
              </a:ext>
            </a:extLst>
          </p:cNvPr>
          <p:cNvPicPr>
            <a:picLocks noChangeAspect="1"/>
          </p:cNvPicPr>
          <p:nvPr/>
        </p:nvPicPr>
        <p:blipFill>
          <a:blip r:embed="rId2"/>
          <a:stretch>
            <a:fillRect/>
          </a:stretch>
        </p:blipFill>
        <p:spPr>
          <a:xfrm>
            <a:off x="2413814" y="994623"/>
            <a:ext cx="5244231" cy="3600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1A0AA-65BE-C702-EA85-CD0872CAF98B}"/>
            </a:ext>
          </a:extLst>
        </p:cNvPr>
        <p:cNvGrpSpPr/>
        <p:nvPr/>
      </p:nvGrpSpPr>
      <p:grpSpPr>
        <a:xfrm>
          <a:off x="0" y="0"/>
          <a:ext cx="0" cy="0"/>
          <a:chOff x="0" y="0"/>
          <a:chExt cx="0" cy="0"/>
        </a:xfrm>
      </p:grpSpPr>
      <p:sp>
        <p:nvSpPr>
          <p:cNvPr id="2" name="Date Placeholder 3">
            <a:extLst>
              <a:ext uri="{FF2B5EF4-FFF2-40B4-BE49-F238E27FC236}">
                <a16:creationId xmlns:a16="http://schemas.microsoft.com/office/drawing/2014/main" id="{FFAEA527-E1D3-9A13-CDE4-6B8E6F339034}"/>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4" name="Footer Placeholder 4">
            <a:extLst>
              <a:ext uri="{FF2B5EF4-FFF2-40B4-BE49-F238E27FC236}">
                <a16:creationId xmlns:a16="http://schemas.microsoft.com/office/drawing/2014/main" id="{8DAC1770-59B4-DAA1-7D63-9D1384339E5D}"/>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
        <p:nvSpPr>
          <p:cNvPr id="11" name="TextBox 10">
            <a:extLst>
              <a:ext uri="{FF2B5EF4-FFF2-40B4-BE49-F238E27FC236}">
                <a16:creationId xmlns:a16="http://schemas.microsoft.com/office/drawing/2014/main" id="{5E7249AF-9266-D758-E65D-1456692C0B98}"/>
              </a:ext>
            </a:extLst>
          </p:cNvPr>
          <p:cNvSpPr txBox="1"/>
          <p:nvPr/>
        </p:nvSpPr>
        <p:spPr>
          <a:xfrm>
            <a:off x="387626" y="412192"/>
            <a:ext cx="2957577" cy="430887"/>
          </a:xfrm>
          <a:prstGeom prst="rect">
            <a:avLst/>
          </a:prstGeom>
          <a:noFill/>
        </p:spPr>
        <p:txBody>
          <a:bodyPr wrap="square">
            <a:spAutoFit/>
          </a:bodyPr>
          <a:lstStyle/>
          <a:p>
            <a:pPr marL="0" lvl="0" indent="0">
              <a:buNone/>
            </a:pPr>
            <a:r>
              <a:rPr lang="en-GB" sz="1100" dirty="0">
                <a:solidFill>
                  <a:srgbClr val="FF0000"/>
                </a:solidFill>
              </a:rPr>
              <a:t>Data for the week ending 03/02/2026</a:t>
            </a:r>
          </a:p>
          <a:p>
            <a:pPr marL="0" lvl="0" indent="0">
              <a:buNone/>
            </a:pPr>
            <a:r>
              <a:rPr lang="en-GB" sz="1100" dirty="0">
                <a:solidFill>
                  <a:srgbClr val="FF0000"/>
                </a:solidFill>
              </a:rPr>
              <a:t>Time 0</a:t>
            </a:r>
          </a:p>
        </p:txBody>
      </p:sp>
      <p:pic>
        <p:nvPicPr>
          <p:cNvPr id="10" name="Picture 9">
            <a:extLst>
              <a:ext uri="{FF2B5EF4-FFF2-40B4-BE49-F238E27FC236}">
                <a16:creationId xmlns:a16="http://schemas.microsoft.com/office/drawing/2014/main" id="{C141F4DE-7C90-98B9-5678-1A50897284BA}"/>
              </a:ext>
            </a:extLst>
          </p:cNvPr>
          <p:cNvPicPr>
            <a:picLocks noChangeAspect="1"/>
          </p:cNvPicPr>
          <p:nvPr/>
        </p:nvPicPr>
        <p:blipFill>
          <a:blip r:embed="rId2"/>
          <a:stretch>
            <a:fillRect/>
          </a:stretch>
        </p:blipFill>
        <p:spPr>
          <a:xfrm>
            <a:off x="2348948" y="1080943"/>
            <a:ext cx="5829398" cy="3600000"/>
          </a:xfrm>
          <a:prstGeom prst="rect">
            <a:avLst/>
          </a:prstGeom>
        </p:spPr>
      </p:pic>
      <p:sp>
        <p:nvSpPr>
          <p:cNvPr id="12" name="Content Placeholder 2">
            <a:extLst>
              <a:ext uri="{FF2B5EF4-FFF2-40B4-BE49-F238E27FC236}">
                <a16:creationId xmlns:a16="http://schemas.microsoft.com/office/drawing/2014/main" id="{3F2EF9B6-FE41-80D0-239A-6A8C349CDC5C}"/>
              </a:ext>
            </a:extLst>
          </p:cNvPr>
          <p:cNvSpPr txBox="1">
            <a:spLocks/>
          </p:cNvSpPr>
          <p:nvPr/>
        </p:nvSpPr>
        <p:spPr>
          <a:xfrm>
            <a:off x="457200" y="1200151"/>
            <a:ext cx="1763973" cy="3394472"/>
          </a:xfrm>
          <a:prstGeom prst="rect">
            <a:avLst/>
          </a:prstGeom>
        </p:spPr>
        <p:txBody>
          <a:bodyPr>
            <a:normAutofit/>
          </a:bodyPr>
          <a:lst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buFont typeface="Arial"/>
              <a:buNone/>
            </a:pPr>
            <a:r>
              <a:rPr lang="en-GB" sz="1400" b="1" i="1" dirty="0">
                <a:solidFill>
                  <a:srgbClr val="FF0000"/>
                </a:solidFill>
              </a:rPr>
              <a:t>Improvements in MRSA admission screening compliance driven by RVI Assessment Suite (RVAS) staff</a:t>
            </a:r>
          </a:p>
          <a:p>
            <a:pPr marL="0" indent="0">
              <a:buFont typeface="Arial"/>
              <a:buNone/>
            </a:pPr>
            <a:endParaRPr lang="en-GB" sz="1400" dirty="0"/>
          </a:p>
          <a:p>
            <a:pPr marL="0" indent="0">
              <a:buFont typeface="Arial"/>
              <a:buNone/>
            </a:pPr>
            <a:endParaRPr lang="en-GB" sz="1400" dirty="0"/>
          </a:p>
          <a:p>
            <a:pPr marL="0" indent="0">
              <a:buFont typeface="Arial"/>
              <a:buNone/>
            </a:pPr>
            <a:r>
              <a:rPr lang="en-GB" sz="1400" b="1" dirty="0"/>
              <a:t>Number of MRSA screens received per location (n) </a:t>
            </a:r>
          </a:p>
          <a:p>
            <a:pPr marL="0" indent="0">
              <a:buFont typeface="Arial"/>
              <a:buNone/>
            </a:pPr>
            <a:endParaRPr lang="en-GB" sz="1400" dirty="0"/>
          </a:p>
        </p:txBody>
      </p:sp>
      <p:sp>
        <p:nvSpPr>
          <p:cNvPr id="14" name="TextBox 13">
            <a:extLst>
              <a:ext uri="{FF2B5EF4-FFF2-40B4-BE49-F238E27FC236}">
                <a16:creationId xmlns:a16="http://schemas.microsoft.com/office/drawing/2014/main" id="{9FD69A50-3F4E-A335-E05A-60829DCBB222}"/>
              </a:ext>
            </a:extLst>
          </p:cNvPr>
          <p:cNvSpPr txBox="1"/>
          <p:nvPr/>
        </p:nvSpPr>
        <p:spPr>
          <a:xfrm>
            <a:off x="2733261" y="384089"/>
            <a:ext cx="4572000" cy="307777"/>
          </a:xfrm>
          <a:prstGeom prst="rect">
            <a:avLst/>
          </a:prstGeom>
          <a:noFill/>
        </p:spPr>
        <p:txBody>
          <a:bodyPr wrap="square">
            <a:spAutoFit/>
          </a:bodyPr>
          <a:lstStyle/>
          <a:p>
            <a:pPr marL="0" indent="0">
              <a:buFont typeface="Arial"/>
              <a:buNone/>
            </a:pPr>
            <a:r>
              <a:rPr lang="en-GB" sz="1400" b="1" dirty="0"/>
              <a:t>RVAS doesn’t feature in the top 10 wards</a:t>
            </a:r>
          </a:p>
        </p:txBody>
      </p:sp>
    </p:spTree>
    <p:extLst>
      <p:ext uri="{BB962C8B-B14F-4D97-AF65-F5344CB8AC3E}">
        <p14:creationId xmlns:p14="http://schemas.microsoft.com/office/powerpoint/2010/main" val="26948574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72B56-70DB-32FC-6517-B59859B55871}"/>
            </a:ext>
          </a:extLst>
        </p:cNvPr>
        <p:cNvGrpSpPr/>
        <p:nvPr/>
      </p:nvGrpSpPr>
      <p:grpSpPr>
        <a:xfrm>
          <a:off x="0" y="0"/>
          <a:ext cx="0" cy="0"/>
          <a:chOff x="0" y="0"/>
          <a:chExt cx="0" cy="0"/>
        </a:xfrm>
      </p:grpSpPr>
      <p:sp>
        <p:nvSpPr>
          <p:cNvPr id="2" name="Date Placeholder 3">
            <a:extLst>
              <a:ext uri="{FF2B5EF4-FFF2-40B4-BE49-F238E27FC236}">
                <a16:creationId xmlns:a16="http://schemas.microsoft.com/office/drawing/2014/main" id="{CAC9D5BE-3A8D-32CD-087A-CE922ACC0707}"/>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4" name="Footer Placeholder 4">
            <a:extLst>
              <a:ext uri="{FF2B5EF4-FFF2-40B4-BE49-F238E27FC236}">
                <a16:creationId xmlns:a16="http://schemas.microsoft.com/office/drawing/2014/main" id="{EAEDF605-F9F5-1134-A385-9E5C79315892}"/>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
        <p:nvSpPr>
          <p:cNvPr id="11" name="TextBox 10">
            <a:extLst>
              <a:ext uri="{FF2B5EF4-FFF2-40B4-BE49-F238E27FC236}">
                <a16:creationId xmlns:a16="http://schemas.microsoft.com/office/drawing/2014/main" id="{7470E69B-A140-7B32-754D-B0C5A66FEAB2}"/>
              </a:ext>
            </a:extLst>
          </p:cNvPr>
          <p:cNvSpPr txBox="1"/>
          <p:nvPr/>
        </p:nvSpPr>
        <p:spPr>
          <a:xfrm>
            <a:off x="387626" y="412192"/>
            <a:ext cx="2957577" cy="430887"/>
          </a:xfrm>
          <a:prstGeom prst="rect">
            <a:avLst/>
          </a:prstGeom>
          <a:noFill/>
        </p:spPr>
        <p:txBody>
          <a:bodyPr wrap="square">
            <a:spAutoFit/>
          </a:bodyPr>
          <a:lstStyle/>
          <a:p>
            <a:pPr marL="0" lvl="0" indent="0">
              <a:buNone/>
            </a:pPr>
            <a:r>
              <a:rPr lang="en-GB" sz="1100" dirty="0">
                <a:solidFill>
                  <a:srgbClr val="FF0000"/>
                </a:solidFill>
              </a:rPr>
              <a:t>Data for the week ending 10/02/2026</a:t>
            </a:r>
          </a:p>
          <a:p>
            <a:pPr lvl="0"/>
            <a:r>
              <a:rPr lang="en-GB" sz="1100" dirty="0">
                <a:solidFill>
                  <a:srgbClr val="FF0000"/>
                </a:solidFill>
              </a:rPr>
              <a:t>Time +1 week</a:t>
            </a:r>
          </a:p>
        </p:txBody>
      </p:sp>
      <p:sp>
        <p:nvSpPr>
          <p:cNvPr id="12" name="Content Placeholder 2">
            <a:extLst>
              <a:ext uri="{FF2B5EF4-FFF2-40B4-BE49-F238E27FC236}">
                <a16:creationId xmlns:a16="http://schemas.microsoft.com/office/drawing/2014/main" id="{E21DF6B8-DC7A-C52F-842F-9BD92E0BEFD5}"/>
              </a:ext>
            </a:extLst>
          </p:cNvPr>
          <p:cNvSpPr txBox="1">
            <a:spLocks/>
          </p:cNvSpPr>
          <p:nvPr/>
        </p:nvSpPr>
        <p:spPr>
          <a:xfrm>
            <a:off x="457200" y="1200151"/>
            <a:ext cx="1763973" cy="3394472"/>
          </a:xfrm>
          <a:prstGeom prst="rect">
            <a:avLst/>
          </a:prstGeom>
        </p:spPr>
        <p:txBody>
          <a:bodyPr>
            <a:normAutofit/>
          </a:bodyPr>
          <a:lst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buFont typeface="Arial"/>
              <a:buNone/>
            </a:pPr>
            <a:r>
              <a:rPr lang="en-GB" sz="1400" b="1" i="1" dirty="0">
                <a:solidFill>
                  <a:srgbClr val="FF0000"/>
                </a:solidFill>
              </a:rPr>
              <a:t>Improvements in MRSA admission screening compliance driven by RVI Assessment Suite (RVAS) staff</a:t>
            </a:r>
          </a:p>
          <a:p>
            <a:pPr marL="0" indent="0">
              <a:buFont typeface="Arial"/>
              <a:buNone/>
            </a:pPr>
            <a:endParaRPr lang="en-GB" sz="1400" dirty="0"/>
          </a:p>
          <a:p>
            <a:pPr marL="0" indent="0">
              <a:buFont typeface="Arial"/>
              <a:buNone/>
            </a:pPr>
            <a:endParaRPr lang="en-GB" sz="1400" dirty="0"/>
          </a:p>
          <a:p>
            <a:pPr marL="0" indent="0">
              <a:buFont typeface="Arial"/>
              <a:buNone/>
            </a:pPr>
            <a:r>
              <a:rPr lang="en-GB" sz="1400" b="1" dirty="0"/>
              <a:t>Number of MRSA screens received per location (n) </a:t>
            </a:r>
          </a:p>
          <a:p>
            <a:pPr marL="0" indent="0">
              <a:buFont typeface="Arial"/>
              <a:buNone/>
            </a:pPr>
            <a:endParaRPr lang="en-GB" sz="1400" dirty="0"/>
          </a:p>
        </p:txBody>
      </p:sp>
      <p:sp>
        <p:nvSpPr>
          <p:cNvPr id="14" name="TextBox 13">
            <a:extLst>
              <a:ext uri="{FF2B5EF4-FFF2-40B4-BE49-F238E27FC236}">
                <a16:creationId xmlns:a16="http://schemas.microsoft.com/office/drawing/2014/main" id="{90C08AB9-C0DC-653C-A340-2A5726EC42DD}"/>
              </a:ext>
            </a:extLst>
          </p:cNvPr>
          <p:cNvSpPr txBox="1"/>
          <p:nvPr/>
        </p:nvSpPr>
        <p:spPr>
          <a:xfrm>
            <a:off x="2733261" y="384089"/>
            <a:ext cx="4572000" cy="307777"/>
          </a:xfrm>
          <a:prstGeom prst="rect">
            <a:avLst/>
          </a:prstGeom>
          <a:noFill/>
        </p:spPr>
        <p:txBody>
          <a:bodyPr wrap="square">
            <a:spAutoFit/>
          </a:bodyPr>
          <a:lstStyle/>
          <a:p>
            <a:pPr marL="0" indent="0">
              <a:buFont typeface="Arial"/>
              <a:buNone/>
            </a:pPr>
            <a:r>
              <a:rPr lang="en-GB" sz="1400" b="1" dirty="0"/>
              <a:t>RVAS is 6th</a:t>
            </a:r>
          </a:p>
        </p:txBody>
      </p:sp>
      <p:pic>
        <p:nvPicPr>
          <p:cNvPr id="6" name="Picture 5">
            <a:extLst>
              <a:ext uri="{FF2B5EF4-FFF2-40B4-BE49-F238E27FC236}">
                <a16:creationId xmlns:a16="http://schemas.microsoft.com/office/drawing/2014/main" id="{8A384883-9AD8-326F-B96D-9F40DE27101C}"/>
              </a:ext>
            </a:extLst>
          </p:cNvPr>
          <p:cNvPicPr>
            <a:picLocks noChangeAspect="1"/>
          </p:cNvPicPr>
          <p:nvPr/>
        </p:nvPicPr>
        <p:blipFill>
          <a:blip r:embed="rId2"/>
          <a:stretch>
            <a:fillRect/>
          </a:stretch>
        </p:blipFill>
        <p:spPr>
          <a:xfrm>
            <a:off x="2221173" y="864506"/>
            <a:ext cx="5829398" cy="3600000"/>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D5F99E32-5B0D-3858-6675-E09BE3150369}"/>
                  </a:ext>
                </a:extLst>
              </p14:cNvPr>
              <p14:cNvContentPartPr/>
              <p14:nvPr/>
            </p14:nvContentPartPr>
            <p14:xfrm>
              <a:off x="2463783" y="1663179"/>
              <a:ext cx="604440" cy="464400"/>
            </p14:xfrm>
          </p:contentPart>
        </mc:Choice>
        <mc:Fallback xmlns="">
          <p:pic>
            <p:nvPicPr>
              <p:cNvPr id="7" name="Ink 6">
                <a:extLst>
                  <a:ext uri="{FF2B5EF4-FFF2-40B4-BE49-F238E27FC236}">
                    <a16:creationId xmlns:a16="http://schemas.microsoft.com/office/drawing/2014/main" id="{D5F99E32-5B0D-3858-6675-E09BE3150369}"/>
                  </a:ext>
                </a:extLst>
              </p:cNvPr>
              <p:cNvPicPr/>
              <p:nvPr/>
            </p:nvPicPr>
            <p:blipFill>
              <a:blip r:embed="rId4"/>
              <a:stretch>
                <a:fillRect/>
              </a:stretch>
            </p:blipFill>
            <p:spPr>
              <a:xfrm>
                <a:off x="2457663" y="1657059"/>
                <a:ext cx="616680" cy="476640"/>
              </a:xfrm>
              <a:prstGeom prst="rect">
                <a:avLst/>
              </a:prstGeom>
            </p:spPr>
          </p:pic>
        </mc:Fallback>
      </mc:AlternateContent>
    </p:spTree>
    <p:extLst>
      <p:ext uri="{BB962C8B-B14F-4D97-AF65-F5344CB8AC3E}">
        <p14:creationId xmlns:p14="http://schemas.microsoft.com/office/powerpoint/2010/main" val="3500477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C8888-D220-693C-D865-755288D2A987}"/>
            </a:ext>
          </a:extLst>
        </p:cNvPr>
        <p:cNvGrpSpPr/>
        <p:nvPr/>
      </p:nvGrpSpPr>
      <p:grpSpPr>
        <a:xfrm>
          <a:off x="0" y="0"/>
          <a:ext cx="0" cy="0"/>
          <a:chOff x="0" y="0"/>
          <a:chExt cx="0" cy="0"/>
        </a:xfrm>
      </p:grpSpPr>
      <p:sp>
        <p:nvSpPr>
          <p:cNvPr id="2" name="Date Placeholder 3">
            <a:extLst>
              <a:ext uri="{FF2B5EF4-FFF2-40B4-BE49-F238E27FC236}">
                <a16:creationId xmlns:a16="http://schemas.microsoft.com/office/drawing/2014/main" id="{3150BFF5-4A20-E22B-F0BE-8EDB285A23A6}"/>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4" name="Footer Placeholder 4">
            <a:extLst>
              <a:ext uri="{FF2B5EF4-FFF2-40B4-BE49-F238E27FC236}">
                <a16:creationId xmlns:a16="http://schemas.microsoft.com/office/drawing/2014/main" id="{AC8F35E6-886B-C52A-CDBE-298CA98C46B4}"/>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
        <p:nvSpPr>
          <p:cNvPr id="11" name="TextBox 10">
            <a:extLst>
              <a:ext uri="{FF2B5EF4-FFF2-40B4-BE49-F238E27FC236}">
                <a16:creationId xmlns:a16="http://schemas.microsoft.com/office/drawing/2014/main" id="{8B584410-9E54-B0A8-6F19-B5ED2B0242A7}"/>
              </a:ext>
            </a:extLst>
          </p:cNvPr>
          <p:cNvSpPr txBox="1"/>
          <p:nvPr/>
        </p:nvSpPr>
        <p:spPr>
          <a:xfrm>
            <a:off x="387626" y="412192"/>
            <a:ext cx="2957577" cy="430887"/>
          </a:xfrm>
          <a:prstGeom prst="rect">
            <a:avLst/>
          </a:prstGeom>
          <a:noFill/>
        </p:spPr>
        <p:txBody>
          <a:bodyPr wrap="square">
            <a:spAutoFit/>
          </a:bodyPr>
          <a:lstStyle/>
          <a:p>
            <a:pPr marL="0" lvl="0" indent="0">
              <a:buNone/>
            </a:pPr>
            <a:r>
              <a:rPr lang="en-GB" sz="1100" dirty="0">
                <a:solidFill>
                  <a:srgbClr val="FF0000"/>
                </a:solidFill>
              </a:rPr>
              <a:t>Data for the week ending 17/02/2026</a:t>
            </a:r>
          </a:p>
          <a:p>
            <a:pPr marL="0" lvl="0" indent="0">
              <a:buNone/>
            </a:pPr>
            <a:r>
              <a:rPr lang="en-GB" sz="1100" dirty="0">
                <a:solidFill>
                  <a:srgbClr val="FF0000"/>
                </a:solidFill>
              </a:rPr>
              <a:t>Time +2 weeks</a:t>
            </a:r>
          </a:p>
        </p:txBody>
      </p:sp>
      <p:sp>
        <p:nvSpPr>
          <p:cNvPr id="12" name="Content Placeholder 2">
            <a:extLst>
              <a:ext uri="{FF2B5EF4-FFF2-40B4-BE49-F238E27FC236}">
                <a16:creationId xmlns:a16="http://schemas.microsoft.com/office/drawing/2014/main" id="{6F74C913-9635-2975-93F9-8FE67C62608D}"/>
              </a:ext>
            </a:extLst>
          </p:cNvPr>
          <p:cNvSpPr txBox="1">
            <a:spLocks/>
          </p:cNvSpPr>
          <p:nvPr/>
        </p:nvSpPr>
        <p:spPr>
          <a:xfrm>
            <a:off x="457200" y="1200151"/>
            <a:ext cx="1763973" cy="3394472"/>
          </a:xfrm>
          <a:prstGeom prst="rect">
            <a:avLst/>
          </a:prstGeom>
        </p:spPr>
        <p:txBody>
          <a:bodyPr>
            <a:normAutofit/>
          </a:bodyPr>
          <a:lst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buFont typeface="Arial"/>
              <a:buNone/>
            </a:pPr>
            <a:r>
              <a:rPr lang="en-GB" sz="1400" b="1" i="1" dirty="0">
                <a:solidFill>
                  <a:srgbClr val="FF0000"/>
                </a:solidFill>
              </a:rPr>
              <a:t>Improvements in MRSA admission screening compliance driven by RVI Assessment Suite (RVAS) staff</a:t>
            </a:r>
          </a:p>
          <a:p>
            <a:pPr marL="0" indent="0">
              <a:buFont typeface="Arial"/>
              <a:buNone/>
            </a:pPr>
            <a:endParaRPr lang="en-GB" sz="1400" dirty="0"/>
          </a:p>
          <a:p>
            <a:pPr marL="0" indent="0">
              <a:buFont typeface="Arial"/>
              <a:buNone/>
            </a:pPr>
            <a:endParaRPr lang="en-GB" sz="1400" dirty="0"/>
          </a:p>
          <a:p>
            <a:pPr marL="0" indent="0">
              <a:buFont typeface="Arial"/>
              <a:buNone/>
            </a:pPr>
            <a:r>
              <a:rPr lang="en-GB" sz="1400" b="1" dirty="0"/>
              <a:t>Number of MRSA screens received per location (n) </a:t>
            </a:r>
          </a:p>
          <a:p>
            <a:pPr marL="0" indent="0">
              <a:buFont typeface="Arial"/>
              <a:buNone/>
            </a:pPr>
            <a:endParaRPr lang="en-GB" sz="1400" dirty="0"/>
          </a:p>
        </p:txBody>
      </p:sp>
      <p:sp>
        <p:nvSpPr>
          <p:cNvPr id="14" name="TextBox 13">
            <a:extLst>
              <a:ext uri="{FF2B5EF4-FFF2-40B4-BE49-F238E27FC236}">
                <a16:creationId xmlns:a16="http://schemas.microsoft.com/office/drawing/2014/main" id="{69A8D21B-D34C-AB4D-0D66-15B475CAB324}"/>
              </a:ext>
            </a:extLst>
          </p:cNvPr>
          <p:cNvSpPr txBox="1"/>
          <p:nvPr/>
        </p:nvSpPr>
        <p:spPr>
          <a:xfrm>
            <a:off x="2733261" y="384089"/>
            <a:ext cx="4572000" cy="307777"/>
          </a:xfrm>
          <a:prstGeom prst="rect">
            <a:avLst/>
          </a:prstGeom>
          <a:noFill/>
        </p:spPr>
        <p:txBody>
          <a:bodyPr wrap="square">
            <a:spAutoFit/>
          </a:bodyPr>
          <a:lstStyle/>
          <a:p>
            <a:pPr marL="0" indent="0">
              <a:buFont typeface="Arial"/>
              <a:buNone/>
            </a:pPr>
            <a:r>
              <a:rPr lang="en-GB" sz="1400" b="1" dirty="0"/>
              <a:t>RVAS is joint-top screening location</a:t>
            </a:r>
          </a:p>
        </p:txBody>
      </p:sp>
      <p:pic>
        <p:nvPicPr>
          <p:cNvPr id="5" name="Picture 4">
            <a:extLst>
              <a:ext uri="{FF2B5EF4-FFF2-40B4-BE49-F238E27FC236}">
                <a16:creationId xmlns:a16="http://schemas.microsoft.com/office/drawing/2014/main" id="{54D06204-BDC1-6F13-57C4-F3F58455E2D2}"/>
              </a:ext>
            </a:extLst>
          </p:cNvPr>
          <p:cNvPicPr>
            <a:picLocks noChangeAspect="1"/>
          </p:cNvPicPr>
          <p:nvPr/>
        </p:nvPicPr>
        <p:blipFill>
          <a:blip r:embed="rId2"/>
          <a:stretch>
            <a:fillRect/>
          </a:stretch>
        </p:blipFill>
        <p:spPr>
          <a:xfrm>
            <a:off x="2365512" y="988601"/>
            <a:ext cx="5829398" cy="3600000"/>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A0D0F12B-B0F9-DC26-A59A-EC0B844C665F}"/>
                  </a:ext>
                </a:extLst>
              </p14:cNvPr>
              <p14:cNvContentPartPr/>
              <p14:nvPr/>
            </p14:nvContentPartPr>
            <p14:xfrm>
              <a:off x="2590800" y="1168961"/>
              <a:ext cx="604440" cy="464400"/>
            </p14:xfrm>
          </p:contentPart>
        </mc:Choice>
        <mc:Fallback xmlns="">
          <p:pic>
            <p:nvPicPr>
              <p:cNvPr id="7" name="Ink 6">
                <a:extLst>
                  <a:ext uri="{FF2B5EF4-FFF2-40B4-BE49-F238E27FC236}">
                    <a16:creationId xmlns:a16="http://schemas.microsoft.com/office/drawing/2014/main" id="{A0D0F12B-B0F9-DC26-A59A-EC0B844C665F}"/>
                  </a:ext>
                </a:extLst>
              </p:cNvPr>
              <p:cNvPicPr/>
              <p:nvPr/>
            </p:nvPicPr>
            <p:blipFill>
              <a:blip r:embed="rId4"/>
              <a:stretch>
                <a:fillRect/>
              </a:stretch>
            </p:blipFill>
            <p:spPr>
              <a:xfrm>
                <a:off x="2584680" y="1162841"/>
                <a:ext cx="616680" cy="476640"/>
              </a:xfrm>
              <a:prstGeom prst="rect">
                <a:avLst/>
              </a:prstGeom>
            </p:spPr>
          </p:pic>
        </mc:Fallback>
      </mc:AlternateContent>
    </p:spTree>
    <p:extLst>
      <p:ext uri="{BB962C8B-B14F-4D97-AF65-F5344CB8AC3E}">
        <p14:creationId xmlns:p14="http://schemas.microsoft.com/office/powerpoint/2010/main" val="39070154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F39AE-C58E-CEB8-F115-2E8E334AAAE6}"/>
            </a:ext>
          </a:extLst>
        </p:cNvPr>
        <p:cNvGrpSpPr/>
        <p:nvPr/>
      </p:nvGrpSpPr>
      <p:grpSpPr>
        <a:xfrm>
          <a:off x="0" y="0"/>
          <a:ext cx="0" cy="0"/>
          <a:chOff x="0" y="0"/>
          <a:chExt cx="0" cy="0"/>
        </a:xfrm>
      </p:grpSpPr>
      <p:sp>
        <p:nvSpPr>
          <p:cNvPr id="2" name="Date Placeholder 3">
            <a:extLst>
              <a:ext uri="{FF2B5EF4-FFF2-40B4-BE49-F238E27FC236}">
                <a16:creationId xmlns:a16="http://schemas.microsoft.com/office/drawing/2014/main" id="{4B16EC55-E2D2-8E2E-5248-260B7D398F65}"/>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4" name="Footer Placeholder 4">
            <a:extLst>
              <a:ext uri="{FF2B5EF4-FFF2-40B4-BE49-F238E27FC236}">
                <a16:creationId xmlns:a16="http://schemas.microsoft.com/office/drawing/2014/main" id="{475F7CF2-46E5-6DE1-CB49-456E12ECC05D}"/>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
        <p:nvSpPr>
          <p:cNvPr id="11" name="TextBox 10">
            <a:extLst>
              <a:ext uri="{FF2B5EF4-FFF2-40B4-BE49-F238E27FC236}">
                <a16:creationId xmlns:a16="http://schemas.microsoft.com/office/drawing/2014/main" id="{EB5B3C5E-40A4-A958-E3EF-BD32032E0E82}"/>
              </a:ext>
            </a:extLst>
          </p:cNvPr>
          <p:cNvSpPr txBox="1"/>
          <p:nvPr/>
        </p:nvSpPr>
        <p:spPr>
          <a:xfrm>
            <a:off x="387626" y="412192"/>
            <a:ext cx="2957577" cy="430887"/>
          </a:xfrm>
          <a:prstGeom prst="rect">
            <a:avLst/>
          </a:prstGeom>
          <a:noFill/>
        </p:spPr>
        <p:txBody>
          <a:bodyPr wrap="square">
            <a:spAutoFit/>
          </a:bodyPr>
          <a:lstStyle/>
          <a:p>
            <a:pPr marL="0" lvl="0" indent="0">
              <a:buNone/>
            </a:pPr>
            <a:r>
              <a:rPr lang="en-GB" sz="1100" dirty="0">
                <a:solidFill>
                  <a:srgbClr val="FF0000"/>
                </a:solidFill>
              </a:rPr>
              <a:t>Data for the week ending 24/02/2026</a:t>
            </a:r>
          </a:p>
          <a:p>
            <a:pPr marL="0" lvl="0" indent="0">
              <a:buNone/>
            </a:pPr>
            <a:r>
              <a:rPr lang="en-GB" sz="1100" dirty="0">
                <a:solidFill>
                  <a:srgbClr val="FF0000"/>
                </a:solidFill>
              </a:rPr>
              <a:t>Time +3 weeks</a:t>
            </a:r>
          </a:p>
        </p:txBody>
      </p:sp>
      <p:sp>
        <p:nvSpPr>
          <p:cNvPr id="12" name="Content Placeholder 2">
            <a:extLst>
              <a:ext uri="{FF2B5EF4-FFF2-40B4-BE49-F238E27FC236}">
                <a16:creationId xmlns:a16="http://schemas.microsoft.com/office/drawing/2014/main" id="{98F33F80-4A1E-FF29-7901-80E0B4B3F395}"/>
              </a:ext>
            </a:extLst>
          </p:cNvPr>
          <p:cNvSpPr txBox="1">
            <a:spLocks/>
          </p:cNvSpPr>
          <p:nvPr/>
        </p:nvSpPr>
        <p:spPr>
          <a:xfrm>
            <a:off x="457200" y="1200151"/>
            <a:ext cx="1763973" cy="3394472"/>
          </a:xfrm>
          <a:prstGeom prst="rect">
            <a:avLst/>
          </a:prstGeom>
        </p:spPr>
        <p:txBody>
          <a:bodyPr>
            <a:normAutofit/>
          </a:bodyPr>
          <a:lst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buFont typeface="Arial"/>
              <a:buNone/>
            </a:pPr>
            <a:r>
              <a:rPr lang="en-GB" sz="1400" b="1" i="1" dirty="0">
                <a:solidFill>
                  <a:srgbClr val="FF0000"/>
                </a:solidFill>
              </a:rPr>
              <a:t>Improvements in MRSA admission screening compliance driven by RVI Assessment Suite (RVAS) staff</a:t>
            </a:r>
          </a:p>
          <a:p>
            <a:pPr marL="0" indent="0">
              <a:buFont typeface="Arial"/>
              <a:buNone/>
            </a:pPr>
            <a:endParaRPr lang="en-GB" sz="1400" dirty="0"/>
          </a:p>
          <a:p>
            <a:pPr marL="0" indent="0">
              <a:buFont typeface="Arial"/>
              <a:buNone/>
            </a:pPr>
            <a:endParaRPr lang="en-GB" sz="1400" dirty="0"/>
          </a:p>
          <a:p>
            <a:pPr marL="0" indent="0">
              <a:buFont typeface="Arial"/>
              <a:buNone/>
            </a:pPr>
            <a:r>
              <a:rPr lang="en-GB" sz="1400" b="1" dirty="0"/>
              <a:t>Number of MRSA screens received per location (n) </a:t>
            </a:r>
          </a:p>
          <a:p>
            <a:pPr marL="0" indent="0">
              <a:buFont typeface="Arial"/>
              <a:buNone/>
            </a:pPr>
            <a:endParaRPr lang="en-GB" sz="1400" dirty="0"/>
          </a:p>
        </p:txBody>
      </p:sp>
      <p:sp>
        <p:nvSpPr>
          <p:cNvPr id="14" name="TextBox 13">
            <a:extLst>
              <a:ext uri="{FF2B5EF4-FFF2-40B4-BE49-F238E27FC236}">
                <a16:creationId xmlns:a16="http://schemas.microsoft.com/office/drawing/2014/main" id="{EE486BAF-5C21-41E4-F451-E994C395319A}"/>
              </a:ext>
            </a:extLst>
          </p:cNvPr>
          <p:cNvSpPr txBox="1"/>
          <p:nvPr/>
        </p:nvSpPr>
        <p:spPr>
          <a:xfrm>
            <a:off x="2733261" y="384089"/>
            <a:ext cx="4572000" cy="307777"/>
          </a:xfrm>
          <a:prstGeom prst="rect">
            <a:avLst/>
          </a:prstGeom>
          <a:noFill/>
        </p:spPr>
        <p:txBody>
          <a:bodyPr wrap="square">
            <a:spAutoFit/>
          </a:bodyPr>
          <a:lstStyle/>
          <a:p>
            <a:pPr marL="0" indent="0">
              <a:buFont typeface="Arial"/>
              <a:buNone/>
            </a:pPr>
            <a:r>
              <a:rPr lang="en-GB" sz="1400" b="1" dirty="0"/>
              <a:t>RVAS is number 1 screening location</a:t>
            </a:r>
          </a:p>
        </p:txBody>
      </p:sp>
      <p:pic>
        <p:nvPicPr>
          <p:cNvPr id="6" name="Picture 5">
            <a:extLst>
              <a:ext uri="{FF2B5EF4-FFF2-40B4-BE49-F238E27FC236}">
                <a16:creationId xmlns:a16="http://schemas.microsoft.com/office/drawing/2014/main" id="{C083D504-F8EA-8FF6-0B1D-E4566BA1AA35}"/>
              </a:ext>
            </a:extLst>
          </p:cNvPr>
          <p:cNvPicPr>
            <a:picLocks noChangeAspect="1"/>
          </p:cNvPicPr>
          <p:nvPr/>
        </p:nvPicPr>
        <p:blipFill>
          <a:blip r:embed="rId2"/>
          <a:stretch>
            <a:fillRect/>
          </a:stretch>
        </p:blipFill>
        <p:spPr>
          <a:xfrm>
            <a:off x="2266123" y="994623"/>
            <a:ext cx="5829398" cy="3600000"/>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EC54FE69-013E-DBB0-460D-6B72A327EBE0}"/>
                  </a:ext>
                </a:extLst>
              </p14:cNvPr>
              <p14:cNvContentPartPr/>
              <p14:nvPr/>
            </p14:nvContentPartPr>
            <p14:xfrm>
              <a:off x="2481470" y="1099387"/>
              <a:ext cx="604440" cy="464400"/>
            </p14:xfrm>
          </p:contentPart>
        </mc:Choice>
        <mc:Fallback xmlns="">
          <p:pic>
            <p:nvPicPr>
              <p:cNvPr id="7" name="Ink 6">
                <a:extLst>
                  <a:ext uri="{FF2B5EF4-FFF2-40B4-BE49-F238E27FC236}">
                    <a16:creationId xmlns:a16="http://schemas.microsoft.com/office/drawing/2014/main" id="{EC54FE69-013E-DBB0-460D-6B72A327EBE0}"/>
                  </a:ext>
                </a:extLst>
              </p:cNvPr>
              <p:cNvPicPr/>
              <p:nvPr/>
            </p:nvPicPr>
            <p:blipFill>
              <a:blip r:embed="rId4"/>
              <a:stretch>
                <a:fillRect/>
              </a:stretch>
            </p:blipFill>
            <p:spPr>
              <a:xfrm>
                <a:off x="2475350" y="1093267"/>
                <a:ext cx="616680" cy="476640"/>
              </a:xfrm>
              <a:prstGeom prst="rect">
                <a:avLst/>
              </a:prstGeom>
            </p:spPr>
          </p:pic>
        </mc:Fallback>
      </mc:AlternateContent>
    </p:spTree>
    <p:extLst>
      <p:ext uri="{BB962C8B-B14F-4D97-AF65-F5344CB8AC3E}">
        <p14:creationId xmlns:p14="http://schemas.microsoft.com/office/powerpoint/2010/main" val="5043137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BEDBB-1F05-5E93-812A-1DB46895A47B}"/>
            </a:ext>
          </a:extLst>
        </p:cNvPr>
        <p:cNvGrpSpPr/>
        <p:nvPr/>
      </p:nvGrpSpPr>
      <p:grpSpPr>
        <a:xfrm>
          <a:off x="0" y="0"/>
          <a:ext cx="0" cy="0"/>
          <a:chOff x="0" y="0"/>
          <a:chExt cx="0" cy="0"/>
        </a:xfrm>
      </p:grpSpPr>
      <p:sp>
        <p:nvSpPr>
          <p:cNvPr id="2" name="Date Placeholder 3">
            <a:extLst>
              <a:ext uri="{FF2B5EF4-FFF2-40B4-BE49-F238E27FC236}">
                <a16:creationId xmlns:a16="http://schemas.microsoft.com/office/drawing/2014/main" id="{9E3D0739-5D90-BCAA-51CA-B8F3ED33206D}"/>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4" name="Footer Placeholder 4">
            <a:extLst>
              <a:ext uri="{FF2B5EF4-FFF2-40B4-BE49-F238E27FC236}">
                <a16:creationId xmlns:a16="http://schemas.microsoft.com/office/drawing/2014/main" id="{4C16B36C-1A8D-F455-E5D2-DC2D40D026E8}"/>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
        <p:nvSpPr>
          <p:cNvPr id="11" name="TextBox 10">
            <a:extLst>
              <a:ext uri="{FF2B5EF4-FFF2-40B4-BE49-F238E27FC236}">
                <a16:creationId xmlns:a16="http://schemas.microsoft.com/office/drawing/2014/main" id="{78DEA26F-0497-3945-F2EC-11AFA8C03F73}"/>
              </a:ext>
            </a:extLst>
          </p:cNvPr>
          <p:cNvSpPr txBox="1"/>
          <p:nvPr/>
        </p:nvSpPr>
        <p:spPr>
          <a:xfrm>
            <a:off x="387626" y="412192"/>
            <a:ext cx="2957577" cy="430887"/>
          </a:xfrm>
          <a:prstGeom prst="rect">
            <a:avLst/>
          </a:prstGeom>
          <a:noFill/>
        </p:spPr>
        <p:txBody>
          <a:bodyPr wrap="square">
            <a:spAutoFit/>
          </a:bodyPr>
          <a:lstStyle/>
          <a:p>
            <a:pPr marL="0" lvl="0" indent="0">
              <a:buNone/>
            </a:pPr>
            <a:r>
              <a:rPr lang="en-GB" sz="1100" dirty="0">
                <a:solidFill>
                  <a:srgbClr val="FF0000"/>
                </a:solidFill>
              </a:rPr>
              <a:t>Data for the week ending 16/06/2026</a:t>
            </a:r>
          </a:p>
          <a:p>
            <a:pPr marL="0" lvl="0" indent="0">
              <a:buNone/>
            </a:pPr>
            <a:r>
              <a:rPr lang="en-GB" sz="1100" dirty="0">
                <a:solidFill>
                  <a:srgbClr val="FF0000"/>
                </a:solidFill>
              </a:rPr>
              <a:t>Time </a:t>
            </a:r>
            <a:r>
              <a:rPr lang="en-GB" sz="1100" b="1" dirty="0">
                <a:solidFill>
                  <a:srgbClr val="FF0000"/>
                </a:solidFill>
              </a:rPr>
              <a:t>+4 months</a:t>
            </a:r>
          </a:p>
        </p:txBody>
      </p:sp>
      <p:sp>
        <p:nvSpPr>
          <p:cNvPr id="12" name="Content Placeholder 2">
            <a:extLst>
              <a:ext uri="{FF2B5EF4-FFF2-40B4-BE49-F238E27FC236}">
                <a16:creationId xmlns:a16="http://schemas.microsoft.com/office/drawing/2014/main" id="{F793FCFE-6A24-6368-08C7-99C643A6ABEB}"/>
              </a:ext>
            </a:extLst>
          </p:cNvPr>
          <p:cNvSpPr txBox="1">
            <a:spLocks/>
          </p:cNvSpPr>
          <p:nvPr/>
        </p:nvSpPr>
        <p:spPr>
          <a:xfrm>
            <a:off x="457200" y="1200151"/>
            <a:ext cx="1763973" cy="3394472"/>
          </a:xfrm>
          <a:prstGeom prst="rect">
            <a:avLst/>
          </a:prstGeom>
        </p:spPr>
        <p:txBody>
          <a:bodyPr>
            <a:normAutofit/>
          </a:bodyPr>
          <a:lst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buFont typeface="Arial"/>
              <a:buNone/>
            </a:pPr>
            <a:r>
              <a:rPr lang="en-GB" sz="1400" b="1" i="1" dirty="0">
                <a:solidFill>
                  <a:srgbClr val="FF0000"/>
                </a:solidFill>
              </a:rPr>
              <a:t>Improvements in MRSA admission screening compliance driven by RVI Assessment Suite (RVAS) staff</a:t>
            </a:r>
          </a:p>
          <a:p>
            <a:pPr marL="0" indent="0">
              <a:buFont typeface="Arial"/>
              <a:buNone/>
            </a:pPr>
            <a:endParaRPr lang="en-GB" sz="1400" dirty="0"/>
          </a:p>
          <a:p>
            <a:pPr marL="0" indent="0">
              <a:buFont typeface="Arial"/>
              <a:buNone/>
            </a:pPr>
            <a:endParaRPr lang="en-GB" sz="1400" dirty="0"/>
          </a:p>
          <a:p>
            <a:pPr marL="0" indent="0">
              <a:buFont typeface="Arial"/>
              <a:buNone/>
            </a:pPr>
            <a:r>
              <a:rPr lang="en-GB" sz="1400" b="1" dirty="0"/>
              <a:t>Number of MRSA screens received per location (n) </a:t>
            </a:r>
          </a:p>
          <a:p>
            <a:pPr marL="0" indent="0">
              <a:buFont typeface="Arial"/>
              <a:buNone/>
            </a:pPr>
            <a:endParaRPr lang="en-GB" sz="1400" dirty="0"/>
          </a:p>
        </p:txBody>
      </p:sp>
      <p:sp>
        <p:nvSpPr>
          <p:cNvPr id="14" name="TextBox 13">
            <a:extLst>
              <a:ext uri="{FF2B5EF4-FFF2-40B4-BE49-F238E27FC236}">
                <a16:creationId xmlns:a16="http://schemas.microsoft.com/office/drawing/2014/main" id="{CEECE4D5-FEA6-F4AF-78DA-5D6BB2D0565A}"/>
              </a:ext>
            </a:extLst>
          </p:cNvPr>
          <p:cNvSpPr txBox="1"/>
          <p:nvPr/>
        </p:nvSpPr>
        <p:spPr>
          <a:xfrm>
            <a:off x="2733261" y="384089"/>
            <a:ext cx="4572000" cy="307777"/>
          </a:xfrm>
          <a:prstGeom prst="rect">
            <a:avLst/>
          </a:prstGeom>
          <a:noFill/>
        </p:spPr>
        <p:txBody>
          <a:bodyPr wrap="square">
            <a:spAutoFit/>
          </a:bodyPr>
          <a:lstStyle/>
          <a:p>
            <a:pPr marL="0" indent="0">
              <a:buFont typeface="Arial"/>
              <a:buNone/>
            </a:pPr>
            <a:r>
              <a:rPr lang="en-GB" sz="1400" b="1" dirty="0"/>
              <a:t>RVAS is now </a:t>
            </a:r>
            <a:r>
              <a:rPr lang="en-GB" sz="1400" b="1" i="1" dirty="0"/>
              <a:t>far-and-away</a:t>
            </a:r>
            <a:r>
              <a:rPr lang="en-GB" sz="1400" b="1" dirty="0"/>
              <a:t> the number 1 screening location</a:t>
            </a:r>
          </a:p>
        </p:txBody>
      </p:sp>
      <p:pic>
        <p:nvPicPr>
          <p:cNvPr id="8" name="Picture 7">
            <a:extLst>
              <a:ext uri="{FF2B5EF4-FFF2-40B4-BE49-F238E27FC236}">
                <a16:creationId xmlns:a16="http://schemas.microsoft.com/office/drawing/2014/main" id="{29FC9CA9-2D56-EC3B-9A4E-52010E2E207F}"/>
              </a:ext>
            </a:extLst>
          </p:cNvPr>
          <p:cNvPicPr>
            <a:picLocks noChangeAspect="1"/>
          </p:cNvPicPr>
          <p:nvPr/>
        </p:nvPicPr>
        <p:blipFill>
          <a:blip r:embed="rId2"/>
          <a:stretch>
            <a:fillRect/>
          </a:stretch>
        </p:blipFill>
        <p:spPr>
          <a:xfrm>
            <a:off x="2309192" y="1005171"/>
            <a:ext cx="5829398" cy="3600000"/>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F70131E4-0259-6180-432D-9A8727391C27}"/>
                  </a:ext>
                </a:extLst>
              </p14:cNvPr>
              <p14:cNvContentPartPr/>
              <p14:nvPr/>
            </p14:nvContentPartPr>
            <p14:xfrm>
              <a:off x="2519760" y="1099387"/>
              <a:ext cx="604440" cy="464400"/>
            </p14:xfrm>
          </p:contentPart>
        </mc:Choice>
        <mc:Fallback xmlns="">
          <p:pic>
            <p:nvPicPr>
              <p:cNvPr id="7" name="Ink 6">
                <a:extLst>
                  <a:ext uri="{FF2B5EF4-FFF2-40B4-BE49-F238E27FC236}">
                    <a16:creationId xmlns:a16="http://schemas.microsoft.com/office/drawing/2014/main" id="{F70131E4-0259-6180-432D-9A8727391C27}"/>
                  </a:ext>
                </a:extLst>
              </p:cNvPr>
              <p:cNvPicPr/>
              <p:nvPr/>
            </p:nvPicPr>
            <p:blipFill>
              <a:blip r:embed="rId4"/>
              <a:stretch>
                <a:fillRect/>
              </a:stretch>
            </p:blipFill>
            <p:spPr>
              <a:xfrm>
                <a:off x="2513640" y="1093267"/>
                <a:ext cx="616680" cy="4766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769105D6-091B-088E-D027-D1CE178C4E66}"/>
                  </a:ext>
                </a:extLst>
              </p14:cNvPr>
              <p14:cNvContentPartPr/>
              <p14:nvPr/>
            </p14:nvContentPartPr>
            <p14:xfrm>
              <a:off x="7960983" y="1004019"/>
              <a:ext cx="366120" cy="454680"/>
            </p14:xfrm>
          </p:contentPart>
        </mc:Choice>
        <mc:Fallback xmlns="">
          <p:pic>
            <p:nvPicPr>
              <p:cNvPr id="10" name="Ink 9">
                <a:extLst>
                  <a:ext uri="{FF2B5EF4-FFF2-40B4-BE49-F238E27FC236}">
                    <a16:creationId xmlns:a16="http://schemas.microsoft.com/office/drawing/2014/main" id="{769105D6-091B-088E-D027-D1CE178C4E66}"/>
                  </a:ext>
                </a:extLst>
              </p:cNvPr>
              <p:cNvPicPr/>
              <p:nvPr/>
            </p:nvPicPr>
            <p:blipFill>
              <a:blip r:embed="rId6"/>
              <a:stretch>
                <a:fillRect/>
              </a:stretch>
            </p:blipFill>
            <p:spPr>
              <a:xfrm>
                <a:off x="7943343" y="986019"/>
                <a:ext cx="401760" cy="490320"/>
              </a:xfrm>
              <a:prstGeom prst="rect">
                <a:avLst/>
              </a:prstGeom>
            </p:spPr>
          </p:pic>
        </mc:Fallback>
      </mc:AlternateContent>
    </p:spTree>
    <p:extLst>
      <p:ext uri="{BB962C8B-B14F-4D97-AF65-F5344CB8AC3E}">
        <p14:creationId xmlns:p14="http://schemas.microsoft.com/office/powerpoint/2010/main" val="2479218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2F778-FCD8-01F9-BBC7-F88A620672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7E4191-F4EC-7D02-FD08-5C7E9D873C4B}"/>
              </a:ext>
            </a:extLst>
          </p:cNvPr>
          <p:cNvSpPr>
            <a:spLocks noGrp="1"/>
          </p:cNvSpPr>
          <p:nvPr>
            <p:ph type="title"/>
          </p:nvPr>
        </p:nvSpPr>
        <p:spPr/>
        <p:txBody>
          <a:bodyPr/>
          <a:lstStyle/>
          <a:p>
            <a:pPr lvl="0"/>
            <a:r>
              <a:rPr lang="en-GB" dirty="0"/>
              <a:t>Impact of RAP on screening + locally-driven QI</a:t>
            </a:r>
            <a:endParaRPr dirty="0"/>
          </a:p>
        </p:txBody>
      </p:sp>
      <p:sp>
        <p:nvSpPr>
          <p:cNvPr id="3" name="Content Placeholder 2">
            <a:extLst>
              <a:ext uri="{FF2B5EF4-FFF2-40B4-BE49-F238E27FC236}">
                <a16:creationId xmlns:a16="http://schemas.microsoft.com/office/drawing/2014/main" id="{4F4EBC06-C8FC-9E21-5535-57D3637EB77E}"/>
              </a:ext>
            </a:extLst>
          </p:cNvPr>
          <p:cNvSpPr>
            <a:spLocks noGrp="1"/>
          </p:cNvSpPr>
          <p:nvPr>
            <p:ph idx="1"/>
          </p:nvPr>
        </p:nvSpPr>
        <p:spPr>
          <a:xfrm>
            <a:off x="457200" y="1200151"/>
            <a:ext cx="1763973" cy="3394472"/>
          </a:xfrm>
        </p:spPr>
        <p:txBody>
          <a:bodyPr>
            <a:normAutofit/>
          </a:bodyPr>
          <a:lstStyle/>
          <a:p>
            <a:pPr marL="0" indent="0">
              <a:buNone/>
            </a:pPr>
            <a:r>
              <a:rPr sz="1400" dirty="0"/>
              <a:t>Between 07</a:t>
            </a:r>
            <a:r>
              <a:rPr lang="en-GB" sz="1400" dirty="0"/>
              <a:t>/01/</a:t>
            </a:r>
            <a:r>
              <a:rPr sz="1400" dirty="0"/>
              <a:t>2025 and </a:t>
            </a:r>
            <a:r>
              <a:rPr lang="en-GB" sz="1400" dirty="0"/>
              <a:t>16/06/2026 </a:t>
            </a:r>
          </a:p>
          <a:p>
            <a:pPr marL="0" indent="0">
              <a:buNone/>
            </a:pPr>
            <a:r>
              <a:rPr lang="en-GB" sz="1400" dirty="0"/>
              <a:t>(~ 1.5 years)</a:t>
            </a:r>
          </a:p>
          <a:p>
            <a:pPr marL="0" indent="0">
              <a:buNone/>
            </a:pPr>
            <a:endParaRPr lang="en-GB" sz="1400" dirty="0"/>
          </a:p>
          <a:p>
            <a:pPr marL="0" indent="0">
              <a:buNone/>
            </a:pPr>
            <a:endParaRPr lang="en-GB" sz="1400" dirty="0"/>
          </a:p>
          <a:p>
            <a:pPr marL="0" lvl="0" indent="0">
              <a:buNone/>
            </a:pPr>
            <a:r>
              <a:rPr lang="en-GB" sz="1400" b="1" dirty="0"/>
              <a:t>Compliance with MRSA admission screening (%) </a:t>
            </a:r>
          </a:p>
          <a:p>
            <a:pPr marL="0" lvl="0" indent="0">
              <a:buNone/>
            </a:pPr>
            <a:r>
              <a:rPr lang="en-GB" sz="1400" dirty="0"/>
              <a:t>(higher is better)</a:t>
            </a:r>
          </a:p>
          <a:p>
            <a:pPr marL="0" lvl="0" indent="0">
              <a:buNone/>
            </a:pPr>
            <a:r>
              <a:rPr lang="en-GB" sz="1400" b="1" dirty="0">
                <a:solidFill>
                  <a:schemeClr val="tx2">
                    <a:lumMod val="60000"/>
                    <a:lumOff val="40000"/>
                  </a:schemeClr>
                </a:solidFill>
              </a:rPr>
              <a:t>- </a:t>
            </a:r>
            <a:r>
              <a:rPr lang="en-GB" sz="1400" b="1" i="1" dirty="0">
                <a:solidFill>
                  <a:schemeClr val="tx2">
                    <a:lumMod val="60000"/>
                    <a:lumOff val="40000"/>
                  </a:schemeClr>
                </a:solidFill>
              </a:rPr>
              <a:t>annotated</a:t>
            </a:r>
            <a:endParaRPr lang="en-GB" sz="1400" b="1" dirty="0">
              <a:solidFill>
                <a:schemeClr val="tx2">
                  <a:lumMod val="60000"/>
                  <a:lumOff val="40000"/>
                </a:schemeClr>
              </a:solidFill>
            </a:endParaRPr>
          </a:p>
        </p:txBody>
      </p:sp>
      <p:sp>
        <p:nvSpPr>
          <p:cNvPr id="4" name="Date Placeholder 3">
            <a:extLst>
              <a:ext uri="{FF2B5EF4-FFF2-40B4-BE49-F238E27FC236}">
                <a16:creationId xmlns:a16="http://schemas.microsoft.com/office/drawing/2014/main" id="{34F6B3A5-05B1-E598-C1B4-0CEE64D0ECD8}"/>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5" name="Footer Placeholder 4">
            <a:extLst>
              <a:ext uri="{FF2B5EF4-FFF2-40B4-BE49-F238E27FC236}">
                <a16:creationId xmlns:a16="http://schemas.microsoft.com/office/drawing/2014/main" id="{5522516A-1137-C8F8-038F-D3D2CA93D12A}"/>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pic>
        <p:nvPicPr>
          <p:cNvPr id="8" name="Picture 7">
            <a:extLst>
              <a:ext uri="{FF2B5EF4-FFF2-40B4-BE49-F238E27FC236}">
                <a16:creationId xmlns:a16="http://schemas.microsoft.com/office/drawing/2014/main" id="{84B942DD-0002-CFD8-433E-FC29F4A7B2AA}"/>
              </a:ext>
            </a:extLst>
          </p:cNvPr>
          <p:cNvPicPr>
            <a:picLocks noChangeAspect="1"/>
          </p:cNvPicPr>
          <p:nvPr/>
        </p:nvPicPr>
        <p:blipFill>
          <a:blip r:embed="rId2"/>
          <a:stretch>
            <a:fillRect/>
          </a:stretch>
        </p:blipFill>
        <p:spPr>
          <a:xfrm>
            <a:off x="2446023" y="994623"/>
            <a:ext cx="5244231" cy="3600000"/>
          </a:xfrm>
          <a:prstGeom prst="rect">
            <a:avLst/>
          </a:prstGeom>
        </p:spPr>
      </p:pic>
    </p:spTree>
    <p:extLst>
      <p:ext uri="{BB962C8B-B14F-4D97-AF65-F5344CB8AC3E}">
        <p14:creationId xmlns:p14="http://schemas.microsoft.com/office/powerpoint/2010/main" val="34493550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D6032A-4CFC-0C56-EB4F-67126591585E}"/>
              </a:ext>
            </a:extLst>
          </p:cNvPr>
          <p:cNvPicPr>
            <a:picLocks noChangeAspect="1"/>
          </p:cNvPicPr>
          <p:nvPr/>
        </p:nvPicPr>
        <p:blipFill>
          <a:blip r:embed="rId2"/>
          <a:stretch>
            <a:fillRect/>
          </a:stretch>
        </p:blipFill>
        <p:spPr>
          <a:xfrm>
            <a:off x="146958" y="200705"/>
            <a:ext cx="4680000" cy="2887857"/>
          </a:xfrm>
          <a:prstGeom prst="rect">
            <a:avLst/>
          </a:prstGeom>
        </p:spPr>
      </p:pic>
      <p:sp>
        <p:nvSpPr>
          <p:cNvPr id="2" name="Date Placeholder 3">
            <a:extLst>
              <a:ext uri="{FF2B5EF4-FFF2-40B4-BE49-F238E27FC236}">
                <a16:creationId xmlns:a16="http://schemas.microsoft.com/office/drawing/2014/main" id="{1A97138D-6A4B-C195-947A-2861D054BABF}"/>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4" name="Footer Placeholder 4">
            <a:extLst>
              <a:ext uri="{FF2B5EF4-FFF2-40B4-BE49-F238E27FC236}">
                <a16:creationId xmlns:a16="http://schemas.microsoft.com/office/drawing/2014/main" id="{BB9D805F-C5FB-572C-B58B-177036C9DBA6}"/>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
        <p:nvSpPr>
          <p:cNvPr id="6" name="TextBox 5">
            <a:extLst>
              <a:ext uri="{FF2B5EF4-FFF2-40B4-BE49-F238E27FC236}">
                <a16:creationId xmlns:a16="http://schemas.microsoft.com/office/drawing/2014/main" id="{1C5D753E-4B71-54F0-5F65-3A9503E283E1}"/>
              </a:ext>
            </a:extLst>
          </p:cNvPr>
          <p:cNvSpPr txBox="1"/>
          <p:nvPr/>
        </p:nvSpPr>
        <p:spPr>
          <a:xfrm>
            <a:off x="5356122" y="197304"/>
            <a:ext cx="1327355" cy="646331"/>
          </a:xfrm>
          <a:prstGeom prst="rect">
            <a:avLst/>
          </a:prstGeom>
          <a:noFill/>
        </p:spPr>
        <p:txBody>
          <a:bodyPr wrap="square" rtlCol="0">
            <a:spAutoFit/>
          </a:bodyPr>
          <a:lstStyle/>
          <a:p>
            <a:r>
              <a:rPr lang="en-GB" dirty="0"/>
              <a:t>Best performers</a:t>
            </a:r>
          </a:p>
        </p:txBody>
      </p:sp>
      <p:sp>
        <p:nvSpPr>
          <p:cNvPr id="7" name="Arrow: Right 6">
            <a:extLst>
              <a:ext uri="{FF2B5EF4-FFF2-40B4-BE49-F238E27FC236}">
                <a16:creationId xmlns:a16="http://schemas.microsoft.com/office/drawing/2014/main" id="{A2146B12-D8E9-C654-95D5-61560D967630}"/>
              </a:ext>
            </a:extLst>
          </p:cNvPr>
          <p:cNvSpPr/>
          <p:nvPr/>
        </p:nvSpPr>
        <p:spPr>
          <a:xfrm rot="9294919">
            <a:off x="4809648" y="547352"/>
            <a:ext cx="570271" cy="25563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CA62F76B-18B6-25B0-2A3F-1134A02931F4}"/>
              </a:ext>
            </a:extLst>
          </p:cNvPr>
          <p:cNvSpPr txBox="1"/>
          <p:nvPr/>
        </p:nvSpPr>
        <p:spPr>
          <a:xfrm>
            <a:off x="2791704" y="3921878"/>
            <a:ext cx="1704393" cy="646331"/>
          </a:xfrm>
          <a:prstGeom prst="rect">
            <a:avLst/>
          </a:prstGeom>
          <a:noFill/>
        </p:spPr>
        <p:txBody>
          <a:bodyPr wrap="square" rtlCol="0">
            <a:spAutoFit/>
          </a:bodyPr>
          <a:lstStyle/>
          <a:p>
            <a:r>
              <a:rPr lang="en-GB" dirty="0"/>
              <a:t>Requiring improvement</a:t>
            </a:r>
          </a:p>
        </p:txBody>
      </p:sp>
      <p:sp>
        <p:nvSpPr>
          <p:cNvPr id="9" name="Arrow: Right 8">
            <a:extLst>
              <a:ext uri="{FF2B5EF4-FFF2-40B4-BE49-F238E27FC236}">
                <a16:creationId xmlns:a16="http://schemas.microsoft.com/office/drawing/2014/main" id="{A49CC7F8-C9F9-4FC4-5A3F-B6E8B2B5008D}"/>
              </a:ext>
            </a:extLst>
          </p:cNvPr>
          <p:cNvSpPr/>
          <p:nvPr/>
        </p:nvSpPr>
        <p:spPr>
          <a:xfrm rot="19829087">
            <a:off x="3903467" y="3886758"/>
            <a:ext cx="570271" cy="25563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1" name="TextBox 10">
            <a:extLst>
              <a:ext uri="{FF2B5EF4-FFF2-40B4-BE49-F238E27FC236}">
                <a16:creationId xmlns:a16="http://schemas.microsoft.com/office/drawing/2014/main" id="{15FE563F-5003-9757-6C7B-47EE14750EBC}"/>
              </a:ext>
            </a:extLst>
          </p:cNvPr>
          <p:cNvSpPr txBox="1"/>
          <p:nvPr/>
        </p:nvSpPr>
        <p:spPr>
          <a:xfrm>
            <a:off x="457200" y="4536931"/>
            <a:ext cx="2957577" cy="261610"/>
          </a:xfrm>
          <a:prstGeom prst="rect">
            <a:avLst/>
          </a:prstGeom>
          <a:noFill/>
        </p:spPr>
        <p:txBody>
          <a:bodyPr wrap="square">
            <a:spAutoFit/>
          </a:bodyPr>
          <a:lstStyle/>
          <a:p>
            <a:pPr marL="0" lvl="0" indent="0">
              <a:buNone/>
            </a:pPr>
            <a:r>
              <a:rPr lang="en-GB" sz="1100" dirty="0">
                <a:solidFill>
                  <a:srgbClr val="FF0000"/>
                </a:solidFill>
              </a:rPr>
              <a:t>Data for the week ending Tuesday 11/11/2025</a:t>
            </a:r>
          </a:p>
        </p:txBody>
      </p:sp>
      <p:pic>
        <p:nvPicPr>
          <p:cNvPr id="5" name="Picture 4">
            <a:extLst>
              <a:ext uri="{FF2B5EF4-FFF2-40B4-BE49-F238E27FC236}">
                <a16:creationId xmlns:a16="http://schemas.microsoft.com/office/drawing/2014/main" id="{7F82AAA7-0DDB-27FF-11D7-31A5E9B8BFFD}"/>
              </a:ext>
            </a:extLst>
          </p:cNvPr>
          <p:cNvPicPr>
            <a:picLocks noChangeAspect="1"/>
          </p:cNvPicPr>
          <p:nvPr/>
        </p:nvPicPr>
        <p:blipFill>
          <a:blip r:embed="rId3"/>
          <a:stretch>
            <a:fillRect/>
          </a:stretch>
        </p:blipFill>
        <p:spPr>
          <a:xfrm>
            <a:off x="4459254" y="1803359"/>
            <a:ext cx="4667267" cy="2880000"/>
          </a:xfrm>
          <a:prstGeom prst="rect">
            <a:avLst/>
          </a:prstGeom>
        </p:spPr>
      </p:pic>
    </p:spTree>
    <p:extLst>
      <p:ext uri="{BB962C8B-B14F-4D97-AF65-F5344CB8AC3E}">
        <p14:creationId xmlns:p14="http://schemas.microsoft.com/office/powerpoint/2010/main" val="1578082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AB9EC-A535-9289-76F9-552FA21B89D5}"/>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53961A0A-1BA6-6DC3-CEF6-99777B45035F}"/>
              </a:ext>
            </a:extLst>
          </p:cNvPr>
          <p:cNvPicPr>
            <a:picLocks noChangeAspect="1"/>
          </p:cNvPicPr>
          <p:nvPr/>
        </p:nvPicPr>
        <p:blipFill>
          <a:blip r:embed="rId2"/>
          <a:stretch>
            <a:fillRect/>
          </a:stretch>
        </p:blipFill>
        <p:spPr>
          <a:xfrm>
            <a:off x="54134" y="197303"/>
            <a:ext cx="4663518" cy="2880000"/>
          </a:xfrm>
          <a:prstGeom prst="rect">
            <a:avLst/>
          </a:prstGeom>
        </p:spPr>
      </p:pic>
      <p:pic>
        <p:nvPicPr>
          <p:cNvPr id="14" name="Picture 13">
            <a:extLst>
              <a:ext uri="{FF2B5EF4-FFF2-40B4-BE49-F238E27FC236}">
                <a16:creationId xmlns:a16="http://schemas.microsoft.com/office/drawing/2014/main" id="{C19F5BA5-842E-BEF2-879B-7B720B431B56}"/>
              </a:ext>
            </a:extLst>
          </p:cNvPr>
          <p:cNvPicPr>
            <a:picLocks noChangeAspect="1"/>
          </p:cNvPicPr>
          <p:nvPr/>
        </p:nvPicPr>
        <p:blipFill>
          <a:blip r:embed="rId3"/>
          <a:stretch>
            <a:fillRect/>
          </a:stretch>
        </p:blipFill>
        <p:spPr>
          <a:xfrm>
            <a:off x="4197626" y="1399542"/>
            <a:ext cx="4663518" cy="2880000"/>
          </a:xfrm>
          <a:prstGeom prst="rect">
            <a:avLst/>
          </a:prstGeom>
        </p:spPr>
      </p:pic>
      <p:sp>
        <p:nvSpPr>
          <p:cNvPr id="2" name="Date Placeholder 3">
            <a:extLst>
              <a:ext uri="{FF2B5EF4-FFF2-40B4-BE49-F238E27FC236}">
                <a16:creationId xmlns:a16="http://schemas.microsoft.com/office/drawing/2014/main" id="{BF4BFCB7-0135-1277-E398-508C783F5093}"/>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4" name="Footer Placeholder 4">
            <a:extLst>
              <a:ext uri="{FF2B5EF4-FFF2-40B4-BE49-F238E27FC236}">
                <a16:creationId xmlns:a16="http://schemas.microsoft.com/office/drawing/2014/main" id="{B51C4D68-114E-7118-5323-ECFFF8E3C479}"/>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
        <p:nvSpPr>
          <p:cNvPr id="6" name="TextBox 5">
            <a:extLst>
              <a:ext uri="{FF2B5EF4-FFF2-40B4-BE49-F238E27FC236}">
                <a16:creationId xmlns:a16="http://schemas.microsoft.com/office/drawing/2014/main" id="{63572150-2B62-0C1A-CD31-59E1EEAC367A}"/>
              </a:ext>
            </a:extLst>
          </p:cNvPr>
          <p:cNvSpPr txBox="1"/>
          <p:nvPr/>
        </p:nvSpPr>
        <p:spPr>
          <a:xfrm>
            <a:off x="5356122" y="197304"/>
            <a:ext cx="1327355" cy="646331"/>
          </a:xfrm>
          <a:prstGeom prst="rect">
            <a:avLst/>
          </a:prstGeom>
          <a:noFill/>
        </p:spPr>
        <p:txBody>
          <a:bodyPr wrap="square" rtlCol="0">
            <a:spAutoFit/>
          </a:bodyPr>
          <a:lstStyle/>
          <a:p>
            <a:r>
              <a:rPr lang="en-GB" dirty="0"/>
              <a:t>Best performers</a:t>
            </a:r>
          </a:p>
        </p:txBody>
      </p:sp>
      <p:sp>
        <p:nvSpPr>
          <p:cNvPr id="7" name="Arrow: Right 6">
            <a:extLst>
              <a:ext uri="{FF2B5EF4-FFF2-40B4-BE49-F238E27FC236}">
                <a16:creationId xmlns:a16="http://schemas.microsoft.com/office/drawing/2014/main" id="{C0075E81-C05B-836A-4D69-E7F733FA8DBE}"/>
              </a:ext>
            </a:extLst>
          </p:cNvPr>
          <p:cNvSpPr/>
          <p:nvPr/>
        </p:nvSpPr>
        <p:spPr>
          <a:xfrm rot="9294919">
            <a:off x="4809648" y="547352"/>
            <a:ext cx="570271" cy="25563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ADE94FEC-F2E0-DA93-321C-86CBBA9EB2BA}"/>
              </a:ext>
            </a:extLst>
          </p:cNvPr>
          <p:cNvSpPr txBox="1"/>
          <p:nvPr/>
        </p:nvSpPr>
        <p:spPr>
          <a:xfrm>
            <a:off x="2638168" y="3877522"/>
            <a:ext cx="1704393" cy="646331"/>
          </a:xfrm>
          <a:prstGeom prst="rect">
            <a:avLst/>
          </a:prstGeom>
          <a:noFill/>
        </p:spPr>
        <p:txBody>
          <a:bodyPr wrap="square" rtlCol="0">
            <a:spAutoFit/>
          </a:bodyPr>
          <a:lstStyle/>
          <a:p>
            <a:r>
              <a:rPr lang="en-GB" dirty="0"/>
              <a:t>Requiring improvement</a:t>
            </a:r>
          </a:p>
        </p:txBody>
      </p:sp>
      <p:sp>
        <p:nvSpPr>
          <p:cNvPr id="9" name="Arrow: Right 8">
            <a:extLst>
              <a:ext uri="{FF2B5EF4-FFF2-40B4-BE49-F238E27FC236}">
                <a16:creationId xmlns:a16="http://schemas.microsoft.com/office/drawing/2014/main" id="{8BE213BC-37F9-B6F6-C800-AA6AF6BD0284}"/>
              </a:ext>
            </a:extLst>
          </p:cNvPr>
          <p:cNvSpPr/>
          <p:nvPr/>
        </p:nvSpPr>
        <p:spPr>
          <a:xfrm rot="19829087">
            <a:off x="3749931" y="3842402"/>
            <a:ext cx="570271" cy="25563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dirty="0"/>
          </a:p>
        </p:txBody>
      </p:sp>
      <p:sp>
        <p:nvSpPr>
          <p:cNvPr id="11" name="TextBox 10">
            <a:extLst>
              <a:ext uri="{FF2B5EF4-FFF2-40B4-BE49-F238E27FC236}">
                <a16:creationId xmlns:a16="http://schemas.microsoft.com/office/drawing/2014/main" id="{388096D0-B56B-4037-03D1-EB51A7FE935A}"/>
              </a:ext>
            </a:extLst>
          </p:cNvPr>
          <p:cNvSpPr txBox="1"/>
          <p:nvPr/>
        </p:nvSpPr>
        <p:spPr>
          <a:xfrm>
            <a:off x="457200" y="4536931"/>
            <a:ext cx="2957577" cy="261610"/>
          </a:xfrm>
          <a:prstGeom prst="rect">
            <a:avLst/>
          </a:prstGeom>
          <a:noFill/>
        </p:spPr>
        <p:txBody>
          <a:bodyPr wrap="square">
            <a:spAutoFit/>
          </a:bodyPr>
          <a:lstStyle/>
          <a:p>
            <a:pPr marL="0" lvl="0" indent="0">
              <a:buNone/>
            </a:pPr>
            <a:r>
              <a:rPr lang="en-GB" sz="1100" dirty="0">
                <a:solidFill>
                  <a:srgbClr val="FF0000"/>
                </a:solidFill>
              </a:rPr>
              <a:t>Data for the week ending Tuesday 23/06/2026</a:t>
            </a:r>
          </a:p>
        </p:txBody>
      </p:sp>
    </p:spTree>
    <p:extLst>
      <p:ext uri="{BB962C8B-B14F-4D97-AF65-F5344CB8AC3E}">
        <p14:creationId xmlns:p14="http://schemas.microsoft.com/office/powerpoint/2010/main" val="1569934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7D75F-1A7A-BA25-0904-D932090177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CA8E14-4EE0-8C6C-D441-9F3B2EC59AD9}"/>
              </a:ext>
            </a:extLst>
          </p:cNvPr>
          <p:cNvSpPr>
            <a:spLocks noGrp="1"/>
          </p:cNvSpPr>
          <p:nvPr>
            <p:ph type="title"/>
          </p:nvPr>
        </p:nvSpPr>
        <p:spPr/>
        <p:txBody>
          <a:bodyPr/>
          <a:lstStyle/>
          <a:p>
            <a:pPr marL="0" lvl="0" indent="0">
              <a:buNone/>
            </a:pPr>
            <a:r>
              <a:rPr lang="en-GB" dirty="0"/>
              <a:t>Impact of RAP on MRSA rates</a:t>
            </a:r>
            <a:endParaRPr dirty="0"/>
          </a:p>
        </p:txBody>
      </p:sp>
      <p:sp>
        <p:nvSpPr>
          <p:cNvPr id="3" name="Content Placeholder 2">
            <a:extLst>
              <a:ext uri="{FF2B5EF4-FFF2-40B4-BE49-F238E27FC236}">
                <a16:creationId xmlns:a16="http://schemas.microsoft.com/office/drawing/2014/main" id="{50744FFE-F7FF-1405-9910-638CD7B21741}"/>
              </a:ext>
            </a:extLst>
          </p:cNvPr>
          <p:cNvSpPr>
            <a:spLocks noGrp="1"/>
          </p:cNvSpPr>
          <p:nvPr>
            <p:ph idx="1"/>
          </p:nvPr>
        </p:nvSpPr>
        <p:spPr>
          <a:xfrm>
            <a:off x="457200" y="1200151"/>
            <a:ext cx="1763973" cy="3394472"/>
          </a:xfrm>
        </p:spPr>
        <p:txBody>
          <a:bodyPr>
            <a:normAutofit/>
          </a:bodyPr>
          <a:lstStyle/>
          <a:p>
            <a:pPr marL="0" indent="0">
              <a:buNone/>
            </a:pPr>
            <a:r>
              <a:rPr sz="1400" dirty="0"/>
              <a:t>Between 07</a:t>
            </a:r>
            <a:r>
              <a:rPr lang="en-GB" sz="1400" dirty="0"/>
              <a:t>/01/</a:t>
            </a:r>
            <a:r>
              <a:rPr sz="1400" dirty="0"/>
              <a:t>2025 and </a:t>
            </a:r>
            <a:r>
              <a:rPr lang="en-GB" sz="1400" dirty="0"/>
              <a:t>16/06/2026 </a:t>
            </a:r>
          </a:p>
          <a:p>
            <a:pPr marL="0" indent="0">
              <a:buNone/>
            </a:pPr>
            <a:r>
              <a:rPr lang="en-GB" sz="1400" dirty="0"/>
              <a:t>(~ 1.5 years)</a:t>
            </a:r>
          </a:p>
          <a:p>
            <a:pPr marL="0" indent="0">
              <a:buNone/>
            </a:pPr>
            <a:endParaRPr lang="en-GB" sz="1400" dirty="0"/>
          </a:p>
          <a:p>
            <a:pPr marL="0" indent="0">
              <a:buNone/>
            </a:pPr>
            <a:endParaRPr lang="en-GB" sz="1400" dirty="0"/>
          </a:p>
          <a:p>
            <a:pPr marL="0" indent="0">
              <a:buNone/>
            </a:pPr>
            <a:r>
              <a:rPr lang="en-GB" sz="1400" b="1" dirty="0"/>
              <a:t>Inpatients with MRSA isolated from any specimen type</a:t>
            </a:r>
          </a:p>
          <a:p>
            <a:pPr marL="0" indent="0">
              <a:buNone/>
            </a:pPr>
            <a:r>
              <a:rPr lang="en-GB" sz="1400" b="1" dirty="0"/>
              <a:t>(prevalence)</a:t>
            </a:r>
          </a:p>
          <a:p>
            <a:pPr marL="0" indent="0">
              <a:buNone/>
            </a:pPr>
            <a:r>
              <a:rPr lang="en-GB" sz="1400" dirty="0"/>
              <a:t>(lower is better)</a:t>
            </a:r>
          </a:p>
          <a:p>
            <a:pPr marL="0" indent="0">
              <a:buNone/>
            </a:pPr>
            <a:endParaRPr lang="en-GB" sz="1400" b="1" dirty="0"/>
          </a:p>
          <a:p>
            <a:pPr marL="0" indent="0">
              <a:buNone/>
            </a:pPr>
            <a:endParaRPr lang="en-GB" sz="1400" dirty="0"/>
          </a:p>
          <a:p>
            <a:pPr marL="0" indent="0">
              <a:buNone/>
            </a:pPr>
            <a:endParaRPr lang="en-GB" sz="1400" dirty="0"/>
          </a:p>
        </p:txBody>
      </p:sp>
      <p:sp>
        <p:nvSpPr>
          <p:cNvPr id="4" name="Date Placeholder 3">
            <a:extLst>
              <a:ext uri="{FF2B5EF4-FFF2-40B4-BE49-F238E27FC236}">
                <a16:creationId xmlns:a16="http://schemas.microsoft.com/office/drawing/2014/main" id="{0181E3D0-CBC2-ABB4-0444-4F25942A037E}"/>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5" name="Footer Placeholder 4">
            <a:extLst>
              <a:ext uri="{FF2B5EF4-FFF2-40B4-BE49-F238E27FC236}">
                <a16:creationId xmlns:a16="http://schemas.microsoft.com/office/drawing/2014/main" id="{09A6F044-0221-E5DE-8708-BE863CC48697}"/>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pic>
        <p:nvPicPr>
          <p:cNvPr id="7" name="Picture 6">
            <a:extLst>
              <a:ext uri="{FF2B5EF4-FFF2-40B4-BE49-F238E27FC236}">
                <a16:creationId xmlns:a16="http://schemas.microsoft.com/office/drawing/2014/main" id="{C3C10B52-75DB-C61F-AD3D-064CAB3C7D2D}"/>
              </a:ext>
            </a:extLst>
          </p:cNvPr>
          <p:cNvPicPr>
            <a:picLocks noChangeAspect="1"/>
          </p:cNvPicPr>
          <p:nvPr/>
        </p:nvPicPr>
        <p:blipFill>
          <a:blip r:embed="rId2"/>
          <a:stretch>
            <a:fillRect/>
          </a:stretch>
        </p:blipFill>
        <p:spPr>
          <a:xfrm>
            <a:off x="2405681" y="994623"/>
            <a:ext cx="5244231" cy="3600000"/>
          </a:xfrm>
          <a:prstGeom prst="rect">
            <a:avLst/>
          </a:prstGeom>
        </p:spPr>
      </p:pic>
    </p:spTree>
    <p:extLst>
      <p:ext uri="{BB962C8B-B14F-4D97-AF65-F5344CB8AC3E}">
        <p14:creationId xmlns:p14="http://schemas.microsoft.com/office/powerpoint/2010/main" val="26003832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64175-CF8C-102D-C6DD-70B8FCE41E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1C5FFA-074A-C2BC-8F91-91D6920B204A}"/>
              </a:ext>
            </a:extLst>
          </p:cNvPr>
          <p:cNvSpPr>
            <a:spLocks noGrp="1"/>
          </p:cNvSpPr>
          <p:nvPr>
            <p:ph type="title"/>
          </p:nvPr>
        </p:nvSpPr>
        <p:spPr/>
        <p:txBody>
          <a:bodyPr/>
          <a:lstStyle/>
          <a:p>
            <a:pPr marL="0" lvl="0" indent="0">
              <a:buNone/>
            </a:pPr>
            <a:r>
              <a:rPr lang="en-GB" dirty="0"/>
              <a:t>Impact of RAP on MRSA rates</a:t>
            </a:r>
            <a:endParaRPr dirty="0"/>
          </a:p>
        </p:txBody>
      </p:sp>
      <p:sp>
        <p:nvSpPr>
          <p:cNvPr id="3" name="Content Placeholder 2">
            <a:extLst>
              <a:ext uri="{FF2B5EF4-FFF2-40B4-BE49-F238E27FC236}">
                <a16:creationId xmlns:a16="http://schemas.microsoft.com/office/drawing/2014/main" id="{2A12BF86-41EA-8543-C6DE-21DE6F36360C}"/>
              </a:ext>
            </a:extLst>
          </p:cNvPr>
          <p:cNvSpPr>
            <a:spLocks noGrp="1"/>
          </p:cNvSpPr>
          <p:nvPr>
            <p:ph idx="1"/>
          </p:nvPr>
        </p:nvSpPr>
        <p:spPr>
          <a:xfrm>
            <a:off x="457200" y="1200151"/>
            <a:ext cx="1763973" cy="3394472"/>
          </a:xfrm>
        </p:spPr>
        <p:txBody>
          <a:bodyPr>
            <a:normAutofit/>
          </a:bodyPr>
          <a:lstStyle/>
          <a:p>
            <a:pPr marL="0" indent="0">
              <a:buNone/>
            </a:pPr>
            <a:r>
              <a:rPr sz="1400" dirty="0"/>
              <a:t>Between 07</a:t>
            </a:r>
            <a:r>
              <a:rPr lang="en-GB" sz="1400" dirty="0"/>
              <a:t>/01/</a:t>
            </a:r>
            <a:r>
              <a:rPr sz="1400" dirty="0"/>
              <a:t>2025 and </a:t>
            </a:r>
            <a:r>
              <a:rPr lang="en-GB" sz="1400" dirty="0"/>
              <a:t>16/06/2026 </a:t>
            </a:r>
          </a:p>
          <a:p>
            <a:pPr marL="0" indent="0">
              <a:buNone/>
            </a:pPr>
            <a:r>
              <a:rPr lang="en-GB" sz="1400" dirty="0"/>
              <a:t>(~ 1.5 years)</a:t>
            </a:r>
          </a:p>
          <a:p>
            <a:pPr marL="0" indent="0">
              <a:buNone/>
            </a:pPr>
            <a:endParaRPr lang="en-GB" sz="1400" dirty="0"/>
          </a:p>
          <a:p>
            <a:pPr marL="0" indent="0">
              <a:buNone/>
            </a:pPr>
            <a:endParaRPr lang="en-GB" sz="1400" dirty="0"/>
          </a:p>
          <a:p>
            <a:pPr marL="0" indent="0">
              <a:buNone/>
            </a:pPr>
            <a:r>
              <a:rPr lang="en-GB" sz="1400" b="1" dirty="0"/>
              <a:t>Inpatients with MRSA bacteraemia</a:t>
            </a:r>
          </a:p>
          <a:p>
            <a:pPr marL="0" indent="0">
              <a:buNone/>
            </a:pPr>
            <a:r>
              <a:rPr lang="en-GB" sz="1400" b="1" dirty="0"/>
              <a:t>(prevalence)</a:t>
            </a:r>
          </a:p>
          <a:p>
            <a:pPr marL="0" indent="0">
              <a:buNone/>
            </a:pPr>
            <a:r>
              <a:rPr lang="en-GB" sz="1400" dirty="0"/>
              <a:t>(lower is better)</a:t>
            </a:r>
          </a:p>
          <a:p>
            <a:pPr marL="0" indent="0">
              <a:buNone/>
            </a:pPr>
            <a:endParaRPr lang="en-GB" sz="1400" b="1" dirty="0"/>
          </a:p>
          <a:p>
            <a:pPr marL="0" indent="0">
              <a:buNone/>
            </a:pPr>
            <a:endParaRPr lang="en-GB" sz="1400" dirty="0"/>
          </a:p>
          <a:p>
            <a:pPr marL="0" indent="0">
              <a:buNone/>
            </a:pPr>
            <a:endParaRPr lang="en-GB" sz="1400" dirty="0"/>
          </a:p>
        </p:txBody>
      </p:sp>
      <p:sp>
        <p:nvSpPr>
          <p:cNvPr id="4" name="Date Placeholder 3">
            <a:extLst>
              <a:ext uri="{FF2B5EF4-FFF2-40B4-BE49-F238E27FC236}">
                <a16:creationId xmlns:a16="http://schemas.microsoft.com/office/drawing/2014/main" id="{386944C1-BC3B-6B0B-B32A-AEB9E55678B5}"/>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5" name="Footer Placeholder 4">
            <a:extLst>
              <a:ext uri="{FF2B5EF4-FFF2-40B4-BE49-F238E27FC236}">
                <a16:creationId xmlns:a16="http://schemas.microsoft.com/office/drawing/2014/main" id="{33DABCD2-931E-EDE0-939C-B566F13129DE}"/>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pic>
        <p:nvPicPr>
          <p:cNvPr id="8" name="Picture 7">
            <a:extLst>
              <a:ext uri="{FF2B5EF4-FFF2-40B4-BE49-F238E27FC236}">
                <a16:creationId xmlns:a16="http://schemas.microsoft.com/office/drawing/2014/main" id="{1BFB1037-039F-7993-425C-D568C00F194A}"/>
              </a:ext>
            </a:extLst>
          </p:cNvPr>
          <p:cNvPicPr>
            <a:picLocks noChangeAspect="1"/>
          </p:cNvPicPr>
          <p:nvPr/>
        </p:nvPicPr>
        <p:blipFill>
          <a:blip r:embed="rId2"/>
          <a:stretch>
            <a:fillRect/>
          </a:stretch>
        </p:blipFill>
        <p:spPr>
          <a:xfrm>
            <a:off x="2446023" y="994623"/>
            <a:ext cx="5244231" cy="3600000"/>
          </a:xfrm>
          <a:prstGeom prst="rect">
            <a:avLst/>
          </a:prstGeom>
        </p:spPr>
      </p:pic>
    </p:spTree>
    <p:extLst>
      <p:ext uri="{BB962C8B-B14F-4D97-AF65-F5344CB8AC3E}">
        <p14:creationId xmlns:p14="http://schemas.microsoft.com/office/powerpoint/2010/main" val="39047203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0" lvl="0" indent="0">
              <a:buNone/>
            </a:pPr>
            <a:r>
              <a:rPr lang="en-GB" dirty="0"/>
              <a:t>RAP reliability</a:t>
            </a:r>
            <a:endParaRPr dirty="0"/>
          </a:p>
        </p:txBody>
      </p:sp>
      <p:sp>
        <p:nvSpPr>
          <p:cNvPr id="3" name="Content Placeholder 2"/>
          <p:cNvSpPr>
            <a:spLocks noGrp="1"/>
          </p:cNvSpPr>
          <p:nvPr>
            <p:ph idx="1"/>
          </p:nvPr>
        </p:nvSpPr>
        <p:spPr/>
        <p:txBody>
          <a:bodyPr>
            <a:normAutofit fontScale="92500"/>
          </a:bodyPr>
          <a:lstStyle/>
          <a:p>
            <a:pPr marL="0" indent="0">
              <a:buNone/>
            </a:pPr>
            <a:r>
              <a:rPr lang="en-GB" dirty="0"/>
              <a:t>Between 07/01/2025 and 16/06/2026 (~ 1.5 years):</a:t>
            </a:r>
          </a:p>
          <a:p>
            <a:pPr marL="0" lvl="0" indent="0">
              <a:buNone/>
            </a:pPr>
            <a:endParaRPr lang="en-GB" dirty="0"/>
          </a:p>
          <a:p>
            <a:pPr marL="0" lvl="0" indent="0">
              <a:buNone/>
            </a:pPr>
            <a:r>
              <a:t>Reports </a:t>
            </a:r>
            <a:r>
              <a:rPr dirty="0"/>
              <a:t>were successfully published for </a:t>
            </a:r>
            <a:r>
              <a:rPr lang="en-GB" dirty="0"/>
              <a:t>75</a:t>
            </a:r>
            <a:r>
              <a:rPr dirty="0"/>
              <a:t> </a:t>
            </a:r>
            <a:r>
              <a:rPr lang="en-GB" dirty="0"/>
              <a:t>out of 77 </a:t>
            </a:r>
            <a:r>
              <a:rPr dirty="0"/>
              <a:t>weeks (9</a:t>
            </a:r>
            <a:r>
              <a:rPr lang="en-GB" dirty="0"/>
              <a:t>7</a:t>
            </a:r>
            <a:r>
              <a:rPr dirty="0"/>
              <a:t>.</a:t>
            </a:r>
            <a:r>
              <a:rPr lang="en-GB" dirty="0"/>
              <a:t>4</a:t>
            </a:r>
            <a:r>
              <a:rPr dirty="0"/>
              <a:t>%)</a:t>
            </a:r>
            <a:endParaRPr lang="en-GB" dirty="0"/>
          </a:p>
          <a:p>
            <a:r>
              <a:rPr lang="en-GB" dirty="0"/>
              <a:t>T</a:t>
            </a:r>
            <a:r>
              <a:rPr dirty="0"/>
              <a:t>wo weeks of missed reporting:</a:t>
            </a:r>
          </a:p>
          <a:p>
            <a:pPr lvl="1"/>
            <a:r>
              <a:rPr lang="en-GB" dirty="0"/>
              <a:t>1x summer holidays </a:t>
            </a:r>
            <a:r>
              <a:rPr dirty="0"/>
              <a:t>data science team staffing constraints</a:t>
            </a:r>
            <a:r>
              <a:rPr lang="en-GB" dirty="0"/>
              <a:t>;</a:t>
            </a:r>
            <a:r>
              <a:rPr dirty="0"/>
              <a:t> and</a:t>
            </a:r>
          </a:p>
          <a:p>
            <a:pPr lvl="1"/>
            <a:r>
              <a:rPr lang="en-GB" dirty="0"/>
              <a:t>1x</a:t>
            </a:r>
            <a:r>
              <a:rPr dirty="0"/>
              <a:t> unscheduled </a:t>
            </a:r>
            <a:r>
              <a:rPr lang="en-GB" dirty="0"/>
              <a:t>lab information management system (LIMS) </a:t>
            </a:r>
            <a:r>
              <a:rPr dirty="0"/>
              <a:t>downtime</a:t>
            </a:r>
          </a:p>
          <a:p>
            <a:pPr marL="0" lvl="0" indent="0">
              <a:buNone/>
            </a:pPr>
            <a:endParaRPr lang="en-GB" dirty="0"/>
          </a:p>
          <a:p>
            <a:pPr marL="0" lvl="0" indent="0">
              <a:buNone/>
            </a:pPr>
            <a:r>
              <a:rPr lang="en-GB" dirty="0"/>
              <a:t>No significant </a:t>
            </a:r>
            <a:r>
              <a:rPr dirty="0"/>
              <a:t>modifications to the RAP workflow</a:t>
            </a:r>
            <a:r>
              <a:rPr lang="en-GB" dirty="0"/>
              <a:t> required throughout</a:t>
            </a:r>
            <a:endParaRPr dirty="0"/>
          </a:p>
        </p:txBody>
      </p:sp>
      <p:sp>
        <p:nvSpPr>
          <p:cNvPr id="4" name="Date Placeholder 3">
            <a:extLst>
              <a:ext uri="{FF2B5EF4-FFF2-40B4-BE49-F238E27FC236}">
                <a16:creationId xmlns:a16="http://schemas.microsoft.com/office/drawing/2014/main" id="{ABFE2CDB-0216-DB84-D9E9-B382E09BB2FF}"/>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5" name="Footer Placeholder 4">
            <a:extLst>
              <a:ext uri="{FF2B5EF4-FFF2-40B4-BE49-F238E27FC236}">
                <a16:creationId xmlns:a16="http://schemas.microsoft.com/office/drawing/2014/main" id="{84CEBAC9-F02D-EFB2-524A-1F5B6815E6E7}"/>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Interpretation</a:t>
            </a:r>
          </a:p>
        </p:txBody>
      </p:sp>
      <p:sp>
        <p:nvSpPr>
          <p:cNvPr id="3" name="Content Placeholder 2"/>
          <p:cNvSpPr>
            <a:spLocks noGrp="1"/>
          </p:cNvSpPr>
          <p:nvPr>
            <p:ph idx="1"/>
          </p:nvPr>
        </p:nvSpPr>
        <p:spPr/>
        <p:txBody>
          <a:bodyPr/>
          <a:lstStyle/>
          <a:p>
            <a:pPr marL="0" lvl="0" indent="0">
              <a:buNone/>
            </a:pPr>
            <a:r>
              <a:rPr i="1" dirty="0"/>
              <a:t>RAP-generated, patient-level feedback constitutes an effective mechanism to achieve rapid and sustained improvements in MRSA admission screening rates.</a:t>
            </a:r>
            <a:endParaRPr lang="en-GB" i="1" dirty="0"/>
          </a:p>
          <a:p>
            <a:pPr marL="0" lvl="0" indent="0">
              <a:buNone/>
            </a:pPr>
            <a:endParaRPr lang="en-GB" dirty="0"/>
          </a:p>
          <a:p>
            <a:pPr marL="0" lvl="0" indent="0">
              <a:buNone/>
            </a:pPr>
            <a:r>
              <a:rPr lang="en-GB" dirty="0"/>
              <a:t>R</a:t>
            </a:r>
            <a:r>
              <a:rPr dirty="0" err="1"/>
              <a:t>elatively</a:t>
            </a:r>
            <a:r>
              <a:rPr lang="en-GB" dirty="0"/>
              <a:t>-speaking: extremely </a:t>
            </a:r>
            <a:r>
              <a:rPr dirty="0"/>
              <a:t>resource- and time-efficient.</a:t>
            </a:r>
          </a:p>
        </p:txBody>
      </p:sp>
      <p:sp>
        <p:nvSpPr>
          <p:cNvPr id="4" name="Date Placeholder 3">
            <a:extLst>
              <a:ext uri="{FF2B5EF4-FFF2-40B4-BE49-F238E27FC236}">
                <a16:creationId xmlns:a16="http://schemas.microsoft.com/office/drawing/2014/main" id="{24F00712-C958-A670-0575-13429419E38E}"/>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5" name="Footer Placeholder 4">
            <a:extLst>
              <a:ext uri="{FF2B5EF4-FFF2-40B4-BE49-F238E27FC236}">
                <a16:creationId xmlns:a16="http://schemas.microsoft.com/office/drawing/2014/main" id="{EDC33B2F-756E-3F72-A84F-5BEE108B381B}"/>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lang="en-GB" dirty="0"/>
              <a:t>Discussion</a:t>
            </a:r>
            <a:endParaRPr dirty="0"/>
          </a:p>
        </p:txBody>
      </p:sp>
      <p:sp>
        <p:nvSpPr>
          <p:cNvPr id="3" name="Content Placeholder 2"/>
          <p:cNvSpPr>
            <a:spLocks noGrp="1"/>
          </p:cNvSpPr>
          <p:nvPr>
            <p:ph idx="1"/>
          </p:nvPr>
        </p:nvSpPr>
        <p:spPr/>
        <p:txBody>
          <a:bodyPr>
            <a:normAutofit fontScale="92500" lnSpcReduction="10000"/>
          </a:bodyPr>
          <a:lstStyle/>
          <a:p>
            <a:pPr marL="0" lvl="0" indent="0">
              <a:buNone/>
            </a:pPr>
            <a:r>
              <a:rPr dirty="0"/>
              <a:t>The relatively modest baseline compliance with MRSA admission screening compliance is not unexpected</a:t>
            </a:r>
            <a:endParaRPr lang="en-GB" dirty="0"/>
          </a:p>
          <a:p>
            <a:pPr marL="0" lvl="0" indent="0">
              <a:buNone/>
            </a:pPr>
            <a:endParaRPr dirty="0"/>
          </a:p>
          <a:p>
            <a:pPr marL="0" lvl="0" indent="0">
              <a:buNone/>
            </a:pPr>
            <a:r>
              <a:rPr dirty="0"/>
              <a:t>Published benchmarks point at varying performance levels:</a:t>
            </a:r>
          </a:p>
          <a:p>
            <a:pPr lvl="0"/>
            <a:r>
              <a:rPr dirty="0"/>
              <a:t>Swiss study, </a:t>
            </a:r>
            <a:r>
              <a:rPr b="1" dirty="0"/>
              <a:t>baseline compliance rate of 32% </a:t>
            </a:r>
            <a:r>
              <a:rPr dirty="0"/>
              <a:t>(</a:t>
            </a:r>
            <a:r>
              <a:rPr lang="en-GB" dirty="0"/>
              <a:t>Ref </a:t>
            </a:r>
            <a:r>
              <a:rPr dirty="0"/>
              <a:t>33)</a:t>
            </a:r>
          </a:p>
          <a:p>
            <a:pPr lvl="0"/>
            <a:r>
              <a:rPr dirty="0"/>
              <a:t>English study, </a:t>
            </a:r>
            <a:r>
              <a:rPr b="1" dirty="0"/>
              <a:t>only 61% of emergency admissions </a:t>
            </a:r>
            <a:r>
              <a:rPr dirty="0"/>
              <a:t>(median 67.3%), screened for MRSA (</a:t>
            </a:r>
            <a:r>
              <a:rPr lang="en-GB" dirty="0"/>
              <a:t>Ref </a:t>
            </a:r>
            <a:r>
              <a:rPr dirty="0"/>
              <a:t>34).</a:t>
            </a:r>
          </a:p>
          <a:p>
            <a:pPr lvl="0"/>
            <a:r>
              <a:rPr dirty="0"/>
              <a:t>Scottish study, </a:t>
            </a:r>
            <a:r>
              <a:rPr b="1" dirty="0"/>
              <a:t>audit data from self-selected areas, compliance of 81%</a:t>
            </a:r>
            <a:r>
              <a:rPr dirty="0"/>
              <a:t> (</a:t>
            </a:r>
            <a:r>
              <a:rPr lang="en-GB" dirty="0"/>
              <a:t>Ref </a:t>
            </a:r>
            <a:r>
              <a:rPr dirty="0"/>
              <a:t>5).</a:t>
            </a:r>
          </a:p>
        </p:txBody>
      </p:sp>
      <p:sp>
        <p:nvSpPr>
          <p:cNvPr id="4" name="Date Placeholder 3">
            <a:extLst>
              <a:ext uri="{FF2B5EF4-FFF2-40B4-BE49-F238E27FC236}">
                <a16:creationId xmlns:a16="http://schemas.microsoft.com/office/drawing/2014/main" id="{874749E0-7AEF-B75C-6229-7CFC9684126E}"/>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5" name="Footer Placeholder 4">
            <a:extLst>
              <a:ext uri="{FF2B5EF4-FFF2-40B4-BE49-F238E27FC236}">
                <a16:creationId xmlns:a16="http://schemas.microsoft.com/office/drawing/2014/main" id="{79F1F542-59BA-336B-067C-166587B4A91F}"/>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55A6C-CBC4-42C5-2095-D625612B92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71A850-454A-FC0F-C0F4-7464D69FCB61}"/>
              </a:ext>
            </a:extLst>
          </p:cNvPr>
          <p:cNvSpPr>
            <a:spLocks noGrp="1"/>
          </p:cNvSpPr>
          <p:nvPr>
            <p:ph type="title"/>
          </p:nvPr>
        </p:nvSpPr>
        <p:spPr/>
        <p:txBody>
          <a:bodyPr/>
          <a:lstStyle/>
          <a:p>
            <a:pPr marL="0" lvl="0" indent="0">
              <a:buNone/>
            </a:pPr>
            <a:r>
              <a:rPr lang="en-GB" dirty="0"/>
              <a:t>Conclusions</a:t>
            </a:r>
            <a:endParaRPr dirty="0"/>
          </a:p>
        </p:txBody>
      </p:sp>
      <p:sp>
        <p:nvSpPr>
          <p:cNvPr id="3" name="Content Placeholder 2">
            <a:extLst>
              <a:ext uri="{FF2B5EF4-FFF2-40B4-BE49-F238E27FC236}">
                <a16:creationId xmlns:a16="http://schemas.microsoft.com/office/drawing/2014/main" id="{8F7484A7-DE9D-8BFE-7356-2C4C5A8E7C6B}"/>
              </a:ext>
            </a:extLst>
          </p:cNvPr>
          <p:cNvSpPr>
            <a:spLocks noGrp="1"/>
          </p:cNvSpPr>
          <p:nvPr>
            <p:ph idx="1"/>
          </p:nvPr>
        </p:nvSpPr>
        <p:spPr>
          <a:xfrm>
            <a:off x="457200" y="1093341"/>
            <a:ext cx="6307394" cy="3394472"/>
          </a:xfrm>
        </p:spPr>
        <p:txBody>
          <a:bodyPr>
            <a:normAutofit fontScale="70000" lnSpcReduction="20000"/>
          </a:bodyPr>
          <a:lstStyle/>
          <a:p>
            <a:pPr marL="0" indent="0">
              <a:buNone/>
            </a:pPr>
            <a:r>
              <a:rPr dirty="0"/>
              <a:t>Beyond MRSA admission screening, </a:t>
            </a:r>
            <a:r>
              <a:rPr lang="en-GB" b="1" dirty="0"/>
              <a:t>RAP can be readily modified to monitor and improve </a:t>
            </a:r>
            <a:r>
              <a:rPr b="1" dirty="0"/>
              <a:t>compliance with other time-sensitive measures</a:t>
            </a:r>
            <a:r>
              <a:rPr lang="en-GB" b="1" dirty="0"/>
              <a:t>.</a:t>
            </a:r>
          </a:p>
          <a:p>
            <a:pPr marL="0" lvl="0" indent="0">
              <a:buNone/>
            </a:pPr>
            <a:endParaRPr lang="en-GB" b="1" dirty="0"/>
          </a:p>
          <a:p>
            <a:pPr marL="0" lvl="0" indent="0">
              <a:buNone/>
            </a:pPr>
            <a:r>
              <a:rPr lang="en-GB" b="1" dirty="0"/>
              <a:t>At NUTH, the RAP has been modified to…</a:t>
            </a:r>
          </a:p>
          <a:p>
            <a:pPr marL="0" indent="0">
              <a:buNone/>
            </a:pPr>
            <a:r>
              <a:rPr lang="en-GB" dirty="0"/>
              <a:t>… Identify gaps in lipid disorder management &amp; improve genetic screening for inherited rare disorders; and</a:t>
            </a:r>
          </a:p>
          <a:p>
            <a:pPr marL="0" indent="0">
              <a:buNone/>
            </a:pPr>
            <a:r>
              <a:rPr lang="en-GB" dirty="0"/>
              <a:t>… Link antimicrobial resistance (AMR) data with inpatient antimicrobial prescriptions; and</a:t>
            </a:r>
          </a:p>
          <a:p>
            <a:pPr marL="0" indent="0">
              <a:buNone/>
            </a:pPr>
            <a:r>
              <a:rPr lang="en-GB" dirty="0"/>
              <a:t>… Support pharmacogenetics interventions; and</a:t>
            </a:r>
          </a:p>
          <a:p>
            <a:pPr marL="0" indent="0">
              <a:buNone/>
            </a:pPr>
            <a:r>
              <a:rPr lang="en-GB" dirty="0"/>
              <a:t>… Identify penicillin allergy </a:t>
            </a:r>
            <a:r>
              <a:rPr lang="en-GB" dirty="0" err="1"/>
              <a:t>delabelling</a:t>
            </a:r>
            <a:r>
              <a:rPr lang="en-GB" dirty="0"/>
              <a:t> opportunities; and</a:t>
            </a:r>
          </a:p>
          <a:p>
            <a:pPr marL="0" indent="0">
              <a:buNone/>
            </a:pPr>
            <a:r>
              <a:rPr lang="en-GB" dirty="0"/>
              <a:t>… (and shortly also) improve recruitment to clinical trials for patients with bronchiectasis and COPD</a:t>
            </a:r>
          </a:p>
          <a:p>
            <a:pPr marL="0" indent="0">
              <a:buNone/>
            </a:pPr>
            <a:endParaRPr lang="en-GB" dirty="0"/>
          </a:p>
          <a:p>
            <a:pPr marL="0" lvl="0" indent="0">
              <a:buNone/>
            </a:pPr>
            <a:endParaRPr lang="en-GB" dirty="0"/>
          </a:p>
          <a:p>
            <a:pPr marL="0" lvl="0" indent="0">
              <a:buNone/>
            </a:pPr>
            <a:endParaRPr lang="en-GB" dirty="0"/>
          </a:p>
          <a:p>
            <a:pPr marL="0" indent="0">
              <a:buNone/>
            </a:pPr>
            <a:endParaRPr lang="en-GB" dirty="0"/>
          </a:p>
        </p:txBody>
      </p:sp>
      <p:sp>
        <p:nvSpPr>
          <p:cNvPr id="4" name="Date Placeholder 3">
            <a:extLst>
              <a:ext uri="{FF2B5EF4-FFF2-40B4-BE49-F238E27FC236}">
                <a16:creationId xmlns:a16="http://schemas.microsoft.com/office/drawing/2014/main" id="{4C22B263-1A25-B6B4-D321-8B432D2E0A12}"/>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5" name="Footer Placeholder 4">
            <a:extLst>
              <a:ext uri="{FF2B5EF4-FFF2-40B4-BE49-F238E27FC236}">
                <a16:creationId xmlns:a16="http://schemas.microsoft.com/office/drawing/2014/main" id="{426690C0-65FA-974F-2DA6-F22BD801F5A8}"/>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pic>
        <p:nvPicPr>
          <p:cNvPr id="6" name="Picture 2" descr="README">
            <a:extLst>
              <a:ext uri="{FF2B5EF4-FFF2-40B4-BE49-F238E27FC236}">
                <a16:creationId xmlns:a16="http://schemas.microsoft.com/office/drawing/2014/main" id="{1AAE52BC-5693-A8A6-68E9-F76601EFB7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7133" y="1889141"/>
            <a:ext cx="1990725" cy="230505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84EDBFD3-6BA6-F91E-CEA6-4460C754DDF7}"/>
              </a:ext>
            </a:extLst>
          </p:cNvPr>
          <p:cNvPicPr>
            <a:picLocks noChangeAspect="1"/>
          </p:cNvPicPr>
          <p:nvPr/>
        </p:nvPicPr>
        <p:blipFill>
          <a:blip r:embed="rId3"/>
          <a:stretch>
            <a:fillRect/>
          </a:stretch>
        </p:blipFill>
        <p:spPr>
          <a:xfrm>
            <a:off x="7147892" y="275812"/>
            <a:ext cx="1426264" cy="1426264"/>
          </a:xfrm>
          <a:prstGeom prst="rect">
            <a:avLst/>
          </a:prstGeom>
        </p:spPr>
      </p:pic>
    </p:spTree>
    <p:extLst>
      <p:ext uri="{BB962C8B-B14F-4D97-AF65-F5344CB8AC3E}">
        <p14:creationId xmlns:p14="http://schemas.microsoft.com/office/powerpoint/2010/main" val="14438399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55047-597E-B951-5E30-03497633F2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B1963F-DF88-116A-AA13-16A1E4B5A09D}"/>
              </a:ext>
            </a:extLst>
          </p:cNvPr>
          <p:cNvSpPr>
            <a:spLocks noGrp="1"/>
          </p:cNvSpPr>
          <p:nvPr>
            <p:ph type="title"/>
          </p:nvPr>
        </p:nvSpPr>
        <p:spPr/>
        <p:txBody>
          <a:bodyPr/>
          <a:lstStyle/>
          <a:p>
            <a:pPr marL="0" lvl="0" indent="0">
              <a:buNone/>
            </a:pPr>
            <a:r>
              <a:rPr lang="en-GB" dirty="0"/>
              <a:t>Recommendations</a:t>
            </a:r>
            <a:endParaRPr dirty="0"/>
          </a:p>
        </p:txBody>
      </p:sp>
      <p:sp>
        <p:nvSpPr>
          <p:cNvPr id="3" name="Content Placeholder 2">
            <a:extLst>
              <a:ext uri="{FF2B5EF4-FFF2-40B4-BE49-F238E27FC236}">
                <a16:creationId xmlns:a16="http://schemas.microsoft.com/office/drawing/2014/main" id="{DDD2D979-6BEC-804E-D856-7A8F5AF7F956}"/>
              </a:ext>
            </a:extLst>
          </p:cNvPr>
          <p:cNvSpPr>
            <a:spLocks noGrp="1"/>
          </p:cNvSpPr>
          <p:nvPr>
            <p:ph idx="1"/>
          </p:nvPr>
        </p:nvSpPr>
        <p:spPr>
          <a:xfrm>
            <a:off x="457200" y="1093341"/>
            <a:ext cx="6307394" cy="3394472"/>
          </a:xfrm>
        </p:spPr>
        <p:txBody>
          <a:bodyPr>
            <a:normAutofit lnSpcReduction="10000"/>
          </a:bodyPr>
          <a:lstStyle/>
          <a:p>
            <a:pPr marL="0" lvl="0" indent="0">
              <a:buNone/>
            </a:pPr>
            <a:r>
              <a:rPr lang="en-GB" dirty="0"/>
              <a:t>Investing in RAP </a:t>
            </a:r>
            <a:r>
              <a:rPr dirty="0"/>
              <a:t>represents a </a:t>
            </a:r>
            <a:r>
              <a:rPr b="1" dirty="0"/>
              <a:t>strategic opportunity </a:t>
            </a:r>
            <a:r>
              <a:rPr dirty="0"/>
              <a:t>for healthcare </a:t>
            </a:r>
            <a:r>
              <a:rPr dirty="0" err="1"/>
              <a:t>organisations</a:t>
            </a:r>
            <a:r>
              <a:rPr dirty="0"/>
              <a:t> committed to embedding evidence-based practices.</a:t>
            </a:r>
            <a:endParaRPr lang="en-GB" dirty="0"/>
          </a:p>
          <a:p>
            <a:pPr marL="0" indent="0">
              <a:buNone/>
            </a:pPr>
            <a:endParaRPr lang="en-GB" dirty="0"/>
          </a:p>
          <a:p>
            <a:pPr marL="0" lvl="0" indent="0">
              <a:buNone/>
            </a:pPr>
            <a:r>
              <a:rPr lang="en-GB" dirty="0"/>
              <a:t>RAP should be </a:t>
            </a:r>
            <a:r>
              <a:rPr lang="en-GB" b="1" dirty="0"/>
              <a:t>further scaled across organisations to achieve </a:t>
            </a:r>
            <a:r>
              <a:rPr b="1" dirty="0"/>
              <a:t>sustained, system-wide improvement </a:t>
            </a:r>
            <a:r>
              <a:rPr dirty="0"/>
              <a:t>in multiple dimensions of healthcare safety and quality.</a:t>
            </a:r>
            <a:endParaRPr lang="en-GB" dirty="0"/>
          </a:p>
          <a:p>
            <a:pPr marL="0" indent="0">
              <a:buNone/>
            </a:pPr>
            <a:endParaRPr lang="en-GB" dirty="0"/>
          </a:p>
        </p:txBody>
      </p:sp>
      <p:sp>
        <p:nvSpPr>
          <p:cNvPr id="4" name="Date Placeholder 3">
            <a:extLst>
              <a:ext uri="{FF2B5EF4-FFF2-40B4-BE49-F238E27FC236}">
                <a16:creationId xmlns:a16="http://schemas.microsoft.com/office/drawing/2014/main" id="{4F32E116-D633-D3DC-E89D-EE72DBF7A0E8}"/>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5" name="Footer Placeholder 4">
            <a:extLst>
              <a:ext uri="{FF2B5EF4-FFF2-40B4-BE49-F238E27FC236}">
                <a16:creationId xmlns:a16="http://schemas.microsoft.com/office/drawing/2014/main" id="{93200FDB-9FF8-B752-FC24-1E086740FBA9}"/>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pic>
        <p:nvPicPr>
          <p:cNvPr id="6" name="Picture 2" descr="README">
            <a:extLst>
              <a:ext uri="{FF2B5EF4-FFF2-40B4-BE49-F238E27FC236}">
                <a16:creationId xmlns:a16="http://schemas.microsoft.com/office/drawing/2014/main" id="{54DC52DB-462C-D94B-4A54-439C214F78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7133" y="1889141"/>
            <a:ext cx="1990725" cy="230505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641C0549-2934-FC00-E9A7-48AF7C257D3D}"/>
              </a:ext>
            </a:extLst>
          </p:cNvPr>
          <p:cNvPicPr>
            <a:picLocks noChangeAspect="1"/>
          </p:cNvPicPr>
          <p:nvPr/>
        </p:nvPicPr>
        <p:blipFill>
          <a:blip r:embed="rId3"/>
          <a:stretch>
            <a:fillRect/>
          </a:stretch>
        </p:blipFill>
        <p:spPr>
          <a:xfrm>
            <a:off x="7147892" y="275812"/>
            <a:ext cx="1426264" cy="1426264"/>
          </a:xfrm>
          <a:prstGeom prst="rect">
            <a:avLst/>
          </a:prstGeom>
        </p:spPr>
      </p:pic>
    </p:spTree>
    <p:extLst>
      <p:ext uri="{BB962C8B-B14F-4D97-AF65-F5344CB8AC3E}">
        <p14:creationId xmlns:p14="http://schemas.microsoft.com/office/powerpoint/2010/main" val="11824031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1935" y="256581"/>
            <a:ext cx="6120581" cy="857250"/>
          </a:xfrm>
        </p:spPr>
        <p:txBody>
          <a:bodyPr>
            <a:normAutofit fontScale="90000"/>
          </a:bodyPr>
          <a:lstStyle/>
          <a:p>
            <a:r>
              <a:rPr lang="en-GB" dirty="0"/>
              <a:t>This work has been submitted for publication in peer-reviewed journal</a:t>
            </a:r>
          </a:p>
        </p:txBody>
      </p:sp>
      <p:sp>
        <p:nvSpPr>
          <p:cNvPr id="4" name="Date Placeholder 3">
            <a:extLst>
              <a:ext uri="{FF2B5EF4-FFF2-40B4-BE49-F238E27FC236}">
                <a16:creationId xmlns:a16="http://schemas.microsoft.com/office/drawing/2014/main" id="{D679F355-D4B2-1086-585C-8DF5B930F736}"/>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5" name="Footer Placeholder 4">
            <a:extLst>
              <a:ext uri="{FF2B5EF4-FFF2-40B4-BE49-F238E27FC236}">
                <a16:creationId xmlns:a16="http://schemas.microsoft.com/office/drawing/2014/main" id="{F12C0D8D-902C-2CC4-792C-B0CF00B475AE}"/>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pic>
        <p:nvPicPr>
          <p:cNvPr id="7" name="Picture 6">
            <a:extLst>
              <a:ext uri="{FF2B5EF4-FFF2-40B4-BE49-F238E27FC236}">
                <a16:creationId xmlns:a16="http://schemas.microsoft.com/office/drawing/2014/main" id="{07F08DC2-047F-5C78-EC7B-4567794FA245}"/>
              </a:ext>
            </a:extLst>
          </p:cNvPr>
          <p:cNvPicPr>
            <a:picLocks noChangeAspect="1"/>
          </p:cNvPicPr>
          <p:nvPr/>
        </p:nvPicPr>
        <p:blipFill>
          <a:blip r:embed="rId2"/>
          <a:stretch>
            <a:fillRect/>
          </a:stretch>
        </p:blipFill>
        <p:spPr>
          <a:xfrm>
            <a:off x="2696817" y="2392815"/>
            <a:ext cx="5393635" cy="1794093"/>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907EAE50-C5E6-D47A-7673-3D5D3D30338F}"/>
                  </a:ext>
                </a:extLst>
              </p14:cNvPr>
              <p14:cNvContentPartPr/>
              <p14:nvPr/>
            </p14:nvContentPartPr>
            <p14:xfrm>
              <a:off x="5054971" y="3335661"/>
              <a:ext cx="604440" cy="464400"/>
            </p14:xfrm>
          </p:contentPart>
        </mc:Choice>
        <mc:Fallback xmlns="">
          <p:pic>
            <p:nvPicPr>
              <p:cNvPr id="6" name="Ink 5">
                <a:extLst>
                  <a:ext uri="{FF2B5EF4-FFF2-40B4-BE49-F238E27FC236}">
                    <a16:creationId xmlns:a16="http://schemas.microsoft.com/office/drawing/2014/main" id="{907EAE50-C5E6-D47A-7673-3D5D3D30338F}"/>
                  </a:ext>
                </a:extLst>
              </p:cNvPr>
              <p:cNvPicPr/>
              <p:nvPr/>
            </p:nvPicPr>
            <p:blipFill>
              <a:blip r:embed="rId4"/>
              <a:stretch>
                <a:fillRect/>
              </a:stretch>
            </p:blipFill>
            <p:spPr>
              <a:xfrm>
                <a:off x="5048851" y="3329541"/>
                <a:ext cx="616680" cy="476640"/>
              </a:xfrm>
              <a:prstGeom prst="rect">
                <a:avLst/>
              </a:prstGeom>
            </p:spPr>
          </p:pic>
        </mc:Fallback>
      </mc:AlternateContent>
      <p:sp>
        <p:nvSpPr>
          <p:cNvPr id="8" name="Content Placeholder 2">
            <a:extLst>
              <a:ext uri="{FF2B5EF4-FFF2-40B4-BE49-F238E27FC236}">
                <a16:creationId xmlns:a16="http://schemas.microsoft.com/office/drawing/2014/main" id="{7B28F083-31FF-0FF6-33A4-41F96333752E}"/>
              </a:ext>
            </a:extLst>
          </p:cNvPr>
          <p:cNvSpPr>
            <a:spLocks noGrp="1"/>
          </p:cNvSpPr>
          <p:nvPr>
            <p:ph idx="1"/>
          </p:nvPr>
        </p:nvSpPr>
        <p:spPr>
          <a:xfrm>
            <a:off x="563217" y="2336525"/>
            <a:ext cx="1763973" cy="1463536"/>
          </a:xfrm>
        </p:spPr>
        <p:txBody>
          <a:bodyPr>
            <a:normAutofit/>
          </a:bodyPr>
          <a:lstStyle/>
          <a:p>
            <a:pPr marL="0" indent="0">
              <a:buNone/>
            </a:pPr>
            <a:endParaRPr lang="en-GB" sz="1400" dirty="0"/>
          </a:p>
          <a:p>
            <a:pPr marL="0" indent="0">
              <a:buNone/>
            </a:pPr>
            <a:r>
              <a:rPr lang="en-GB" sz="1400" dirty="0"/>
              <a:t>There are very few peer-reviewed publications on RAP </a:t>
            </a:r>
          </a:p>
          <a:p>
            <a:pPr marL="0" indent="0">
              <a:buNone/>
            </a:pPr>
            <a:r>
              <a:rPr lang="en-GB" sz="1400" dirty="0"/>
              <a:t>(n = 5 in Nov 2025)</a:t>
            </a:r>
          </a:p>
          <a:p>
            <a:pPr marL="0" indent="0">
              <a:buNone/>
            </a:pPr>
            <a:endParaRPr lang="en-GB" sz="1400" dirty="0"/>
          </a:p>
          <a:p>
            <a:pPr marL="0" indent="0">
              <a:buNone/>
            </a:pPr>
            <a:endParaRPr lang="en-GB" sz="1400" dirty="0"/>
          </a:p>
          <a:p>
            <a:pPr marL="0" indent="0">
              <a:buNone/>
            </a:pPr>
            <a:endParaRPr lang="en-GB" sz="1400" dirty="0"/>
          </a:p>
          <a:p>
            <a:pPr marL="0" indent="0">
              <a:buNone/>
            </a:pPr>
            <a:endParaRPr lang="en-GB" sz="1400" dirty="0"/>
          </a:p>
          <a:p>
            <a:pPr marL="0" indent="0">
              <a:buNone/>
            </a:pPr>
            <a:endParaRPr lang="en-GB" sz="1400" dirty="0"/>
          </a:p>
          <a:p>
            <a:pPr marL="0" indent="0">
              <a:buNone/>
            </a:pPr>
            <a:endParaRPr lang="en-GB" sz="1400" dirty="0"/>
          </a:p>
          <a:p>
            <a:pPr marL="0" indent="0">
              <a:buNone/>
            </a:pPr>
            <a:endParaRPr lang="en-GB" sz="1400" b="1" dirty="0"/>
          </a:p>
          <a:p>
            <a:pPr marL="0" indent="0">
              <a:buNone/>
            </a:pPr>
            <a:endParaRPr lang="en-GB" sz="1400" dirty="0"/>
          </a:p>
          <a:p>
            <a:pPr marL="0" indent="0">
              <a:buNone/>
            </a:pPr>
            <a:endParaRPr lang="en-GB" sz="1400" dirty="0"/>
          </a:p>
        </p:txBody>
      </p:sp>
      <p:sp>
        <p:nvSpPr>
          <p:cNvPr id="9" name="Content Placeholder 2">
            <a:extLst>
              <a:ext uri="{FF2B5EF4-FFF2-40B4-BE49-F238E27FC236}">
                <a16:creationId xmlns:a16="http://schemas.microsoft.com/office/drawing/2014/main" id="{5121BA07-8DB7-C507-29C8-8F77F5230276}"/>
              </a:ext>
            </a:extLst>
          </p:cNvPr>
          <p:cNvSpPr txBox="1">
            <a:spLocks/>
          </p:cNvSpPr>
          <p:nvPr/>
        </p:nvSpPr>
        <p:spPr>
          <a:xfrm>
            <a:off x="536712" y="1365231"/>
            <a:ext cx="3269975" cy="1463536"/>
          </a:xfrm>
          <a:prstGeom prst="rect">
            <a:avLst/>
          </a:prstGeom>
        </p:spPr>
        <p:txBody>
          <a:bodyPr vert="horz" lIns="91440" tIns="45720" rIns="91440" bIns="45720" rtlCol="0">
            <a:normAutofit/>
          </a:bodyPr>
          <a:lst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buFont typeface="Arial"/>
              <a:buNone/>
            </a:pPr>
            <a:endParaRPr lang="en-GB" sz="1400" dirty="0"/>
          </a:p>
          <a:p>
            <a:pPr marL="0" indent="0">
              <a:buFont typeface="Arial"/>
              <a:buNone/>
            </a:pPr>
            <a:r>
              <a:rPr lang="en-GB" sz="1400" dirty="0"/>
              <a:t>Preprint available on </a:t>
            </a:r>
            <a:r>
              <a:rPr lang="en-GB" sz="1400" dirty="0" err="1"/>
              <a:t>Zenodo</a:t>
            </a:r>
            <a:r>
              <a:rPr lang="en-GB" sz="1400" dirty="0"/>
              <a:t>:</a:t>
            </a:r>
          </a:p>
          <a:p>
            <a:pPr marL="0" indent="0">
              <a:buNone/>
            </a:pPr>
            <a:r>
              <a:rPr lang="en-GB" sz="1400" dirty="0">
                <a:hlinkClick r:id="rId5"/>
              </a:rPr>
              <a:t>https://zenodo.org/records/18468788</a:t>
            </a:r>
            <a:r>
              <a:rPr lang="en-GB" sz="1400" dirty="0"/>
              <a:t> </a:t>
            </a:r>
          </a:p>
          <a:p>
            <a:pPr marL="0" indent="0">
              <a:buFont typeface="Arial"/>
              <a:buNone/>
            </a:pPr>
            <a:endParaRPr lang="en-GB" sz="1400" dirty="0"/>
          </a:p>
          <a:p>
            <a:pPr marL="0" indent="0">
              <a:buFont typeface="Arial"/>
              <a:buNone/>
            </a:pPr>
            <a:endParaRPr lang="en-GB" sz="1400" dirty="0"/>
          </a:p>
          <a:p>
            <a:pPr marL="0" indent="0">
              <a:buFont typeface="Arial"/>
              <a:buNone/>
            </a:pPr>
            <a:endParaRPr lang="en-GB" sz="1400" b="1" dirty="0"/>
          </a:p>
          <a:p>
            <a:pPr marL="0" indent="0">
              <a:buFont typeface="Arial"/>
              <a:buNone/>
            </a:pPr>
            <a:endParaRPr lang="en-GB" sz="1400" dirty="0"/>
          </a:p>
          <a:p>
            <a:pPr marL="0" indent="0">
              <a:buFont typeface="Arial"/>
              <a:buNone/>
            </a:pPr>
            <a:endParaRPr lang="en-GB"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541886"/>
          </a:xfrm>
        </p:spPr>
        <p:txBody>
          <a:bodyPr>
            <a:normAutofit fontScale="90000"/>
          </a:bodyPr>
          <a:lstStyle/>
          <a:p>
            <a:pPr marL="0" lvl="0" indent="0">
              <a:buNone/>
            </a:pPr>
            <a:r>
              <a:rPr dirty="0"/>
              <a:t>Thanks for listening</a:t>
            </a:r>
            <a:r>
              <a:rPr lang="en-GB" dirty="0"/>
              <a:t>!</a:t>
            </a:r>
            <a:endParaRPr dirty="0"/>
          </a:p>
        </p:txBody>
      </p:sp>
      <p:sp>
        <p:nvSpPr>
          <p:cNvPr id="3" name="Content Placeholder 2"/>
          <p:cNvSpPr>
            <a:spLocks noGrp="1"/>
          </p:cNvSpPr>
          <p:nvPr>
            <p:ph sz="half" idx="1"/>
          </p:nvPr>
        </p:nvSpPr>
        <p:spPr>
          <a:xfrm>
            <a:off x="457199" y="747865"/>
            <a:ext cx="8096866" cy="3194868"/>
          </a:xfrm>
        </p:spPr>
        <p:txBody>
          <a:bodyPr>
            <a:normAutofit/>
          </a:bodyPr>
          <a:lstStyle/>
          <a:p>
            <a:pPr marL="0" indent="0">
              <a:buNone/>
            </a:pPr>
            <a:r>
              <a:rPr lang="en-GB" dirty="0"/>
              <a:t>Daniel Weiand; Paul Bradley; Caroline Cullerton; Geoff Dines; </a:t>
            </a:r>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r>
              <a:rPr lang="en-GB" dirty="0"/>
              <a:t>Joanne Field; Peta Le Roux; Jamie Lupton; Julie Samuel; Chris Plummer</a:t>
            </a:r>
          </a:p>
          <a:p>
            <a:pPr marL="0" lvl="0" indent="0">
              <a:buNone/>
            </a:pPr>
            <a:endParaRPr dirty="0">
              <a:hlinkClick r:id="rId2"/>
            </a:endParaRPr>
          </a:p>
        </p:txBody>
      </p:sp>
      <p:sp>
        <p:nvSpPr>
          <p:cNvPr id="11" name="Date Placeholder 3">
            <a:extLst>
              <a:ext uri="{FF2B5EF4-FFF2-40B4-BE49-F238E27FC236}">
                <a16:creationId xmlns:a16="http://schemas.microsoft.com/office/drawing/2014/main" id="{56B459C2-3F71-0BC5-9C1D-4BFE947AD9E4}"/>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pic>
        <p:nvPicPr>
          <p:cNvPr id="14340" name="Picture 4">
            <a:extLst>
              <a:ext uri="{FF2B5EF4-FFF2-40B4-BE49-F238E27FC236}">
                <a16:creationId xmlns:a16="http://schemas.microsoft.com/office/drawing/2014/main" id="{0786C338-20C2-6502-C3D5-0FA25326EF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5475" y="1251083"/>
            <a:ext cx="108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4342" name="Picture 6">
            <a:extLst>
              <a:ext uri="{FF2B5EF4-FFF2-40B4-BE49-F238E27FC236}">
                <a16:creationId xmlns:a16="http://schemas.microsoft.com/office/drawing/2014/main" id="{0959511A-41E7-C6B5-E60E-B02926925B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0294" y="1249255"/>
            <a:ext cx="108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D4BE2BF8-35AA-1A1C-F4FE-AEFCFE977EC7}"/>
              </a:ext>
            </a:extLst>
          </p:cNvPr>
          <p:cNvPicPr>
            <a:picLocks noChangeAspect="1"/>
          </p:cNvPicPr>
          <p:nvPr/>
        </p:nvPicPr>
        <p:blipFill>
          <a:blip r:embed="rId5"/>
          <a:srcRect t="6443" b="6443"/>
          <a:stretch>
            <a:fillRect/>
          </a:stretch>
        </p:blipFill>
        <p:spPr>
          <a:xfrm>
            <a:off x="905475" y="1239423"/>
            <a:ext cx="1080000" cy="1440000"/>
          </a:xfrm>
          <a:prstGeom prst="rect">
            <a:avLst/>
          </a:prstGeom>
        </p:spPr>
      </p:pic>
      <p:pic>
        <p:nvPicPr>
          <p:cNvPr id="14344" name="Picture 8">
            <a:extLst>
              <a:ext uri="{FF2B5EF4-FFF2-40B4-BE49-F238E27FC236}">
                <a16:creationId xmlns:a16="http://schemas.microsoft.com/office/drawing/2014/main" id="{32EF090C-3C38-9941-6126-8DFE1CC86B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5475" y="3093778"/>
            <a:ext cx="108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4346" name="Picture 10">
            <a:extLst>
              <a:ext uri="{FF2B5EF4-FFF2-40B4-BE49-F238E27FC236}">
                <a16:creationId xmlns:a16="http://schemas.microsoft.com/office/drawing/2014/main" id="{5175742F-4115-8926-C210-5FB184BCFF7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58470" y="3093778"/>
            <a:ext cx="108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4348" name="Picture 12">
            <a:extLst>
              <a:ext uri="{FF2B5EF4-FFF2-40B4-BE49-F238E27FC236}">
                <a16:creationId xmlns:a16="http://schemas.microsoft.com/office/drawing/2014/main" id="{7B61300C-CF7B-3348-D444-725EE32963A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38470" y="3093778"/>
            <a:ext cx="108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4352" name="Picture 16">
            <a:extLst>
              <a:ext uri="{FF2B5EF4-FFF2-40B4-BE49-F238E27FC236}">
                <a16:creationId xmlns:a16="http://schemas.microsoft.com/office/drawing/2014/main" id="{128304EB-5620-E3A2-950C-576E535A4DF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08641" y="3093778"/>
            <a:ext cx="108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4354" name="Picture 18">
            <a:extLst>
              <a:ext uri="{FF2B5EF4-FFF2-40B4-BE49-F238E27FC236}">
                <a16:creationId xmlns:a16="http://schemas.microsoft.com/office/drawing/2014/main" id="{E2F2E3C8-21C4-566B-520D-B96FD97AD13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88641" y="3099977"/>
            <a:ext cx="108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4356" name="Picture 20">
            <a:extLst>
              <a:ext uri="{FF2B5EF4-FFF2-40B4-BE49-F238E27FC236}">
                <a16:creationId xmlns:a16="http://schemas.microsoft.com/office/drawing/2014/main" id="{5E80F64D-35AD-D3CA-1F61-C82385BB6A8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50293" y="1249255"/>
            <a:ext cx="1079999" cy="14399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76B0A36-FDD1-E4EC-7176-754BFE9B8064}"/>
              </a:ext>
            </a:extLst>
          </p:cNvPr>
          <p:cNvSpPr txBox="1"/>
          <p:nvPr/>
        </p:nvSpPr>
        <p:spPr>
          <a:xfrm>
            <a:off x="699051" y="586591"/>
            <a:ext cx="7729331" cy="3139321"/>
          </a:xfrm>
          <a:prstGeom prst="rect">
            <a:avLst/>
          </a:prstGeom>
          <a:noFill/>
        </p:spPr>
        <p:txBody>
          <a:bodyPr wrap="square">
            <a:spAutoFit/>
          </a:bodyPr>
          <a:lstStyle/>
          <a:p>
            <a:r>
              <a:rPr lang="en-GB" b="1" dirty="0"/>
              <a:t>Funding</a:t>
            </a:r>
          </a:p>
          <a:p>
            <a:endParaRPr lang="en-GB" dirty="0"/>
          </a:p>
          <a:p>
            <a:r>
              <a:rPr lang="en-GB" dirty="0"/>
              <a:t>The NIHR Newcastle Biomedical Research Centre (BRC) is a partnership between Newcastle Hospitals NHS Foundation Trust, Newcastle University, and Cumbria, Northumberland and Tyne and Wear NHS Foundation Trust and is funded by the National Institute for Health and Care Research (NIHR). </a:t>
            </a:r>
          </a:p>
          <a:p>
            <a:endParaRPr lang="en-GB" dirty="0"/>
          </a:p>
          <a:p>
            <a:r>
              <a:rPr lang="en-GB" dirty="0"/>
              <a:t>This presentation includes details of independent research supported by the NIHR Newcastle Biomedical Research Centre (BRC). The views expressed are those of the author(s) and not necessarily those of the NIHR or the Department of Health and Social Care.</a:t>
            </a:r>
          </a:p>
        </p:txBody>
      </p:sp>
    </p:spTree>
    <p:extLst>
      <p:ext uri="{BB962C8B-B14F-4D97-AF65-F5344CB8AC3E}">
        <p14:creationId xmlns:p14="http://schemas.microsoft.com/office/powerpoint/2010/main" val="36104486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References</a:t>
            </a:r>
            <a:r>
              <a:rPr lang="en-GB" dirty="0"/>
              <a:t> (1)</a:t>
            </a:r>
            <a:endParaRPr dirty="0"/>
          </a:p>
        </p:txBody>
      </p:sp>
      <p:sp>
        <p:nvSpPr>
          <p:cNvPr id="3" name="Content Placeholder 2"/>
          <p:cNvSpPr>
            <a:spLocks noGrp="1"/>
          </p:cNvSpPr>
          <p:nvPr>
            <p:ph idx="1"/>
          </p:nvPr>
        </p:nvSpPr>
        <p:spPr/>
        <p:txBody>
          <a:bodyPr>
            <a:normAutofit fontScale="92500" lnSpcReduction="10000"/>
          </a:bodyPr>
          <a:lstStyle/>
          <a:p>
            <a:pPr marL="0" lvl="0" indent="0">
              <a:buNone/>
            </a:pPr>
            <a:r>
              <a:rPr sz="800" dirty="0"/>
              <a:t>1. Siegel JD, Rhinehart E, Jackson M, Chiarello L. 2007 guideline for isolation precautions: Preventing transmission of infectious agents in health care settings. American Journal of Infection Control [Internet]. 2007 Dec;35(10):S65–164. Available from: </a:t>
            </a:r>
            <a:r>
              <a:rPr sz="800" dirty="0">
                <a:hlinkClick r:id="rId2"/>
              </a:rPr>
              <a:t>http://dx.doi.org/10.1016/j.ajic.2007.10.007</a:t>
            </a:r>
          </a:p>
          <a:p>
            <a:pPr marL="0" lvl="0" indent="0">
              <a:buNone/>
            </a:pPr>
            <a:r>
              <a:rPr sz="800" dirty="0"/>
              <a:t>2. NHS England. Delivering a </a:t>
            </a:r>
            <a:r>
              <a:rPr sz="800" dirty="0" err="1"/>
              <a:t>standardised</a:t>
            </a:r>
            <a:r>
              <a:rPr sz="800" dirty="0"/>
              <a:t> approach to screening for MRSA [Internet]. 2025. Available from: </a:t>
            </a:r>
            <a:r>
              <a:rPr sz="800" dirty="0">
                <a:hlinkClick r:id="rId3"/>
              </a:rPr>
              <a:t>https://gettingitrightfirsttime.co.uk/delivering-a-standardised-approach-to-screening-for-mrsa/</a:t>
            </a:r>
          </a:p>
          <a:p>
            <a:pPr marL="0" lvl="0" indent="0">
              <a:buNone/>
            </a:pPr>
            <a:r>
              <a:rPr sz="800" dirty="0"/>
              <a:t>3. Dickmann P, Keeping S, Döring N, Schmidt AE, Binder C, </a:t>
            </a:r>
            <a:r>
              <a:rPr sz="800" dirty="0" err="1"/>
              <a:t>Ariño</a:t>
            </a:r>
            <a:r>
              <a:rPr sz="800" dirty="0"/>
              <a:t>-Blasco S, et al. Communicating the risk of MRSA: The role of clinical practice, regulation and other policies in five </a:t>
            </a:r>
            <a:r>
              <a:rPr sz="800" dirty="0" err="1"/>
              <a:t>european</a:t>
            </a:r>
            <a:r>
              <a:rPr sz="800" dirty="0"/>
              <a:t> countries. Frontiers in Public Health [Internet]. 2017 Mar;5. Available from: </a:t>
            </a:r>
            <a:r>
              <a:rPr sz="800" dirty="0">
                <a:hlinkClick r:id="rId4"/>
              </a:rPr>
              <a:t>http://dx.doi.org/10.3389/fpubh.2017.00044</a:t>
            </a:r>
          </a:p>
          <a:p>
            <a:pPr marL="0" lvl="0" indent="0">
              <a:buNone/>
            </a:pPr>
            <a:r>
              <a:rPr sz="800" dirty="0"/>
              <a:t>4. Coia JE, Duckworth GJ, Edwards DI, Farrington M, Fry C, Humphreys H, et al. Guidelines for the control and prevention of </a:t>
            </a:r>
            <a:r>
              <a:rPr sz="800" dirty="0" err="1"/>
              <a:t>meticillin</a:t>
            </a:r>
            <a:r>
              <a:rPr sz="800" dirty="0"/>
              <a:t>-resistant staphylococcus aureus (MRSA) in healthcare facilities. Journal of Hospital Infection [Internet]. 2006 May;63:S1–44. Available from: </a:t>
            </a:r>
            <a:r>
              <a:rPr sz="800" dirty="0">
                <a:hlinkClick r:id="rId5"/>
              </a:rPr>
              <a:t>http://dx.doi.org/10.1016/j.jhin.2006.01.001</a:t>
            </a:r>
          </a:p>
          <a:p>
            <a:pPr marL="0" lvl="0" indent="0">
              <a:buNone/>
            </a:pPr>
            <a:r>
              <a:rPr sz="800" dirty="0"/>
              <a:t>5. Currie K, King C, McAloney-Kocaman K, Roberts NJ, MacDonald J, Dickson A, et al. Barriers and enablers to </a:t>
            </a:r>
            <a:r>
              <a:rPr sz="800" dirty="0" err="1"/>
              <a:t>meticillin</a:t>
            </a:r>
            <a:r>
              <a:rPr sz="800" dirty="0"/>
              <a:t>-resistant staphylococcus aureus admission screening in hospitals: A mixed-methods study. Journal of Hospital Infection [Internet]. 2019 Jan;101(1):100–8. Available from: </a:t>
            </a:r>
            <a:r>
              <a:rPr sz="800" dirty="0">
                <a:hlinkClick r:id="rId6"/>
              </a:rPr>
              <a:t>http://dx.doi.org/10.1016/j.jhin.2018.08.006</a:t>
            </a:r>
          </a:p>
          <a:p>
            <a:pPr marL="0" lvl="0" indent="0">
              <a:buNone/>
            </a:pPr>
            <a:r>
              <a:rPr sz="800" dirty="0"/>
              <a:t>6. Department of Health. Implementation of modified admission MRSA screening guidance for NHS [Internet]. 2014. Available from: </a:t>
            </a:r>
            <a:r>
              <a:rPr sz="800" dirty="0">
                <a:hlinkClick r:id="rId7"/>
              </a:rPr>
              <a:t>https://assets.publishing.service.gov.uk/government/uploads/system/uploads/attachment_data/file/345144/Implementation_of_modified_admission_MRSA_screening_guidance_for_NHS.pdf</a:t>
            </a:r>
          </a:p>
          <a:p>
            <a:pPr marL="0" lvl="0" indent="0">
              <a:buNone/>
            </a:pPr>
            <a:r>
              <a:rPr sz="800" dirty="0"/>
              <a:t>7. NHS England. GIRFT guide to preoperative testing: Adult MRSA screening and suppression/eradication prophylaxis for patients who are on an elective surgical pathway [Internet]. 2025. Available from: </a:t>
            </a:r>
            <a:r>
              <a:rPr sz="800" dirty="0">
                <a:hlinkClick r:id="rId8"/>
              </a:rPr>
              <a:t>https://gettingitrightfirsttime.co.uk/wp-content/uploads/2025/05/GIRFT-Guide-to-preoperative-testing-MRSA-May-2025.pdf</a:t>
            </a:r>
          </a:p>
          <a:p>
            <a:pPr marL="0" lvl="0" indent="0">
              <a:buNone/>
            </a:pPr>
            <a:r>
              <a:rPr sz="800" dirty="0"/>
              <a:t>8. Coia JE, Wilson JA, Bak A, Marsden GL, </a:t>
            </a:r>
            <a:r>
              <a:rPr sz="800" dirty="0" err="1"/>
              <a:t>Shimonovich</a:t>
            </a:r>
            <a:r>
              <a:rPr sz="800" dirty="0"/>
              <a:t> M, Loveday HP, et al. Joint healthcare infection society (HIS) and infection prevention society (IPS) guidelines for the prevention and control of </a:t>
            </a:r>
            <a:r>
              <a:rPr sz="800" dirty="0" err="1"/>
              <a:t>meticillin</a:t>
            </a:r>
            <a:r>
              <a:rPr sz="800" dirty="0"/>
              <a:t>-resistant staphylococcus aureus (MRSA) in healthcare facilities. Journal of Hospital Infection [Internet]. 2021 Dec;118:S1–39. Available from: </a:t>
            </a:r>
            <a:r>
              <a:rPr sz="800" dirty="0">
                <a:hlinkClick r:id="rId9"/>
              </a:rPr>
              <a:t>http://dx.doi.org/10.1016/j.jhin.2021.09.022</a:t>
            </a:r>
          </a:p>
          <a:p>
            <a:pPr marL="0" lvl="0" indent="0">
              <a:buNone/>
            </a:pPr>
            <a:r>
              <a:rPr sz="800" dirty="0"/>
              <a:t>9. May C, Finch T, Rapley T. Normalization process theory. In: Nilsen P, Birken SA, editors. Handbook on implementation science [Internet]. Edward Elgar Publishing; 2020. p. 144–67. Available from: </a:t>
            </a:r>
            <a:r>
              <a:rPr sz="800" dirty="0">
                <a:hlinkClick r:id="rId10"/>
              </a:rPr>
              <a:t>https://www.elgaronline.com/downloadpdf/edcollchap/edcoll/9781788975988/9781788975988.00013.pdf</a:t>
            </a:r>
          </a:p>
          <a:p>
            <a:pPr marL="0" lvl="0" indent="0">
              <a:buNone/>
            </a:pPr>
            <a:r>
              <a:rPr sz="800" dirty="0"/>
              <a:t>10. May CR, Mair FS, Dowrick CF, Finch TL. Process evaluation for complex interventions in primary care: Understanding trials using the normalization process model. BMC Family Practice [Internet]. 2007 Jul;8(1). Available from: </a:t>
            </a:r>
            <a:r>
              <a:rPr sz="800" dirty="0">
                <a:hlinkClick r:id="rId11"/>
              </a:rPr>
              <a:t>http://dx.doi.org/10.1186/1471-2296-8-42</a:t>
            </a:r>
          </a:p>
          <a:p>
            <a:pPr marL="0" lvl="0" indent="0">
              <a:buNone/>
            </a:pPr>
            <a:r>
              <a:rPr sz="800" dirty="0"/>
              <a:t>11. Nilsen P. Making sense of implementation theories, models and frameworks. Implementation Science [Internet]. 2015 Apr;10(1). Available from: </a:t>
            </a:r>
            <a:r>
              <a:rPr sz="800" dirty="0">
                <a:hlinkClick r:id="rId12"/>
              </a:rPr>
              <a:t>http://dx.doi.org/10.1186/s13012-015-0242-0</a:t>
            </a:r>
          </a:p>
          <a:p>
            <a:pPr marL="0" lvl="0" indent="0">
              <a:buNone/>
            </a:pPr>
            <a:r>
              <a:rPr sz="800" dirty="0"/>
              <a:t>12. Murray E, Treweek S, Pope C, MacFarlane A, </a:t>
            </a:r>
            <a:r>
              <a:rPr sz="800" dirty="0" err="1"/>
              <a:t>Ballini</a:t>
            </a:r>
            <a:r>
              <a:rPr sz="800" dirty="0"/>
              <a:t> L, Dowrick C, et al. </a:t>
            </a:r>
            <a:r>
              <a:rPr sz="800" dirty="0" err="1"/>
              <a:t>Normalisation</a:t>
            </a:r>
            <a:r>
              <a:rPr sz="800" dirty="0"/>
              <a:t> process theory: A framework for developing, evaluating and implementing complex interventions. BMC Medicine [Internet]. 2010 Oct;8(1). Available from: </a:t>
            </a:r>
            <a:r>
              <a:rPr sz="800" dirty="0">
                <a:hlinkClick r:id="rId13"/>
              </a:rPr>
              <a:t>http://dx.doi.org/10.1186/1741-7015-8-63</a:t>
            </a:r>
          </a:p>
          <a:p>
            <a:pPr marL="0" lvl="0" indent="0">
              <a:buNone/>
            </a:pPr>
            <a:r>
              <a:rPr sz="800" dirty="0"/>
              <a:t>13. Goldacre B, Morley J, Hamilton N, et al. Better, broader, safer: Using health data for research and analysis [Internet]. Department of Health; Social Care; 2022. Available from: </a:t>
            </a:r>
            <a:r>
              <a:rPr sz="800" dirty="0">
                <a:hlinkClick r:id="rId14"/>
              </a:rPr>
              <a:t>https://assets.publishing.service.gov.uk/government/uploads/system/uploads/attachment_data/file/1067053/goldacre-review-using-health-data-for-research-and-analysis.pdf</a:t>
            </a:r>
          </a:p>
          <a:p>
            <a:pPr marL="0" lvl="0" indent="0">
              <a:buNone/>
            </a:pPr>
            <a:r>
              <a:rPr sz="800" dirty="0"/>
              <a:t>14. Elliott A. Better, broader, safer: Using health data for research and analysis (the </a:t>
            </a:r>
            <a:r>
              <a:rPr sz="800" dirty="0" err="1"/>
              <a:t>goldacre</a:t>
            </a:r>
            <a:r>
              <a:rPr sz="800" dirty="0"/>
              <a:t> review). Journal of Radiological Protection [Internet]. 2022 Sep;42(3):030101. Available from: </a:t>
            </a:r>
            <a:r>
              <a:rPr sz="800" dirty="0">
                <a:hlinkClick r:id="rId15"/>
              </a:rPr>
              <a:t>http://dx.doi.org/10.1088/1361-6498/ac89f8</a:t>
            </a:r>
          </a:p>
          <a:p>
            <a:pPr marL="0" lvl="0" indent="0">
              <a:buNone/>
            </a:pPr>
            <a:r>
              <a:rPr sz="800" dirty="0"/>
              <a:t>15. NHS Digital RAP Community of Practice. What is RAP? </a:t>
            </a:r>
            <a:r>
              <a:rPr sz="800" dirty="0">
                <a:hlinkClick r:id="rId16"/>
              </a:rPr>
              <a:t>https://nhsdigital.github.io/rap-community-of-practice/introduction_to_RAP/what_is_RAP/</a:t>
            </a:r>
            <a:r>
              <a:rPr sz="800" dirty="0"/>
              <a:t>; n.d. </a:t>
            </a:r>
          </a:p>
          <a:p>
            <a:pPr marL="0" lvl="0" indent="0">
              <a:buNone/>
            </a:pPr>
            <a:r>
              <a:rPr sz="800" dirty="0"/>
              <a:t>16. Keegan NM, </a:t>
            </a:r>
            <a:r>
              <a:rPr sz="800" dirty="0" err="1"/>
              <a:t>Vasselman</a:t>
            </a:r>
            <a:r>
              <a:rPr sz="800" dirty="0"/>
              <a:t> SE, Barnett ES, </a:t>
            </a:r>
            <a:r>
              <a:rPr sz="800" dirty="0" err="1"/>
              <a:t>Nweji</a:t>
            </a:r>
            <a:r>
              <a:rPr sz="800" dirty="0"/>
              <a:t> B, Carbone EA, Blum A, et al. Clinical annotations for prostate cancer research: Defining data elements, creating a reproducible analytical pipeline, and assessing data quality. The Prostate [Internet]. 2022 May;82(11):1107–16. Available from: </a:t>
            </a:r>
            <a:r>
              <a:rPr sz="800" dirty="0">
                <a:hlinkClick r:id="rId17"/>
              </a:rPr>
              <a:t>http://dx.doi.org/10.1002/pros.24363</a:t>
            </a:r>
          </a:p>
          <a:p>
            <a:pPr marL="0" lvl="0" indent="0">
              <a:buNone/>
            </a:pPr>
            <a:r>
              <a:rPr sz="800" dirty="0"/>
              <a:t>17. Newcastle upon Tyne Hospitals NHS Foundation Trust. About </a:t>
            </a:r>
            <a:r>
              <a:rPr sz="800" dirty="0" err="1"/>
              <a:t>newcastle</a:t>
            </a:r>
            <a:r>
              <a:rPr sz="800" dirty="0"/>
              <a:t> hospitals [Internet]. 2020 [cited 2025 Aug 21]. Available from: </a:t>
            </a:r>
            <a:r>
              <a:rPr sz="800" dirty="0">
                <a:hlinkClick r:id="rId18"/>
              </a:rPr>
              <a:t>https://www.newcastle-hospitals.nhs.uk/about/</a:t>
            </a:r>
          </a:p>
        </p:txBody>
      </p:sp>
      <p:sp>
        <p:nvSpPr>
          <p:cNvPr id="4" name="Date Placeholder 3">
            <a:extLst>
              <a:ext uri="{FF2B5EF4-FFF2-40B4-BE49-F238E27FC236}">
                <a16:creationId xmlns:a16="http://schemas.microsoft.com/office/drawing/2014/main" id="{00106E21-AAF0-A610-EBAE-BC898475BD22}"/>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5" name="Footer Placeholder 4">
            <a:extLst>
              <a:ext uri="{FF2B5EF4-FFF2-40B4-BE49-F238E27FC236}">
                <a16:creationId xmlns:a16="http://schemas.microsoft.com/office/drawing/2014/main" id="{7B317720-22AD-CACB-8D10-D491E80B9607}"/>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985AE-03D9-4D9E-A74E-1A1BFAF950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CD787-3154-1424-3673-8454FCC68B01}"/>
              </a:ext>
            </a:extLst>
          </p:cNvPr>
          <p:cNvSpPr>
            <a:spLocks noGrp="1"/>
          </p:cNvSpPr>
          <p:nvPr>
            <p:ph type="title"/>
          </p:nvPr>
        </p:nvSpPr>
        <p:spPr/>
        <p:txBody>
          <a:bodyPr/>
          <a:lstStyle/>
          <a:p>
            <a:pPr marL="0" lvl="0" indent="0">
              <a:buNone/>
            </a:pPr>
            <a:r>
              <a:rPr dirty="0"/>
              <a:t>References</a:t>
            </a:r>
            <a:r>
              <a:rPr lang="en-GB" dirty="0"/>
              <a:t> (2)</a:t>
            </a:r>
            <a:endParaRPr dirty="0"/>
          </a:p>
        </p:txBody>
      </p:sp>
      <p:sp>
        <p:nvSpPr>
          <p:cNvPr id="3" name="Content Placeholder 2">
            <a:extLst>
              <a:ext uri="{FF2B5EF4-FFF2-40B4-BE49-F238E27FC236}">
                <a16:creationId xmlns:a16="http://schemas.microsoft.com/office/drawing/2014/main" id="{29830512-4208-5E61-5C43-225CC8D6E42E}"/>
              </a:ext>
            </a:extLst>
          </p:cNvPr>
          <p:cNvSpPr>
            <a:spLocks noGrp="1"/>
          </p:cNvSpPr>
          <p:nvPr>
            <p:ph idx="1"/>
          </p:nvPr>
        </p:nvSpPr>
        <p:spPr/>
        <p:txBody>
          <a:bodyPr>
            <a:normAutofit fontScale="92500" lnSpcReduction="10000"/>
          </a:bodyPr>
          <a:lstStyle/>
          <a:p>
            <a:pPr marL="0" lvl="0" indent="0">
              <a:buNone/>
            </a:pPr>
            <a:r>
              <a:rPr lang="en-GB" sz="900" dirty="0"/>
              <a:t>18. Newcastle upon Tyne Hospitals NHS Foundation Trust. Newcastle hospitals laboratories. </a:t>
            </a:r>
            <a:r>
              <a:rPr lang="en-GB" sz="900" dirty="0">
                <a:hlinkClick r:id="rId2"/>
              </a:rPr>
              <a:t>https://laboratories.newcastle-hospitals.nhs.uk/</a:t>
            </a:r>
            <a:r>
              <a:rPr lang="en-GB" sz="900" dirty="0"/>
              <a:t>; 2025. </a:t>
            </a:r>
          </a:p>
          <a:p>
            <a:pPr marL="0" lvl="0" indent="0">
              <a:buNone/>
            </a:pPr>
            <a:r>
              <a:rPr lang="en-GB" sz="900" dirty="0"/>
              <a:t>19. UKAS. Medical laboratory accreditation - ISO 15189. </a:t>
            </a:r>
            <a:r>
              <a:rPr lang="en-GB" sz="900" dirty="0">
                <a:hlinkClick r:id="rId3"/>
              </a:rPr>
              <a:t>https://www.ukas.com/accreditation/standards/medical-laboratory-accreditation/</a:t>
            </a:r>
            <a:r>
              <a:rPr lang="en-GB" sz="900" dirty="0"/>
              <a:t>; 2025. </a:t>
            </a:r>
          </a:p>
          <a:p>
            <a:pPr marL="0" lvl="0" indent="0">
              <a:buNone/>
            </a:pPr>
            <a:r>
              <a:rPr lang="en-GB" sz="900" dirty="0"/>
              <a:t>20. NHS Digital RAP Community of Practice. Introduction to git. </a:t>
            </a:r>
            <a:r>
              <a:rPr lang="en-GB" sz="900" dirty="0">
                <a:hlinkClick r:id="rId4"/>
              </a:rPr>
              <a:t>https://nhsdigital.github.io/rap-community-of-practice/training_resources/git/introduction-to-git/</a:t>
            </a:r>
            <a:r>
              <a:rPr lang="en-GB" sz="900" dirty="0"/>
              <a:t>; n.d. </a:t>
            </a:r>
          </a:p>
          <a:p>
            <a:pPr marL="0" lvl="0" indent="0">
              <a:buNone/>
            </a:pPr>
            <a:r>
              <a:rPr lang="en-GB" sz="900" dirty="0"/>
              <a:t>21. GitHub. GitHub. GitHub; </a:t>
            </a:r>
            <a:r>
              <a:rPr lang="en-GB" sz="900" dirty="0">
                <a:hlinkClick r:id="rId5"/>
              </a:rPr>
              <a:t>https://github.com/</a:t>
            </a:r>
            <a:r>
              <a:rPr lang="en-GB" sz="900" dirty="0"/>
              <a:t>; 2025. </a:t>
            </a:r>
          </a:p>
          <a:p>
            <a:pPr marL="0" lvl="0" indent="0">
              <a:buNone/>
            </a:pPr>
            <a:r>
              <a:rPr lang="en-GB" sz="900" dirty="0"/>
              <a:t>22. Müller K, Wickham H, James DA, Falcon S. </a:t>
            </a:r>
            <a:r>
              <a:rPr lang="en-GB" sz="900" dirty="0" err="1"/>
              <a:t>RSQLite</a:t>
            </a:r>
            <a:r>
              <a:rPr lang="en-GB" sz="900" dirty="0"/>
              <a:t>: SQLite interface for r [Internet]. 2024. Available from: </a:t>
            </a:r>
            <a:r>
              <a:rPr lang="en-GB" sz="900" dirty="0">
                <a:hlinkClick r:id="rId6"/>
              </a:rPr>
              <a:t>https://rsqlite.r-dbi.org</a:t>
            </a:r>
          </a:p>
          <a:p>
            <a:pPr marL="0" lvl="0" indent="0">
              <a:buNone/>
            </a:pPr>
            <a:r>
              <a:rPr lang="en-GB" sz="900" dirty="0"/>
              <a:t>23. R Core Team. R: A language and environment for statistical computing [Internet]. Vienna, Austria: R Foundation for Statistical Computing; 2024. Available from: </a:t>
            </a:r>
            <a:r>
              <a:rPr lang="en-GB" sz="900" dirty="0">
                <a:hlinkClick r:id="rId7"/>
              </a:rPr>
              <a:t>https://www.R-project.org/</a:t>
            </a:r>
          </a:p>
          <a:p>
            <a:pPr marL="0" lvl="0" indent="0">
              <a:buNone/>
            </a:pPr>
            <a:r>
              <a:rPr lang="en-GB" sz="900" dirty="0"/>
              <a:t>24. Allaire J, </a:t>
            </a:r>
            <a:r>
              <a:rPr lang="en-GB" sz="900" dirty="0" err="1"/>
              <a:t>Dervieux</a:t>
            </a:r>
            <a:r>
              <a:rPr lang="en-GB" sz="900" dirty="0"/>
              <a:t> C. Quarto: R interface to quarto markdown publishing system [Internet]. 2024. Available from: </a:t>
            </a:r>
            <a:r>
              <a:rPr lang="en-GB" sz="900" dirty="0">
                <a:hlinkClick r:id="rId8"/>
              </a:rPr>
              <a:t>https://github.com/quarto-dev/quarto-r</a:t>
            </a:r>
          </a:p>
          <a:p>
            <a:pPr marL="0" lvl="0" indent="0">
              <a:buNone/>
            </a:pPr>
            <a:r>
              <a:rPr lang="en-GB" sz="900" dirty="0"/>
              <a:t>25. Microsoft. Internet information services (IIS) for windows server. </a:t>
            </a:r>
            <a:r>
              <a:rPr lang="en-GB" sz="900" dirty="0">
                <a:hlinkClick r:id="rId9"/>
              </a:rPr>
              <a:t>https://www.iis.net/overview</a:t>
            </a:r>
            <a:r>
              <a:rPr lang="en-GB" sz="900" dirty="0"/>
              <a:t>; 2025. </a:t>
            </a:r>
          </a:p>
          <a:p>
            <a:pPr marL="0" lvl="0" indent="0">
              <a:buNone/>
            </a:pPr>
            <a:r>
              <a:rPr lang="en-GB" sz="900" dirty="0"/>
              <a:t>26. ICO. UK GDPR guidance and resources. ICO; </a:t>
            </a:r>
            <a:r>
              <a:rPr lang="en-GB" sz="900" dirty="0">
                <a:hlinkClick r:id="rId10"/>
              </a:rPr>
              <a:t>https://ico.org.uk/for-organisations/uk-gdpr-guidance-and-resources/</a:t>
            </a:r>
            <a:r>
              <a:rPr lang="en-GB" sz="900" dirty="0"/>
              <a:t>; 2025. </a:t>
            </a:r>
          </a:p>
          <a:p>
            <a:pPr marL="0" lvl="0" indent="0">
              <a:buNone/>
            </a:pPr>
            <a:r>
              <a:rPr lang="en-GB" sz="900" dirty="0"/>
              <a:t>27. </a:t>
            </a:r>
            <a:r>
              <a:rPr lang="en-GB" sz="900" dirty="0" err="1"/>
              <a:t>Benneyan</a:t>
            </a:r>
            <a:r>
              <a:rPr lang="en-GB" sz="900" dirty="0"/>
              <a:t> JC. Statistical process control as a tool for research and healthcare improvement. Quality and Safety in Health Care [Internet]. 2003 Dec;12(6):458–64. Available from: </a:t>
            </a:r>
            <a:r>
              <a:rPr lang="en-GB" sz="900" dirty="0">
                <a:hlinkClick r:id="rId11"/>
              </a:rPr>
              <a:t>http://dx.doi.org/10.1136/qhc.12.6.458</a:t>
            </a:r>
          </a:p>
          <a:p>
            <a:pPr marL="0" lvl="0" indent="0">
              <a:buNone/>
            </a:pPr>
            <a:r>
              <a:rPr lang="en-GB" sz="900" dirty="0"/>
              <a:t>28. Mohammed MA. Using statistical process control to improve the quality of health care. Quality and Safety in Health Care [Internet]. 2004 Aug;13(4):243–5. Available from: </a:t>
            </a:r>
            <a:r>
              <a:rPr lang="en-GB" sz="900" dirty="0">
                <a:hlinkClick r:id="rId12"/>
              </a:rPr>
              <a:t>http://dx.doi.org/10.1136/qhc.13.4.243</a:t>
            </a:r>
          </a:p>
          <a:p>
            <a:pPr marL="0" lvl="0" indent="0">
              <a:buNone/>
            </a:pPr>
            <a:r>
              <a:rPr lang="en-GB" sz="900" dirty="0"/>
              <a:t>29. Anhøj J, Hellesøe AMB. The problem with red, amber, green: The need to avoid distraction by random variation in organisational performance measures. BMJ Quality &amp;amp; Safety [Internet]. 2016 Mar;26(1):81–4. Available from: </a:t>
            </a:r>
            <a:r>
              <a:rPr lang="en-GB" sz="900" dirty="0">
                <a:hlinkClick r:id="rId13"/>
              </a:rPr>
              <a:t>http://dx.doi.org/10.1136/bmjqs-2015-004951</a:t>
            </a:r>
          </a:p>
          <a:p>
            <a:pPr marL="0" lvl="0" indent="0">
              <a:buNone/>
            </a:pPr>
            <a:r>
              <a:rPr lang="en-GB" sz="900" dirty="0"/>
              <a:t>30. NHS England. Making data count [Internet]. 2019. Available from: </a:t>
            </a:r>
            <a:r>
              <a:rPr lang="en-GB" sz="900" dirty="0">
                <a:hlinkClick r:id="rId14"/>
              </a:rPr>
              <a:t>https://www.england.nhs.uk/publication/making-data-count/</a:t>
            </a:r>
          </a:p>
          <a:p>
            <a:pPr marL="0" lvl="0" indent="0">
              <a:buNone/>
            </a:pPr>
            <a:r>
              <a:rPr lang="en-GB" sz="900" dirty="0"/>
              <a:t>31. Smith T, Reading C, Wellesley-Miller S, Turner Z, Jemmett T, Mainey C, et al. </a:t>
            </a:r>
            <a:r>
              <a:rPr lang="en-GB" sz="900" dirty="0" err="1"/>
              <a:t>NHSRplotthedots</a:t>
            </a:r>
            <a:r>
              <a:rPr lang="en-GB" sz="900" dirty="0"/>
              <a:t>: Draw </a:t>
            </a:r>
            <a:r>
              <a:rPr lang="en-GB" sz="900" dirty="0" err="1"/>
              <a:t>XmR</a:t>
            </a:r>
            <a:r>
              <a:rPr lang="en-GB" sz="900" dirty="0"/>
              <a:t> charts for NHS making data count programme [Internet]. 2025. Available from: </a:t>
            </a:r>
            <a:r>
              <a:rPr lang="en-GB" sz="900" dirty="0">
                <a:hlinkClick r:id="rId15"/>
              </a:rPr>
              <a:t>https://nhsrplotthedots.nhsrcommunity.com</a:t>
            </a:r>
          </a:p>
          <a:p>
            <a:pPr marL="0" lvl="0" indent="0">
              <a:buNone/>
            </a:pPr>
            <a:r>
              <a:rPr lang="en-GB" sz="900" dirty="0"/>
              <a:t>32. Chen LF, Vander Weg MW, Hofmann DA, Reisinger HS. The </a:t>
            </a:r>
            <a:r>
              <a:rPr lang="en-GB" sz="900" dirty="0" err="1"/>
              <a:t>hawthorne</a:t>
            </a:r>
            <a:r>
              <a:rPr lang="en-GB" sz="900" dirty="0"/>
              <a:t> effect in infection prevention and epidemiology. Infection Control &amp;amp; Hospital Epidemiology [Internet]. 2015 Sep;36(12):1444–50. Available from: </a:t>
            </a:r>
            <a:r>
              <a:rPr lang="en-GB" sz="900" dirty="0">
                <a:hlinkClick r:id="rId16"/>
              </a:rPr>
              <a:t>http://dx.doi.org/10.1017/ice.2015.216</a:t>
            </a:r>
          </a:p>
          <a:p>
            <a:pPr marL="0" lvl="0" indent="0">
              <a:buNone/>
            </a:pPr>
            <a:r>
              <a:rPr lang="en-GB" sz="900" dirty="0"/>
              <a:t>33. Joubert D, </a:t>
            </a:r>
            <a:r>
              <a:rPr lang="en-GB" sz="900" dirty="0" err="1"/>
              <a:t>Cullati</a:t>
            </a:r>
            <a:r>
              <a:rPr lang="en-GB" sz="900" dirty="0"/>
              <a:t> S, Briot P, Righi L, </a:t>
            </a:r>
            <a:r>
              <a:rPr lang="en-GB" sz="900" dirty="0" err="1"/>
              <a:t>Grauser</a:t>
            </a:r>
            <a:r>
              <a:rPr lang="en-GB" sz="900" dirty="0"/>
              <a:t> D, Ourahmoune A, et al. How to improve hospital admission screening for patients at risk of multidrug-resistant organism carriage: A before-and-after interventional study and cost-effectiveness analysis. BMJ Open Quality [Internet]. 2022 Apr;11(2):e001699. Available from: </a:t>
            </a:r>
            <a:r>
              <a:rPr lang="en-GB" sz="900" dirty="0">
                <a:hlinkClick r:id="rId17"/>
              </a:rPr>
              <a:t>http://dx.doi.org/10.1136/bmjoq-2021-001699</a:t>
            </a:r>
          </a:p>
          <a:p>
            <a:pPr marL="0" lvl="0" indent="0">
              <a:buNone/>
            </a:pPr>
            <a:r>
              <a:rPr lang="en-GB" sz="900" dirty="0"/>
              <a:t>34. Fuller C, Robotham J, Savage J, Hopkins S, Deeny SR, Stone S, et al. The national one week prevalence audit of universal </a:t>
            </a:r>
            <a:r>
              <a:rPr lang="en-GB" sz="900" dirty="0" err="1"/>
              <a:t>meticillin</a:t>
            </a:r>
            <a:r>
              <a:rPr lang="en-GB" sz="900" dirty="0"/>
              <a:t>-resistant staphylococcus aureus (MRSA) admission screening 2012. </a:t>
            </a:r>
            <a:r>
              <a:rPr lang="en-GB" sz="900" dirty="0" err="1"/>
              <a:t>Kluytmans</a:t>
            </a:r>
            <a:r>
              <a:rPr lang="en-GB" sz="900" dirty="0"/>
              <a:t> J, editor. </a:t>
            </a:r>
            <a:r>
              <a:rPr lang="en-GB" sz="900" dirty="0" err="1"/>
              <a:t>PLoS</a:t>
            </a:r>
            <a:r>
              <a:rPr lang="en-GB" sz="900" dirty="0"/>
              <a:t> ONE [Internet]. 2013 Sep;8(9):e74219. Available from: </a:t>
            </a:r>
            <a:r>
              <a:rPr lang="en-GB" sz="900" dirty="0">
                <a:hlinkClick r:id="rId18"/>
              </a:rPr>
              <a:t>http://dx.doi.org/10.1371/journal.pone.0074219</a:t>
            </a:r>
          </a:p>
        </p:txBody>
      </p:sp>
      <p:sp>
        <p:nvSpPr>
          <p:cNvPr id="4" name="Date Placeholder 3">
            <a:extLst>
              <a:ext uri="{FF2B5EF4-FFF2-40B4-BE49-F238E27FC236}">
                <a16:creationId xmlns:a16="http://schemas.microsoft.com/office/drawing/2014/main" id="{D6CF267C-AF69-DF96-3D0B-535982934243}"/>
              </a:ext>
            </a:extLst>
          </p:cNvPr>
          <p:cNvSpPr>
            <a:spLocks noGrp="1"/>
          </p:cNvSpPr>
          <p:nvPr>
            <p:ph type="dt" sz="half" idx="10"/>
          </p:nvPr>
        </p:nvSpPr>
        <p:spPr>
          <a:xfrm>
            <a:off x="457200" y="4767263"/>
            <a:ext cx="2133600" cy="273844"/>
          </a:xfrm>
        </p:spPr>
        <p:txBody>
          <a:bodyPr/>
          <a:lstStyle/>
          <a:p>
            <a:r>
              <a:rPr lang="en-GB" dirty="0"/>
              <a:t>Excellence in Clinical Audit Awards 2026 Innovation award category</a:t>
            </a:r>
            <a:endParaRPr lang="en-US" dirty="0"/>
          </a:p>
        </p:txBody>
      </p:sp>
      <p:sp>
        <p:nvSpPr>
          <p:cNvPr id="5" name="Footer Placeholder 4">
            <a:extLst>
              <a:ext uri="{FF2B5EF4-FFF2-40B4-BE49-F238E27FC236}">
                <a16:creationId xmlns:a16="http://schemas.microsoft.com/office/drawing/2014/main" id="{6F913612-5BBE-3ADB-804F-0A939C2C871B}"/>
              </a:ext>
            </a:extLst>
          </p:cNvPr>
          <p:cNvSpPr>
            <a:spLocks noGrp="1"/>
          </p:cNvSpPr>
          <p:nvPr>
            <p:ph type="ftr" sz="quarter" idx="11"/>
          </p:nvPr>
        </p:nvSpPr>
        <p:spPr>
          <a:xfrm>
            <a:off x="3124200" y="4767263"/>
            <a:ext cx="2895600" cy="273844"/>
          </a:xfrm>
        </p:spPr>
        <p:txBody>
          <a:bodyPr/>
          <a:lstStyle/>
          <a:p>
            <a:r>
              <a:rPr lang="en-US" dirty="0"/>
              <a:t>D Weiand, J Lupton, P Le Roux et al.</a:t>
            </a:r>
          </a:p>
        </p:txBody>
      </p:sp>
    </p:spTree>
    <p:extLst>
      <p:ext uri="{BB962C8B-B14F-4D97-AF65-F5344CB8AC3E}">
        <p14:creationId xmlns:p14="http://schemas.microsoft.com/office/powerpoint/2010/main" val="11476838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570</TotalTime>
  <Words>4005</Words>
  <Application>Microsoft Office PowerPoint</Application>
  <PresentationFormat>On-screen Show (16:9)</PresentationFormat>
  <Paragraphs>373</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Calibri</vt:lpstr>
      <vt:lpstr>Cambria</vt:lpstr>
      <vt:lpstr>Office Theme</vt:lpstr>
      <vt:lpstr>From Data to Action: Reproducible Analytical Pipeline (RAP) for Rapid, Sustained and Statistically-Significant Improvement in MRSA Admission Screening Compliance.</vt:lpstr>
      <vt:lpstr>Meet the Team</vt:lpstr>
      <vt:lpstr>What is a RAP?</vt:lpstr>
      <vt:lpstr>PowerPoint Presentation</vt:lpstr>
      <vt:lpstr>Problem description</vt:lpstr>
      <vt:lpstr>PowerPoint Presentation</vt:lpstr>
      <vt:lpstr>Problem description</vt:lpstr>
      <vt:lpstr>Normalisation Process Theory (NPT)</vt:lpstr>
      <vt:lpstr>Aims</vt:lpstr>
      <vt:lpstr>Setting</vt:lpstr>
      <vt:lpstr>RAP</vt:lpstr>
      <vt:lpstr>PowerPoint Presentation</vt:lpstr>
      <vt:lpstr>PowerPoint Presentation</vt:lpstr>
      <vt:lpstr>Approach to Assessing Impact</vt:lpstr>
      <vt:lpstr>Selection of participants (pragmatic approach)</vt:lpstr>
      <vt:lpstr>Results</vt:lpstr>
      <vt:lpstr>Impact of RAP on screening</vt:lpstr>
      <vt:lpstr>Impact of RAP on screening</vt:lpstr>
      <vt:lpstr>PowerPoint Presentation</vt:lpstr>
      <vt:lpstr>PowerPoint Presentation</vt:lpstr>
      <vt:lpstr>PowerPoint Presentation</vt:lpstr>
      <vt:lpstr>PowerPoint Presentation</vt:lpstr>
      <vt:lpstr>PowerPoint Presentation</vt:lpstr>
      <vt:lpstr>Impact of RAP on screening + locally-driven QI</vt:lpstr>
      <vt:lpstr>PowerPoint Presentation</vt:lpstr>
      <vt:lpstr>PowerPoint Presentation</vt:lpstr>
      <vt:lpstr>Impact of RAP on MRSA rates</vt:lpstr>
      <vt:lpstr>Impact of RAP on MRSA rates</vt:lpstr>
      <vt:lpstr>RAP reliability</vt:lpstr>
      <vt:lpstr>Interpretation</vt:lpstr>
      <vt:lpstr>Discussion</vt:lpstr>
      <vt:lpstr>Conclusions</vt:lpstr>
      <vt:lpstr>Recommendations</vt:lpstr>
      <vt:lpstr>This work has been submitted for publication in peer-reviewed journal</vt:lpstr>
      <vt:lpstr>Thanks for listening!</vt:lpstr>
      <vt:lpstr>PowerPoint Presentation</vt:lpstr>
      <vt:lpstr>References (1)</vt:lpstr>
      <vt:lpstr>References (2)</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Data to Action—Building a Reproducible Analytical Pipeline to Achieve Rapid, Sustained Improvements in MRSA Admission Screening Compliance Rates.</dc:title>
  <dc:creator>Daniel Weiand;Paul Bradley;Caroline Cullerton;Geoff Dines;Joanne Field;Peta Le Roux;Jamie Lupton;Shraddha Pathak;Julie Samuel;Chris Plummer</dc:creator>
  <cp:keywords>Quality Improvement, Patient Safety, Healthcare Associated Infection, MRSA, Screening, Clinical Informatics, Prevention, R, Open-Source, Data Science</cp:keywords>
  <cp:lastModifiedBy>WEIAND, Daniel (THE NEWCASTLE UPON TYNE HOSPITALS NHS FOUNDATION TRUST)</cp:lastModifiedBy>
  <cp:revision>86</cp:revision>
  <dcterms:created xsi:type="dcterms:W3CDTF">2025-11-12T23:03:33Z</dcterms:created>
  <dcterms:modified xsi:type="dcterms:W3CDTF">2026-06-23T10:18:33Z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ibliography">
    <vt:lpwstr>biblio.bib</vt:lpwstr>
  </property>
  <property fmtid="{D5CDD505-2E9C-101B-9397-08002B2CF9AE}" pid="6" name="brand">
    <vt:lpwstr>_brand.yml</vt:lpwstr>
  </property>
  <property fmtid="{D5CDD505-2E9C-101B-9397-08002B2CF9AE}" pid="7" name="by-affiliation">
    <vt:lpwstr/>
  </property>
  <property fmtid="{D5CDD505-2E9C-101B-9397-08002B2CF9AE}" pid="8" name="by-author">
    <vt:lpwstr/>
  </property>
  <property fmtid="{D5CDD505-2E9C-101B-9397-08002B2CF9AE}" pid="9" name="csl">
    <vt:lpwstr>vancouver.csl</vt:lpwstr>
  </property>
  <property fmtid="{D5CDD505-2E9C-101B-9397-08002B2CF9AE}" pid="10" name="date">
    <vt:lpwstr>Wednesday, 12 November 2025</vt:lpwstr>
  </property>
  <property fmtid="{D5CDD505-2E9C-101B-9397-08002B2CF9AE}" pid="11" name="date-format">
    <vt:lpwstr>dddd, D MMMM YYYY</vt:lpwstr>
  </property>
  <property fmtid="{D5CDD505-2E9C-101B-9397-08002B2CF9AE}" pid="12" name="editor">
    <vt:lpwstr>source</vt:lpwstr>
  </property>
  <property fmtid="{D5CDD505-2E9C-101B-9397-08002B2CF9AE}" pid="13" name="execute">
    <vt:lpwstr/>
  </property>
  <property fmtid="{D5CDD505-2E9C-101B-9397-08002B2CF9AE}" pid="14" name="header-includes">
    <vt:lpwstr/>
  </property>
  <property fmtid="{D5CDD505-2E9C-101B-9397-08002B2CF9AE}" pid="15" name="include-after">
    <vt:lpwstr/>
  </property>
  <property fmtid="{D5CDD505-2E9C-101B-9397-08002B2CF9AE}" pid="16" name="include-before">
    <vt:lpwstr/>
  </property>
  <property fmtid="{D5CDD505-2E9C-101B-9397-08002B2CF9AE}" pid="17" name="labels">
    <vt:lpwstr/>
  </property>
  <property fmtid="{D5CDD505-2E9C-101B-9397-08002B2CF9AE}" pid="18" name="link-citations">
    <vt:lpwstr>True</vt:lpwstr>
  </property>
  <property fmtid="{D5CDD505-2E9C-101B-9397-08002B2CF9AE}" pid="19" name="params">
    <vt:lpwstr/>
  </property>
  <property fmtid="{D5CDD505-2E9C-101B-9397-08002B2CF9AE}" pid="20" name="toc-title">
    <vt:lpwstr>Table of contents</vt:lpwstr>
  </property>
</Properties>
</file>