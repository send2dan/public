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306" r:id="rId4"/>
    <p:sldId id="307" r:id="rId5"/>
    <p:sldId id="261" r:id="rId6"/>
    <p:sldId id="298" r:id="rId7"/>
    <p:sldId id="263" r:id="rId8"/>
    <p:sldId id="264" r:id="rId9"/>
    <p:sldId id="266" r:id="rId10"/>
    <p:sldId id="299" r:id="rId11"/>
    <p:sldId id="270" r:id="rId12"/>
    <p:sldId id="300" r:id="rId13"/>
    <p:sldId id="301" r:id="rId14"/>
    <p:sldId id="271" r:id="rId15"/>
    <p:sldId id="272" r:id="rId16"/>
    <p:sldId id="277" r:id="rId17"/>
    <p:sldId id="278" r:id="rId18"/>
    <p:sldId id="279" r:id="rId19"/>
    <p:sldId id="284" r:id="rId20"/>
    <p:sldId id="282" r:id="rId21"/>
    <p:sldId id="308" r:id="rId22"/>
    <p:sldId id="302" r:id="rId23"/>
    <p:sldId id="303" r:id="rId24"/>
    <p:sldId id="304" r:id="rId25"/>
    <p:sldId id="288" r:id="rId26"/>
    <p:sldId id="289" r:id="rId27"/>
    <p:sldId id="292" r:id="rId28"/>
    <p:sldId id="309" r:id="rId29"/>
    <p:sldId id="293" r:id="rId30"/>
    <p:sldId id="297" r:id="rId31"/>
    <p:sldId id="305" r:id="rId32"/>
    <p:sldId id="296" r:id="rId3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89744" autoAdjust="0"/>
  </p:normalViewPr>
  <p:slideViewPr>
    <p:cSldViewPr snapToGrid="0" snapToObjects="1">
      <p:cViewPr>
        <p:scale>
          <a:sx n="65" d="100"/>
          <a:sy n="65" d="100"/>
        </p:scale>
        <p:origin x="332" y="21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C36F85-6DB2-4E29-8809-B068909440E4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E9AF442F-7D10-405F-AEF7-A82ECC8311BC}">
      <dgm:prSet custT="1"/>
      <dgm:spPr/>
      <dgm:t>
        <a:bodyPr/>
        <a:lstStyle/>
        <a:p>
          <a:r>
            <a:rPr lang="en-GB" sz="1600" dirty="0"/>
            <a:t>Feedback/</a:t>
          </a:r>
        </a:p>
        <a:p>
          <a:r>
            <a:rPr lang="en-GB" sz="1600" dirty="0"/>
            <a:t>‘Reflexive monitoring’</a:t>
          </a:r>
        </a:p>
      </dgm:t>
    </dgm:pt>
    <dgm:pt modelId="{EBB95C54-C81A-45E5-96D8-DA6EDCAD5FB2}" type="parTrans" cxnId="{36D3A7A8-7694-4D29-8B6A-BD56285D698F}">
      <dgm:prSet/>
      <dgm:spPr/>
      <dgm:t>
        <a:bodyPr/>
        <a:lstStyle/>
        <a:p>
          <a:endParaRPr lang="en-GB"/>
        </a:p>
      </dgm:t>
    </dgm:pt>
    <dgm:pt modelId="{1432282E-444A-47B5-A810-06C9A1B177E8}" type="sibTrans" cxnId="{36D3A7A8-7694-4D29-8B6A-BD56285D698F}">
      <dgm:prSet custT="1"/>
      <dgm:spPr/>
      <dgm:t>
        <a:bodyPr/>
        <a:lstStyle/>
        <a:p>
          <a:endParaRPr lang="en-GB" sz="1600" dirty="0"/>
        </a:p>
      </dgm:t>
    </dgm:pt>
    <dgm:pt modelId="{C1433D63-2D0E-4FD7-ABF1-63D0A0B7A07D}">
      <dgm:prSet custT="1"/>
      <dgm:spPr/>
      <dgm:t>
        <a:bodyPr/>
        <a:lstStyle/>
        <a:p>
          <a:r>
            <a:rPr lang="en-GB" sz="1600" dirty="0"/>
            <a:t>Routine embedding/</a:t>
          </a:r>
        </a:p>
        <a:p>
          <a:r>
            <a:rPr lang="en-GB" sz="1600" dirty="0"/>
            <a:t> ‘Normalisation’</a:t>
          </a:r>
        </a:p>
      </dgm:t>
    </dgm:pt>
    <dgm:pt modelId="{EE48496C-E38E-446F-8947-0CD60EA751EE}" type="parTrans" cxnId="{926B7B28-26CA-4ABF-B373-7FED4BC68842}">
      <dgm:prSet/>
      <dgm:spPr/>
      <dgm:t>
        <a:bodyPr/>
        <a:lstStyle/>
        <a:p>
          <a:endParaRPr lang="en-GB"/>
        </a:p>
      </dgm:t>
    </dgm:pt>
    <dgm:pt modelId="{C520CDAF-EA05-4B03-9F23-3474BD4805C0}" type="sibTrans" cxnId="{926B7B28-26CA-4ABF-B373-7FED4BC68842}">
      <dgm:prSet custT="1"/>
      <dgm:spPr/>
      <dgm:t>
        <a:bodyPr/>
        <a:lstStyle/>
        <a:p>
          <a:endParaRPr lang="en-GB" sz="1600" dirty="0"/>
        </a:p>
      </dgm:t>
    </dgm:pt>
    <dgm:pt modelId="{6B51B6C6-4A13-4E41-B2E9-3CBD6DC18C1D}">
      <dgm:prSet custT="1"/>
      <dgm:spPr/>
      <dgm:t>
        <a:bodyPr/>
        <a:lstStyle/>
        <a:p>
          <a:r>
            <a:rPr lang="en-GB" sz="1600" dirty="0"/>
            <a:t>Shared understanding/</a:t>
          </a:r>
        </a:p>
        <a:p>
          <a:r>
            <a:rPr lang="en-GB" sz="1600" dirty="0"/>
            <a:t>‘Coherence’</a:t>
          </a:r>
        </a:p>
      </dgm:t>
    </dgm:pt>
    <dgm:pt modelId="{03E4400D-7C68-4F40-8325-D2044D180AE7}" type="parTrans" cxnId="{0D098558-2D14-4765-B0AC-A2A37B979CBB}">
      <dgm:prSet/>
      <dgm:spPr/>
      <dgm:t>
        <a:bodyPr/>
        <a:lstStyle/>
        <a:p>
          <a:endParaRPr lang="en-GB"/>
        </a:p>
      </dgm:t>
    </dgm:pt>
    <dgm:pt modelId="{9EDF8B8A-1828-4D8E-969E-651134465731}" type="sibTrans" cxnId="{0D098558-2D14-4765-B0AC-A2A37B979CBB}">
      <dgm:prSet custT="1"/>
      <dgm:spPr/>
      <dgm:t>
        <a:bodyPr/>
        <a:lstStyle/>
        <a:p>
          <a:endParaRPr lang="en-GB" sz="1600" dirty="0"/>
        </a:p>
      </dgm:t>
    </dgm:pt>
    <dgm:pt modelId="{C6DA46A7-2C5A-4CB2-9C2E-9BFAE0749E31}" type="pres">
      <dgm:prSet presAssocID="{C4C36F85-6DB2-4E29-8809-B068909440E4}" presName="cycle" presStyleCnt="0">
        <dgm:presLayoutVars>
          <dgm:dir/>
          <dgm:resizeHandles val="exact"/>
        </dgm:presLayoutVars>
      </dgm:prSet>
      <dgm:spPr/>
    </dgm:pt>
    <dgm:pt modelId="{49A236C6-CD27-4C6C-9EB9-E27879AB0A24}" type="pres">
      <dgm:prSet presAssocID="{E9AF442F-7D10-405F-AEF7-A82ECC8311BC}" presName="node" presStyleLbl="node1" presStyleIdx="0" presStyleCnt="3">
        <dgm:presLayoutVars>
          <dgm:bulletEnabled val="1"/>
        </dgm:presLayoutVars>
      </dgm:prSet>
      <dgm:spPr/>
    </dgm:pt>
    <dgm:pt modelId="{FA58E14A-35D3-4B5E-9152-50FE51F5EBD9}" type="pres">
      <dgm:prSet presAssocID="{1432282E-444A-47B5-A810-06C9A1B177E8}" presName="sibTrans" presStyleLbl="sibTrans2D1" presStyleIdx="0" presStyleCnt="3"/>
      <dgm:spPr/>
    </dgm:pt>
    <dgm:pt modelId="{2A713D61-8273-42EE-B1E2-F66E7C840540}" type="pres">
      <dgm:prSet presAssocID="{1432282E-444A-47B5-A810-06C9A1B177E8}" presName="connectorText" presStyleLbl="sibTrans2D1" presStyleIdx="0" presStyleCnt="3"/>
      <dgm:spPr/>
    </dgm:pt>
    <dgm:pt modelId="{65C9C5AA-8A36-4D56-B90B-7221C512FFC0}" type="pres">
      <dgm:prSet presAssocID="{6B51B6C6-4A13-4E41-B2E9-3CBD6DC18C1D}" presName="node" presStyleLbl="node1" presStyleIdx="1" presStyleCnt="3">
        <dgm:presLayoutVars>
          <dgm:bulletEnabled val="1"/>
        </dgm:presLayoutVars>
      </dgm:prSet>
      <dgm:spPr/>
    </dgm:pt>
    <dgm:pt modelId="{1F92C89B-8088-486D-9A83-4D7E70E6756C}" type="pres">
      <dgm:prSet presAssocID="{9EDF8B8A-1828-4D8E-969E-651134465731}" presName="sibTrans" presStyleLbl="sibTrans2D1" presStyleIdx="1" presStyleCnt="3"/>
      <dgm:spPr/>
    </dgm:pt>
    <dgm:pt modelId="{397ED1F2-7BEB-46FD-ADB1-C52EA567374B}" type="pres">
      <dgm:prSet presAssocID="{9EDF8B8A-1828-4D8E-969E-651134465731}" presName="connectorText" presStyleLbl="sibTrans2D1" presStyleIdx="1" presStyleCnt="3"/>
      <dgm:spPr/>
    </dgm:pt>
    <dgm:pt modelId="{1C51CDF6-3C6B-4918-9B48-755BE8F6FB97}" type="pres">
      <dgm:prSet presAssocID="{C1433D63-2D0E-4FD7-ABF1-63D0A0B7A07D}" presName="node" presStyleLbl="node1" presStyleIdx="2" presStyleCnt="3" custScaleX="102503" custScaleY="104572">
        <dgm:presLayoutVars>
          <dgm:bulletEnabled val="1"/>
        </dgm:presLayoutVars>
      </dgm:prSet>
      <dgm:spPr/>
    </dgm:pt>
    <dgm:pt modelId="{BADE62AF-E342-425C-9520-A953651F9221}" type="pres">
      <dgm:prSet presAssocID="{C520CDAF-EA05-4B03-9F23-3474BD4805C0}" presName="sibTrans" presStyleLbl="sibTrans2D1" presStyleIdx="2" presStyleCnt="3"/>
      <dgm:spPr/>
    </dgm:pt>
    <dgm:pt modelId="{F40A0883-A091-4F67-AD50-E74E4036B673}" type="pres">
      <dgm:prSet presAssocID="{C520CDAF-EA05-4B03-9F23-3474BD4805C0}" presName="connectorText" presStyleLbl="sibTrans2D1" presStyleIdx="2" presStyleCnt="3"/>
      <dgm:spPr/>
    </dgm:pt>
  </dgm:ptLst>
  <dgm:cxnLst>
    <dgm:cxn modelId="{926B7B28-26CA-4ABF-B373-7FED4BC68842}" srcId="{C4C36F85-6DB2-4E29-8809-B068909440E4}" destId="{C1433D63-2D0E-4FD7-ABF1-63D0A0B7A07D}" srcOrd="2" destOrd="0" parTransId="{EE48496C-E38E-446F-8947-0CD60EA751EE}" sibTransId="{C520CDAF-EA05-4B03-9F23-3474BD4805C0}"/>
    <dgm:cxn modelId="{29CB8F2A-3E31-42F3-BE29-2D33B010A545}" type="presOf" srcId="{C1433D63-2D0E-4FD7-ABF1-63D0A0B7A07D}" destId="{1C51CDF6-3C6B-4918-9B48-755BE8F6FB97}" srcOrd="0" destOrd="0" presId="urn:microsoft.com/office/officeart/2005/8/layout/cycle2"/>
    <dgm:cxn modelId="{88ED8033-30B1-4B0D-AC6C-11746E798B5F}" type="presOf" srcId="{C520CDAF-EA05-4B03-9F23-3474BD4805C0}" destId="{BADE62AF-E342-425C-9520-A953651F9221}" srcOrd="0" destOrd="0" presId="urn:microsoft.com/office/officeart/2005/8/layout/cycle2"/>
    <dgm:cxn modelId="{F363B25D-6C4D-4DD3-91AC-ACB6B6594526}" type="presOf" srcId="{1432282E-444A-47B5-A810-06C9A1B177E8}" destId="{FA58E14A-35D3-4B5E-9152-50FE51F5EBD9}" srcOrd="0" destOrd="0" presId="urn:microsoft.com/office/officeart/2005/8/layout/cycle2"/>
    <dgm:cxn modelId="{FE893D68-1EDE-4D76-90CA-9711D58588DF}" type="presOf" srcId="{9EDF8B8A-1828-4D8E-969E-651134465731}" destId="{1F92C89B-8088-486D-9A83-4D7E70E6756C}" srcOrd="0" destOrd="0" presId="urn:microsoft.com/office/officeart/2005/8/layout/cycle2"/>
    <dgm:cxn modelId="{98F6A56F-D8B9-4D19-82C2-E997A36EE5C7}" type="presOf" srcId="{9EDF8B8A-1828-4D8E-969E-651134465731}" destId="{397ED1F2-7BEB-46FD-ADB1-C52EA567374B}" srcOrd="1" destOrd="0" presId="urn:microsoft.com/office/officeart/2005/8/layout/cycle2"/>
    <dgm:cxn modelId="{62B06E76-4A40-4BD1-895E-A939DEEF614D}" type="presOf" srcId="{C520CDAF-EA05-4B03-9F23-3474BD4805C0}" destId="{F40A0883-A091-4F67-AD50-E74E4036B673}" srcOrd="1" destOrd="0" presId="urn:microsoft.com/office/officeart/2005/8/layout/cycle2"/>
    <dgm:cxn modelId="{0D098558-2D14-4765-B0AC-A2A37B979CBB}" srcId="{C4C36F85-6DB2-4E29-8809-B068909440E4}" destId="{6B51B6C6-4A13-4E41-B2E9-3CBD6DC18C1D}" srcOrd="1" destOrd="0" parTransId="{03E4400D-7C68-4F40-8325-D2044D180AE7}" sibTransId="{9EDF8B8A-1828-4D8E-969E-651134465731}"/>
    <dgm:cxn modelId="{E3A34180-61AD-4169-BE76-14BC339C7DCD}" type="presOf" srcId="{C4C36F85-6DB2-4E29-8809-B068909440E4}" destId="{C6DA46A7-2C5A-4CB2-9C2E-9BFAE0749E31}" srcOrd="0" destOrd="0" presId="urn:microsoft.com/office/officeart/2005/8/layout/cycle2"/>
    <dgm:cxn modelId="{2171D780-D8DC-4271-AAF0-6AEDBA44E8E5}" type="presOf" srcId="{E9AF442F-7D10-405F-AEF7-A82ECC8311BC}" destId="{49A236C6-CD27-4C6C-9EB9-E27879AB0A24}" srcOrd="0" destOrd="0" presId="urn:microsoft.com/office/officeart/2005/8/layout/cycle2"/>
    <dgm:cxn modelId="{36D3A7A8-7694-4D29-8B6A-BD56285D698F}" srcId="{C4C36F85-6DB2-4E29-8809-B068909440E4}" destId="{E9AF442F-7D10-405F-AEF7-A82ECC8311BC}" srcOrd="0" destOrd="0" parTransId="{EBB95C54-C81A-45E5-96D8-DA6EDCAD5FB2}" sibTransId="{1432282E-444A-47B5-A810-06C9A1B177E8}"/>
    <dgm:cxn modelId="{DE4B7BB4-FFF5-4150-92EE-1E62CA5F958F}" type="presOf" srcId="{1432282E-444A-47B5-A810-06C9A1B177E8}" destId="{2A713D61-8273-42EE-B1E2-F66E7C840540}" srcOrd="1" destOrd="0" presId="urn:microsoft.com/office/officeart/2005/8/layout/cycle2"/>
    <dgm:cxn modelId="{C074EFFF-C620-431A-AF4E-7B8FF848D0D2}" type="presOf" srcId="{6B51B6C6-4A13-4E41-B2E9-3CBD6DC18C1D}" destId="{65C9C5AA-8A36-4D56-B90B-7221C512FFC0}" srcOrd="0" destOrd="0" presId="urn:microsoft.com/office/officeart/2005/8/layout/cycle2"/>
    <dgm:cxn modelId="{3BEF5EE5-C7FA-4BF1-A2D9-20CEF37E4B3E}" type="presParOf" srcId="{C6DA46A7-2C5A-4CB2-9C2E-9BFAE0749E31}" destId="{49A236C6-CD27-4C6C-9EB9-E27879AB0A24}" srcOrd="0" destOrd="0" presId="urn:microsoft.com/office/officeart/2005/8/layout/cycle2"/>
    <dgm:cxn modelId="{5462E234-6CCA-438A-A1AE-63A153280C45}" type="presParOf" srcId="{C6DA46A7-2C5A-4CB2-9C2E-9BFAE0749E31}" destId="{FA58E14A-35D3-4B5E-9152-50FE51F5EBD9}" srcOrd="1" destOrd="0" presId="urn:microsoft.com/office/officeart/2005/8/layout/cycle2"/>
    <dgm:cxn modelId="{2B565B92-BE41-492A-B3ED-263C7471DBCA}" type="presParOf" srcId="{FA58E14A-35D3-4B5E-9152-50FE51F5EBD9}" destId="{2A713D61-8273-42EE-B1E2-F66E7C840540}" srcOrd="0" destOrd="0" presId="urn:microsoft.com/office/officeart/2005/8/layout/cycle2"/>
    <dgm:cxn modelId="{C0CD9307-FDD0-4E66-8BA1-64A1AFFC1FDA}" type="presParOf" srcId="{C6DA46A7-2C5A-4CB2-9C2E-9BFAE0749E31}" destId="{65C9C5AA-8A36-4D56-B90B-7221C512FFC0}" srcOrd="2" destOrd="0" presId="urn:microsoft.com/office/officeart/2005/8/layout/cycle2"/>
    <dgm:cxn modelId="{1E8300EF-1774-44D2-B7D4-81D237C9F602}" type="presParOf" srcId="{C6DA46A7-2C5A-4CB2-9C2E-9BFAE0749E31}" destId="{1F92C89B-8088-486D-9A83-4D7E70E6756C}" srcOrd="3" destOrd="0" presId="urn:microsoft.com/office/officeart/2005/8/layout/cycle2"/>
    <dgm:cxn modelId="{ABA78FA5-DC6D-4A40-A012-9999CE679476}" type="presParOf" srcId="{1F92C89B-8088-486D-9A83-4D7E70E6756C}" destId="{397ED1F2-7BEB-46FD-ADB1-C52EA567374B}" srcOrd="0" destOrd="0" presId="urn:microsoft.com/office/officeart/2005/8/layout/cycle2"/>
    <dgm:cxn modelId="{B1D9D03A-A6C3-4AC8-9444-4AE83174E2B8}" type="presParOf" srcId="{C6DA46A7-2C5A-4CB2-9C2E-9BFAE0749E31}" destId="{1C51CDF6-3C6B-4918-9B48-755BE8F6FB97}" srcOrd="4" destOrd="0" presId="urn:microsoft.com/office/officeart/2005/8/layout/cycle2"/>
    <dgm:cxn modelId="{154E691D-3CAB-4DD0-B1F5-9F7469F43E6E}" type="presParOf" srcId="{C6DA46A7-2C5A-4CB2-9C2E-9BFAE0749E31}" destId="{BADE62AF-E342-425C-9520-A953651F9221}" srcOrd="5" destOrd="0" presId="urn:microsoft.com/office/officeart/2005/8/layout/cycle2"/>
    <dgm:cxn modelId="{5A409A1C-45EA-4F17-B2CB-6FD97281767B}" type="presParOf" srcId="{BADE62AF-E342-425C-9520-A953651F9221}" destId="{F40A0883-A091-4F67-AD50-E74E4036B673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87A9785-4338-4547-8D80-6FEC2F32171D}" type="doc">
      <dgm:prSet loTypeId="urn:microsoft.com/office/officeart/2005/8/layout/vProcess5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GB"/>
        </a:p>
      </dgm:t>
    </dgm:pt>
    <dgm:pt modelId="{67F87773-98A6-41AC-84A0-DD05EA2A70FA}">
      <dgm:prSet/>
      <dgm:spPr/>
      <dgm:t>
        <a:bodyPr/>
        <a:lstStyle/>
        <a:p>
          <a:r>
            <a:rPr lang="en-GB" dirty="0"/>
            <a:t>Modification of an existing RAP</a:t>
          </a:r>
        </a:p>
      </dgm:t>
    </dgm:pt>
    <dgm:pt modelId="{7F1C483F-1C77-4C69-B949-6270C278D065}" type="parTrans" cxnId="{97B43533-6D00-422E-B397-C2624B89B9B1}">
      <dgm:prSet/>
      <dgm:spPr/>
      <dgm:t>
        <a:bodyPr/>
        <a:lstStyle/>
        <a:p>
          <a:endParaRPr lang="en-GB"/>
        </a:p>
      </dgm:t>
    </dgm:pt>
    <dgm:pt modelId="{68ED8ACB-6F14-4793-AAB3-83E374034AEF}" type="sibTrans" cxnId="{97B43533-6D00-422E-B397-C2624B89B9B1}">
      <dgm:prSet/>
      <dgm:spPr/>
      <dgm:t>
        <a:bodyPr/>
        <a:lstStyle/>
        <a:p>
          <a:endParaRPr lang="en-GB" dirty="0"/>
        </a:p>
      </dgm:t>
    </dgm:pt>
    <dgm:pt modelId="{A754EA0E-99D9-4313-9CAA-1B48D6E0E56F}">
      <dgm:prSet/>
      <dgm:spPr/>
      <dgm:t>
        <a:bodyPr/>
        <a:lstStyle/>
        <a:p>
          <a:r>
            <a:rPr lang="en-GB" dirty="0"/>
            <a:t>Extract standardised dataset, on a weekly basis</a:t>
          </a:r>
        </a:p>
      </dgm:t>
    </dgm:pt>
    <dgm:pt modelId="{AB1E1259-098B-4BFB-8985-B99130B91D54}" type="parTrans" cxnId="{193F5E1D-C1A7-4792-8674-172CB3D2B6FB}">
      <dgm:prSet/>
      <dgm:spPr/>
      <dgm:t>
        <a:bodyPr/>
        <a:lstStyle/>
        <a:p>
          <a:endParaRPr lang="en-GB"/>
        </a:p>
      </dgm:t>
    </dgm:pt>
    <dgm:pt modelId="{0D859F7D-44E4-462C-A435-209568AA7B25}" type="sibTrans" cxnId="{193F5E1D-C1A7-4792-8674-172CB3D2B6FB}">
      <dgm:prSet/>
      <dgm:spPr/>
      <dgm:t>
        <a:bodyPr/>
        <a:lstStyle/>
        <a:p>
          <a:endParaRPr lang="en-GB" dirty="0"/>
        </a:p>
      </dgm:t>
    </dgm:pt>
    <dgm:pt modelId="{19297FFA-3457-4CF7-BFC2-645D65C74C38}">
      <dgm:prSet/>
      <dgm:spPr/>
      <dgm:t>
        <a:bodyPr/>
        <a:lstStyle/>
        <a:p>
          <a:r>
            <a:rPr lang="en-GB" dirty="0"/>
            <a:t>Processed, cleaned, quality-checked, and analysed</a:t>
          </a:r>
        </a:p>
      </dgm:t>
    </dgm:pt>
    <dgm:pt modelId="{D2AC7A59-D417-42A6-A5B5-58E7C902103D}" type="parTrans" cxnId="{84564BBD-4130-49EA-BDC3-0F68EF37E7EA}">
      <dgm:prSet/>
      <dgm:spPr/>
      <dgm:t>
        <a:bodyPr/>
        <a:lstStyle/>
        <a:p>
          <a:endParaRPr lang="en-GB"/>
        </a:p>
      </dgm:t>
    </dgm:pt>
    <dgm:pt modelId="{66143A18-C446-4531-B446-F95DE2D6235D}" type="sibTrans" cxnId="{84564BBD-4130-49EA-BDC3-0F68EF37E7EA}">
      <dgm:prSet/>
      <dgm:spPr/>
      <dgm:t>
        <a:bodyPr/>
        <a:lstStyle/>
        <a:p>
          <a:endParaRPr lang="en-GB" dirty="0"/>
        </a:p>
      </dgm:t>
    </dgm:pt>
    <dgm:pt modelId="{A2D025C2-39E5-4423-83D0-619285D1A71D}">
      <dgm:prSet/>
      <dgm:spPr/>
      <dgm:t>
        <a:bodyPr/>
        <a:lstStyle/>
        <a:p>
          <a:pPr>
            <a:buNone/>
          </a:pPr>
          <a:r>
            <a:rPr lang="en-GB" dirty="0"/>
            <a:t>Final output: standardised HTML format report, </a:t>
          </a:r>
        </a:p>
      </dgm:t>
    </dgm:pt>
    <dgm:pt modelId="{8CF2D56A-3679-4019-86D1-1CD456D9C5BD}" type="parTrans" cxnId="{0A8378D2-24D9-485C-B92F-5C496052A749}">
      <dgm:prSet/>
      <dgm:spPr/>
      <dgm:t>
        <a:bodyPr/>
        <a:lstStyle/>
        <a:p>
          <a:endParaRPr lang="en-GB"/>
        </a:p>
      </dgm:t>
    </dgm:pt>
    <dgm:pt modelId="{A53623BC-C812-47F9-B585-AC4DCAA7F6F0}" type="sibTrans" cxnId="{0A8378D2-24D9-485C-B92F-5C496052A749}">
      <dgm:prSet/>
      <dgm:spPr/>
      <dgm:t>
        <a:bodyPr/>
        <a:lstStyle/>
        <a:p>
          <a:endParaRPr lang="en-GB" dirty="0"/>
        </a:p>
      </dgm:t>
    </dgm:pt>
    <dgm:pt modelId="{E41B39C7-AB7D-4F41-8FD8-C973E67772C0}">
      <dgm:prSet/>
      <dgm:spPr/>
      <dgm:t>
        <a:bodyPr/>
        <a:lstStyle/>
        <a:p>
          <a:r>
            <a:rPr lang="en-GB" dirty="0"/>
            <a:t>Automatically uploaded to a secure, central intranet hub</a:t>
          </a:r>
        </a:p>
      </dgm:t>
    </dgm:pt>
    <dgm:pt modelId="{E3A745FC-1E1F-4432-B7BF-57822AC5AC75}" type="parTrans" cxnId="{3C9BE3CA-CAAA-4161-AD30-0DE667698F18}">
      <dgm:prSet/>
      <dgm:spPr/>
      <dgm:t>
        <a:bodyPr/>
        <a:lstStyle/>
        <a:p>
          <a:endParaRPr lang="en-GB"/>
        </a:p>
      </dgm:t>
    </dgm:pt>
    <dgm:pt modelId="{B0D97CF9-E24F-4C90-9AC9-845238EB5DD7}" type="sibTrans" cxnId="{3C9BE3CA-CAAA-4161-AD30-0DE667698F18}">
      <dgm:prSet/>
      <dgm:spPr/>
      <dgm:t>
        <a:bodyPr/>
        <a:lstStyle/>
        <a:p>
          <a:endParaRPr lang="en-GB"/>
        </a:p>
      </dgm:t>
    </dgm:pt>
    <dgm:pt modelId="{652576EE-FD3C-4440-B0ED-D95156F330B8}">
      <dgm:prSet/>
      <dgm:spPr/>
      <dgm:t>
        <a:bodyPr/>
        <a:lstStyle/>
        <a:p>
          <a:r>
            <a:rPr lang="en-GB" dirty="0"/>
            <a:t>from secure data warehouse (DWH), using SQL (22) and R programming (23).</a:t>
          </a:r>
        </a:p>
      </dgm:t>
    </dgm:pt>
    <dgm:pt modelId="{9F17D691-F593-4805-BB94-255C41B289BC}" type="parTrans" cxnId="{FAF78023-0D44-43FD-B4A7-2E3A6F0D5586}">
      <dgm:prSet/>
      <dgm:spPr/>
      <dgm:t>
        <a:bodyPr/>
        <a:lstStyle/>
        <a:p>
          <a:endParaRPr lang="en-GB"/>
        </a:p>
      </dgm:t>
    </dgm:pt>
    <dgm:pt modelId="{FC296AA7-11ED-441C-8818-37E6BCE83362}" type="sibTrans" cxnId="{FAF78023-0D44-43FD-B4A7-2E3A6F0D5586}">
      <dgm:prSet/>
      <dgm:spPr/>
      <dgm:t>
        <a:bodyPr/>
        <a:lstStyle/>
        <a:p>
          <a:endParaRPr lang="en-GB"/>
        </a:p>
      </dgm:t>
    </dgm:pt>
    <dgm:pt modelId="{BB812B83-0C96-4E8F-8329-1A73A6BD9A24}">
      <dgm:prSet/>
      <dgm:spPr/>
      <dgm:t>
        <a:bodyPr/>
        <a:lstStyle/>
        <a:p>
          <a:r>
            <a:rPr lang="en-GB" dirty="0"/>
            <a:t>modular, re-usable, git version-controlled code </a:t>
          </a:r>
        </a:p>
      </dgm:t>
    </dgm:pt>
    <dgm:pt modelId="{392DAA5C-8B02-446C-BDC2-0194EFA9A09B}" type="parTrans" cxnId="{C0111386-5543-4428-8A38-61EE222180A8}">
      <dgm:prSet/>
      <dgm:spPr/>
      <dgm:t>
        <a:bodyPr/>
        <a:lstStyle/>
        <a:p>
          <a:endParaRPr lang="en-GB"/>
        </a:p>
      </dgm:t>
    </dgm:pt>
    <dgm:pt modelId="{E2FDF899-1721-47F5-97F9-D4C614C308C1}" type="sibTrans" cxnId="{C0111386-5543-4428-8A38-61EE222180A8}">
      <dgm:prSet/>
      <dgm:spPr/>
      <dgm:t>
        <a:bodyPr/>
        <a:lstStyle/>
        <a:p>
          <a:endParaRPr lang="en-GB"/>
        </a:p>
      </dgm:t>
    </dgm:pt>
    <dgm:pt modelId="{EDA87E48-DF3A-42E7-B161-1B516ED9EB63}">
      <dgm:prSet/>
      <dgm:spPr/>
      <dgm:t>
        <a:bodyPr/>
        <a:lstStyle/>
        <a:p>
          <a:r>
            <a:rPr lang="en-GB" dirty="0"/>
            <a:t>using R programming (23).</a:t>
          </a:r>
        </a:p>
      </dgm:t>
    </dgm:pt>
    <dgm:pt modelId="{C09081A4-C69E-474C-9F28-696A88D1EE1D}" type="parTrans" cxnId="{70EB0055-8740-4AB0-8059-12BF0745F121}">
      <dgm:prSet/>
      <dgm:spPr/>
      <dgm:t>
        <a:bodyPr/>
        <a:lstStyle/>
        <a:p>
          <a:endParaRPr lang="en-GB"/>
        </a:p>
      </dgm:t>
    </dgm:pt>
    <dgm:pt modelId="{F4588E49-C386-4060-A094-C2FC03041A15}" type="sibTrans" cxnId="{70EB0055-8740-4AB0-8059-12BF0745F121}">
      <dgm:prSet/>
      <dgm:spPr/>
      <dgm:t>
        <a:bodyPr/>
        <a:lstStyle/>
        <a:p>
          <a:endParaRPr lang="en-GB"/>
        </a:p>
      </dgm:t>
    </dgm:pt>
    <dgm:pt modelId="{0BDA43EC-3C41-43EC-8640-49B0EF85FCF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dirty="0"/>
            <a:t>generated using Quarto (24).</a:t>
          </a:r>
        </a:p>
      </dgm:t>
    </dgm:pt>
    <dgm:pt modelId="{DE74F399-835B-43CD-8181-069ABA9E062B}" type="parTrans" cxnId="{E5DE06CA-D595-4FC4-9038-B2B5F648F160}">
      <dgm:prSet/>
      <dgm:spPr/>
      <dgm:t>
        <a:bodyPr/>
        <a:lstStyle/>
        <a:p>
          <a:endParaRPr lang="en-GB"/>
        </a:p>
      </dgm:t>
    </dgm:pt>
    <dgm:pt modelId="{2AA7EFCE-51DE-4F85-A776-A149286F8743}" type="sibTrans" cxnId="{E5DE06CA-D595-4FC4-9038-B2B5F648F160}">
      <dgm:prSet/>
      <dgm:spPr/>
      <dgm:t>
        <a:bodyPr/>
        <a:lstStyle/>
        <a:p>
          <a:endParaRPr lang="en-GB"/>
        </a:p>
      </dgm:t>
    </dgm:pt>
    <dgm:pt modelId="{CE59AD9F-AD01-46BA-BBD7-EF0F9E57067A}">
      <dgm:prSet/>
      <dgm:spPr/>
      <dgm:t>
        <a:bodyPr/>
        <a:lstStyle/>
        <a:p>
          <a:r>
            <a:rPr lang="en-GB" dirty="0"/>
            <a:t>data science intranet site [IIS]</a:t>
          </a:r>
        </a:p>
      </dgm:t>
    </dgm:pt>
    <dgm:pt modelId="{63BFD75E-9C2F-4D9E-B2FD-0866BF203A84}" type="parTrans" cxnId="{76FCDE6C-410D-4987-BE9E-3A058EAEAC07}">
      <dgm:prSet/>
      <dgm:spPr/>
      <dgm:t>
        <a:bodyPr/>
        <a:lstStyle/>
        <a:p>
          <a:endParaRPr lang="en-GB"/>
        </a:p>
      </dgm:t>
    </dgm:pt>
    <dgm:pt modelId="{67209FAD-2D14-4659-A9A6-86F3DDF3C4C8}" type="sibTrans" cxnId="{76FCDE6C-410D-4987-BE9E-3A058EAEAC07}">
      <dgm:prSet/>
      <dgm:spPr/>
      <dgm:t>
        <a:bodyPr/>
        <a:lstStyle/>
        <a:p>
          <a:endParaRPr lang="en-GB"/>
        </a:p>
      </dgm:t>
    </dgm:pt>
    <dgm:pt modelId="{3438D61C-EE81-4B9A-973D-5E2C21A77A1D}" type="pres">
      <dgm:prSet presAssocID="{787A9785-4338-4547-8D80-6FEC2F32171D}" presName="outerComposite" presStyleCnt="0">
        <dgm:presLayoutVars>
          <dgm:chMax val="5"/>
          <dgm:dir/>
          <dgm:resizeHandles val="exact"/>
        </dgm:presLayoutVars>
      </dgm:prSet>
      <dgm:spPr/>
    </dgm:pt>
    <dgm:pt modelId="{06F309C9-B40F-4676-9B9D-92D543185C01}" type="pres">
      <dgm:prSet presAssocID="{787A9785-4338-4547-8D80-6FEC2F32171D}" presName="dummyMaxCanvas" presStyleCnt="0">
        <dgm:presLayoutVars/>
      </dgm:prSet>
      <dgm:spPr/>
    </dgm:pt>
    <dgm:pt modelId="{1230ACE4-8A27-44D2-8FB8-E4349A46C168}" type="pres">
      <dgm:prSet presAssocID="{787A9785-4338-4547-8D80-6FEC2F32171D}" presName="FiveNodes_1" presStyleLbl="node1" presStyleIdx="0" presStyleCnt="5">
        <dgm:presLayoutVars>
          <dgm:bulletEnabled val="1"/>
        </dgm:presLayoutVars>
      </dgm:prSet>
      <dgm:spPr/>
    </dgm:pt>
    <dgm:pt modelId="{E3BB101C-3D5C-4B7C-908B-8CC6257FA344}" type="pres">
      <dgm:prSet presAssocID="{787A9785-4338-4547-8D80-6FEC2F32171D}" presName="FiveNodes_2" presStyleLbl="node1" presStyleIdx="1" presStyleCnt="5">
        <dgm:presLayoutVars>
          <dgm:bulletEnabled val="1"/>
        </dgm:presLayoutVars>
      </dgm:prSet>
      <dgm:spPr/>
    </dgm:pt>
    <dgm:pt modelId="{0218250A-EBB8-4715-BEFB-7B9122B1FA48}" type="pres">
      <dgm:prSet presAssocID="{787A9785-4338-4547-8D80-6FEC2F32171D}" presName="FiveNodes_3" presStyleLbl="node1" presStyleIdx="2" presStyleCnt="5">
        <dgm:presLayoutVars>
          <dgm:bulletEnabled val="1"/>
        </dgm:presLayoutVars>
      </dgm:prSet>
      <dgm:spPr/>
    </dgm:pt>
    <dgm:pt modelId="{61807D33-D756-47B5-85C6-0837794E7DF2}" type="pres">
      <dgm:prSet presAssocID="{787A9785-4338-4547-8D80-6FEC2F32171D}" presName="FiveNodes_4" presStyleLbl="node1" presStyleIdx="3" presStyleCnt="5">
        <dgm:presLayoutVars>
          <dgm:bulletEnabled val="1"/>
        </dgm:presLayoutVars>
      </dgm:prSet>
      <dgm:spPr/>
    </dgm:pt>
    <dgm:pt modelId="{EEAE162C-6830-4D33-9D9F-D15EB25053B3}" type="pres">
      <dgm:prSet presAssocID="{787A9785-4338-4547-8D80-6FEC2F32171D}" presName="FiveNodes_5" presStyleLbl="node1" presStyleIdx="4" presStyleCnt="5">
        <dgm:presLayoutVars>
          <dgm:bulletEnabled val="1"/>
        </dgm:presLayoutVars>
      </dgm:prSet>
      <dgm:spPr/>
    </dgm:pt>
    <dgm:pt modelId="{CBEC6B7F-1ADC-4159-BB5E-950D75DFC32F}" type="pres">
      <dgm:prSet presAssocID="{787A9785-4338-4547-8D80-6FEC2F32171D}" presName="FiveConn_1-2" presStyleLbl="fgAccFollowNode1" presStyleIdx="0" presStyleCnt="4">
        <dgm:presLayoutVars>
          <dgm:bulletEnabled val="1"/>
        </dgm:presLayoutVars>
      </dgm:prSet>
      <dgm:spPr/>
    </dgm:pt>
    <dgm:pt modelId="{E04BDF8A-6BEB-4013-9122-FBB8E52060FD}" type="pres">
      <dgm:prSet presAssocID="{787A9785-4338-4547-8D80-6FEC2F32171D}" presName="FiveConn_2-3" presStyleLbl="fgAccFollowNode1" presStyleIdx="1" presStyleCnt="4">
        <dgm:presLayoutVars>
          <dgm:bulletEnabled val="1"/>
        </dgm:presLayoutVars>
      </dgm:prSet>
      <dgm:spPr/>
    </dgm:pt>
    <dgm:pt modelId="{57207114-FE88-4013-ACA9-8055CA77A77E}" type="pres">
      <dgm:prSet presAssocID="{787A9785-4338-4547-8D80-6FEC2F32171D}" presName="FiveConn_3-4" presStyleLbl="fgAccFollowNode1" presStyleIdx="2" presStyleCnt="4">
        <dgm:presLayoutVars>
          <dgm:bulletEnabled val="1"/>
        </dgm:presLayoutVars>
      </dgm:prSet>
      <dgm:spPr/>
    </dgm:pt>
    <dgm:pt modelId="{86AE71C8-BC55-43B4-98B0-F12566DF7F2D}" type="pres">
      <dgm:prSet presAssocID="{787A9785-4338-4547-8D80-6FEC2F32171D}" presName="FiveConn_4-5" presStyleLbl="fgAccFollowNode1" presStyleIdx="3" presStyleCnt="4">
        <dgm:presLayoutVars>
          <dgm:bulletEnabled val="1"/>
        </dgm:presLayoutVars>
      </dgm:prSet>
      <dgm:spPr/>
    </dgm:pt>
    <dgm:pt modelId="{E5AA2C1C-2725-4045-9BB8-208E2E9714B8}" type="pres">
      <dgm:prSet presAssocID="{787A9785-4338-4547-8D80-6FEC2F32171D}" presName="FiveNodes_1_text" presStyleLbl="node1" presStyleIdx="4" presStyleCnt="5">
        <dgm:presLayoutVars>
          <dgm:bulletEnabled val="1"/>
        </dgm:presLayoutVars>
      </dgm:prSet>
      <dgm:spPr/>
    </dgm:pt>
    <dgm:pt modelId="{7B51964F-E7C6-4C75-B546-E353C3451F55}" type="pres">
      <dgm:prSet presAssocID="{787A9785-4338-4547-8D80-6FEC2F32171D}" presName="FiveNodes_2_text" presStyleLbl="node1" presStyleIdx="4" presStyleCnt="5">
        <dgm:presLayoutVars>
          <dgm:bulletEnabled val="1"/>
        </dgm:presLayoutVars>
      </dgm:prSet>
      <dgm:spPr/>
    </dgm:pt>
    <dgm:pt modelId="{0716DCA1-5A7D-4232-AE91-9F14FDDED8D8}" type="pres">
      <dgm:prSet presAssocID="{787A9785-4338-4547-8D80-6FEC2F32171D}" presName="FiveNodes_3_text" presStyleLbl="node1" presStyleIdx="4" presStyleCnt="5">
        <dgm:presLayoutVars>
          <dgm:bulletEnabled val="1"/>
        </dgm:presLayoutVars>
      </dgm:prSet>
      <dgm:spPr/>
    </dgm:pt>
    <dgm:pt modelId="{D1AF0AD0-0A27-40A8-B822-652355727A96}" type="pres">
      <dgm:prSet presAssocID="{787A9785-4338-4547-8D80-6FEC2F32171D}" presName="FiveNodes_4_text" presStyleLbl="node1" presStyleIdx="4" presStyleCnt="5">
        <dgm:presLayoutVars>
          <dgm:bulletEnabled val="1"/>
        </dgm:presLayoutVars>
      </dgm:prSet>
      <dgm:spPr/>
    </dgm:pt>
    <dgm:pt modelId="{AB2E93F2-2312-4818-8F58-8FD00A0710C7}" type="pres">
      <dgm:prSet presAssocID="{787A9785-4338-4547-8D80-6FEC2F32171D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130C180B-315B-430C-91C8-80C8585945B7}" type="presOf" srcId="{0BDA43EC-3C41-43EC-8640-49B0EF85FCF3}" destId="{61807D33-D756-47B5-85C6-0837794E7DF2}" srcOrd="0" destOrd="1" presId="urn:microsoft.com/office/officeart/2005/8/layout/vProcess5"/>
    <dgm:cxn modelId="{0381460B-8035-4F17-A27C-F547F65AB070}" type="presOf" srcId="{68ED8ACB-6F14-4793-AAB3-83E374034AEF}" destId="{CBEC6B7F-1ADC-4159-BB5E-950D75DFC32F}" srcOrd="0" destOrd="0" presId="urn:microsoft.com/office/officeart/2005/8/layout/vProcess5"/>
    <dgm:cxn modelId="{193F5E1D-C1A7-4792-8674-172CB3D2B6FB}" srcId="{787A9785-4338-4547-8D80-6FEC2F32171D}" destId="{A754EA0E-99D9-4313-9CAA-1B48D6E0E56F}" srcOrd="1" destOrd="0" parTransId="{AB1E1259-098B-4BFB-8985-B99130B91D54}" sibTransId="{0D859F7D-44E4-462C-A435-209568AA7B25}"/>
    <dgm:cxn modelId="{FAF78023-0D44-43FD-B4A7-2E3A6F0D5586}" srcId="{A754EA0E-99D9-4313-9CAA-1B48D6E0E56F}" destId="{652576EE-FD3C-4440-B0ED-D95156F330B8}" srcOrd="0" destOrd="0" parTransId="{9F17D691-F593-4805-BB94-255C41B289BC}" sibTransId="{FC296AA7-11ED-441C-8818-37E6BCE83362}"/>
    <dgm:cxn modelId="{CD272428-00B0-41E4-93AE-3E4F06A8AA39}" type="presOf" srcId="{19297FFA-3457-4CF7-BFC2-645D65C74C38}" destId="{0716DCA1-5A7D-4232-AE91-9F14FDDED8D8}" srcOrd="1" destOrd="0" presId="urn:microsoft.com/office/officeart/2005/8/layout/vProcess5"/>
    <dgm:cxn modelId="{1FCEBD2A-6B4F-424E-B385-7FC842FEE980}" type="presOf" srcId="{652576EE-FD3C-4440-B0ED-D95156F330B8}" destId="{E3BB101C-3D5C-4B7C-908B-8CC6257FA344}" srcOrd="0" destOrd="1" presId="urn:microsoft.com/office/officeart/2005/8/layout/vProcess5"/>
    <dgm:cxn modelId="{13D05B2C-A79B-4497-A5FA-273CF6C5E29F}" type="presOf" srcId="{A53623BC-C812-47F9-B585-AC4DCAA7F6F0}" destId="{86AE71C8-BC55-43B4-98B0-F12566DF7F2D}" srcOrd="0" destOrd="0" presId="urn:microsoft.com/office/officeart/2005/8/layout/vProcess5"/>
    <dgm:cxn modelId="{97B43533-6D00-422E-B397-C2624B89B9B1}" srcId="{787A9785-4338-4547-8D80-6FEC2F32171D}" destId="{67F87773-98A6-41AC-84A0-DD05EA2A70FA}" srcOrd="0" destOrd="0" parTransId="{7F1C483F-1C77-4C69-B949-6270C278D065}" sibTransId="{68ED8ACB-6F14-4793-AAB3-83E374034AEF}"/>
    <dgm:cxn modelId="{3DA69D36-E980-4ACE-84F7-ED1D77CC7BFF}" type="presOf" srcId="{A754EA0E-99D9-4313-9CAA-1B48D6E0E56F}" destId="{7B51964F-E7C6-4C75-B546-E353C3451F55}" srcOrd="1" destOrd="0" presId="urn:microsoft.com/office/officeart/2005/8/layout/vProcess5"/>
    <dgm:cxn modelId="{CAE7E93F-87DC-4B39-8887-EF435CA37C99}" type="presOf" srcId="{A2D025C2-39E5-4423-83D0-619285D1A71D}" destId="{61807D33-D756-47B5-85C6-0837794E7DF2}" srcOrd="0" destOrd="0" presId="urn:microsoft.com/office/officeart/2005/8/layout/vProcess5"/>
    <dgm:cxn modelId="{81A3BA5E-B6A6-4CCE-97A2-D74DE2FB756B}" type="presOf" srcId="{E41B39C7-AB7D-4F41-8FD8-C973E67772C0}" destId="{AB2E93F2-2312-4818-8F58-8FD00A0710C7}" srcOrd="1" destOrd="0" presId="urn:microsoft.com/office/officeart/2005/8/layout/vProcess5"/>
    <dgm:cxn modelId="{4D2F5A66-B945-4474-95D9-4B497799FDEA}" type="presOf" srcId="{19297FFA-3457-4CF7-BFC2-645D65C74C38}" destId="{0218250A-EBB8-4715-BEFB-7B9122B1FA48}" srcOrd="0" destOrd="0" presId="urn:microsoft.com/office/officeart/2005/8/layout/vProcess5"/>
    <dgm:cxn modelId="{F82D9E48-2475-4992-B359-35AA496A82DF}" type="presOf" srcId="{BB812B83-0C96-4E8F-8329-1A73A6BD9A24}" destId="{E5AA2C1C-2725-4045-9BB8-208E2E9714B8}" srcOrd="1" destOrd="1" presId="urn:microsoft.com/office/officeart/2005/8/layout/vProcess5"/>
    <dgm:cxn modelId="{73F4554C-62BE-4FDE-98AD-0D1E6FDADBDF}" type="presOf" srcId="{CE59AD9F-AD01-46BA-BBD7-EF0F9E57067A}" destId="{AB2E93F2-2312-4818-8F58-8FD00A0710C7}" srcOrd="1" destOrd="1" presId="urn:microsoft.com/office/officeart/2005/8/layout/vProcess5"/>
    <dgm:cxn modelId="{76FCDE6C-410D-4987-BE9E-3A058EAEAC07}" srcId="{E41B39C7-AB7D-4F41-8FD8-C973E67772C0}" destId="{CE59AD9F-AD01-46BA-BBD7-EF0F9E57067A}" srcOrd="0" destOrd="0" parTransId="{63BFD75E-9C2F-4D9E-B2FD-0866BF203A84}" sibTransId="{67209FAD-2D14-4659-A9A6-86F3DDF3C4C8}"/>
    <dgm:cxn modelId="{A3E06C54-8E6B-4E7E-BFEB-695A2658286C}" type="presOf" srcId="{67F87773-98A6-41AC-84A0-DD05EA2A70FA}" destId="{1230ACE4-8A27-44D2-8FB8-E4349A46C168}" srcOrd="0" destOrd="0" presId="urn:microsoft.com/office/officeart/2005/8/layout/vProcess5"/>
    <dgm:cxn modelId="{70EB0055-8740-4AB0-8059-12BF0745F121}" srcId="{19297FFA-3457-4CF7-BFC2-645D65C74C38}" destId="{EDA87E48-DF3A-42E7-B161-1B516ED9EB63}" srcOrd="0" destOrd="0" parTransId="{C09081A4-C69E-474C-9F28-696A88D1EE1D}" sibTransId="{F4588E49-C386-4060-A094-C2FC03041A15}"/>
    <dgm:cxn modelId="{A5588B59-7BB2-436A-A9E3-C5AA3BF6D1DB}" type="presOf" srcId="{66143A18-C446-4531-B446-F95DE2D6235D}" destId="{57207114-FE88-4013-ACA9-8055CA77A77E}" srcOrd="0" destOrd="0" presId="urn:microsoft.com/office/officeart/2005/8/layout/vProcess5"/>
    <dgm:cxn modelId="{398D457E-173F-483B-AE98-496588F24D1E}" type="presOf" srcId="{652576EE-FD3C-4440-B0ED-D95156F330B8}" destId="{7B51964F-E7C6-4C75-B546-E353C3451F55}" srcOrd="1" destOrd="1" presId="urn:microsoft.com/office/officeart/2005/8/layout/vProcess5"/>
    <dgm:cxn modelId="{C0111386-5543-4428-8A38-61EE222180A8}" srcId="{67F87773-98A6-41AC-84A0-DD05EA2A70FA}" destId="{BB812B83-0C96-4E8F-8329-1A73A6BD9A24}" srcOrd="0" destOrd="0" parTransId="{392DAA5C-8B02-446C-BDC2-0194EFA9A09B}" sibTransId="{E2FDF899-1721-47F5-97F9-D4C614C308C1}"/>
    <dgm:cxn modelId="{7A11C6A1-82AE-46A3-84AE-F33E847E2527}" type="presOf" srcId="{EDA87E48-DF3A-42E7-B161-1B516ED9EB63}" destId="{0716DCA1-5A7D-4232-AE91-9F14FDDED8D8}" srcOrd="1" destOrd="1" presId="urn:microsoft.com/office/officeart/2005/8/layout/vProcess5"/>
    <dgm:cxn modelId="{8FAAD1AA-8001-41EB-A3AC-060D9640F774}" type="presOf" srcId="{67F87773-98A6-41AC-84A0-DD05EA2A70FA}" destId="{E5AA2C1C-2725-4045-9BB8-208E2E9714B8}" srcOrd="1" destOrd="0" presId="urn:microsoft.com/office/officeart/2005/8/layout/vProcess5"/>
    <dgm:cxn modelId="{5BA14EBB-BDD5-4C54-8854-4BB0B056283B}" type="presOf" srcId="{BB812B83-0C96-4E8F-8329-1A73A6BD9A24}" destId="{1230ACE4-8A27-44D2-8FB8-E4349A46C168}" srcOrd="0" destOrd="1" presId="urn:microsoft.com/office/officeart/2005/8/layout/vProcess5"/>
    <dgm:cxn modelId="{84564BBD-4130-49EA-BDC3-0F68EF37E7EA}" srcId="{787A9785-4338-4547-8D80-6FEC2F32171D}" destId="{19297FFA-3457-4CF7-BFC2-645D65C74C38}" srcOrd="2" destOrd="0" parTransId="{D2AC7A59-D417-42A6-A5B5-58E7C902103D}" sibTransId="{66143A18-C446-4531-B446-F95DE2D6235D}"/>
    <dgm:cxn modelId="{E5DE06CA-D595-4FC4-9038-B2B5F648F160}" srcId="{A2D025C2-39E5-4423-83D0-619285D1A71D}" destId="{0BDA43EC-3C41-43EC-8640-49B0EF85FCF3}" srcOrd="0" destOrd="0" parTransId="{DE74F399-835B-43CD-8181-069ABA9E062B}" sibTransId="{2AA7EFCE-51DE-4F85-A776-A149286F8743}"/>
    <dgm:cxn modelId="{3C9BE3CA-CAAA-4161-AD30-0DE667698F18}" srcId="{787A9785-4338-4547-8D80-6FEC2F32171D}" destId="{E41B39C7-AB7D-4F41-8FD8-C973E67772C0}" srcOrd="4" destOrd="0" parTransId="{E3A745FC-1E1F-4432-B7BF-57822AC5AC75}" sibTransId="{B0D97CF9-E24F-4C90-9AC9-845238EB5DD7}"/>
    <dgm:cxn modelId="{0A8378D2-24D9-485C-B92F-5C496052A749}" srcId="{787A9785-4338-4547-8D80-6FEC2F32171D}" destId="{A2D025C2-39E5-4423-83D0-619285D1A71D}" srcOrd="3" destOrd="0" parTransId="{8CF2D56A-3679-4019-86D1-1CD456D9C5BD}" sibTransId="{A53623BC-C812-47F9-B585-AC4DCAA7F6F0}"/>
    <dgm:cxn modelId="{4023EED6-E2DF-4D92-A394-188CF74707A4}" type="presOf" srcId="{E41B39C7-AB7D-4F41-8FD8-C973E67772C0}" destId="{EEAE162C-6830-4D33-9D9F-D15EB25053B3}" srcOrd="0" destOrd="0" presId="urn:microsoft.com/office/officeart/2005/8/layout/vProcess5"/>
    <dgm:cxn modelId="{047ACED8-80FB-4E86-87B2-4E96031F175E}" type="presOf" srcId="{0D859F7D-44E4-462C-A435-209568AA7B25}" destId="{E04BDF8A-6BEB-4013-9122-FBB8E52060FD}" srcOrd="0" destOrd="0" presId="urn:microsoft.com/office/officeart/2005/8/layout/vProcess5"/>
    <dgm:cxn modelId="{3E5C12DC-4624-4BCE-B98B-E2EF3FD39B0D}" type="presOf" srcId="{EDA87E48-DF3A-42E7-B161-1B516ED9EB63}" destId="{0218250A-EBB8-4715-BEFB-7B9122B1FA48}" srcOrd="0" destOrd="1" presId="urn:microsoft.com/office/officeart/2005/8/layout/vProcess5"/>
    <dgm:cxn modelId="{A50E4ADE-E30F-4CA1-9E78-157132F8C349}" type="presOf" srcId="{0BDA43EC-3C41-43EC-8640-49B0EF85FCF3}" destId="{D1AF0AD0-0A27-40A8-B822-652355727A96}" srcOrd="1" destOrd="1" presId="urn:microsoft.com/office/officeart/2005/8/layout/vProcess5"/>
    <dgm:cxn modelId="{D0B3B8DF-12E2-4E36-8409-72478A7C38AA}" type="presOf" srcId="{CE59AD9F-AD01-46BA-BBD7-EF0F9E57067A}" destId="{EEAE162C-6830-4D33-9D9F-D15EB25053B3}" srcOrd="0" destOrd="1" presId="urn:microsoft.com/office/officeart/2005/8/layout/vProcess5"/>
    <dgm:cxn modelId="{224C43F0-C7F7-4E88-B91E-2A655B7CF345}" type="presOf" srcId="{A754EA0E-99D9-4313-9CAA-1B48D6E0E56F}" destId="{E3BB101C-3D5C-4B7C-908B-8CC6257FA344}" srcOrd="0" destOrd="0" presId="urn:microsoft.com/office/officeart/2005/8/layout/vProcess5"/>
    <dgm:cxn modelId="{CFD2D3F2-CC34-4995-BA18-2426DC23B344}" type="presOf" srcId="{787A9785-4338-4547-8D80-6FEC2F32171D}" destId="{3438D61C-EE81-4B9A-973D-5E2C21A77A1D}" srcOrd="0" destOrd="0" presId="urn:microsoft.com/office/officeart/2005/8/layout/vProcess5"/>
    <dgm:cxn modelId="{2DFF70F4-686B-47EF-8601-0C107C71204D}" type="presOf" srcId="{A2D025C2-39E5-4423-83D0-619285D1A71D}" destId="{D1AF0AD0-0A27-40A8-B822-652355727A96}" srcOrd="1" destOrd="0" presId="urn:microsoft.com/office/officeart/2005/8/layout/vProcess5"/>
    <dgm:cxn modelId="{61CAD046-0325-4269-83E6-982152FA342A}" type="presParOf" srcId="{3438D61C-EE81-4B9A-973D-5E2C21A77A1D}" destId="{06F309C9-B40F-4676-9B9D-92D543185C01}" srcOrd="0" destOrd="0" presId="urn:microsoft.com/office/officeart/2005/8/layout/vProcess5"/>
    <dgm:cxn modelId="{AD6757DF-219F-4AC6-8D8B-632BF7232944}" type="presParOf" srcId="{3438D61C-EE81-4B9A-973D-5E2C21A77A1D}" destId="{1230ACE4-8A27-44D2-8FB8-E4349A46C168}" srcOrd="1" destOrd="0" presId="urn:microsoft.com/office/officeart/2005/8/layout/vProcess5"/>
    <dgm:cxn modelId="{E8D0F511-4C8C-4FE1-B6FE-7A004DCBC350}" type="presParOf" srcId="{3438D61C-EE81-4B9A-973D-5E2C21A77A1D}" destId="{E3BB101C-3D5C-4B7C-908B-8CC6257FA344}" srcOrd="2" destOrd="0" presId="urn:microsoft.com/office/officeart/2005/8/layout/vProcess5"/>
    <dgm:cxn modelId="{EAB988E0-5A56-43F3-A6A2-406DF41D948E}" type="presParOf" srcId="{3438D61C-EE81-4B9A-973D-5E2C21A77A1D}" destId="{0218250A-EBB8-4715-BEFB-7B9122B1FA48}" srcOrd="3" destOrd="0" presId="urn:microsoft.com/office/officeart/2005/8/layout/vProcess5"/>
    <dgm:cxn modelId="{52E66565-5E47-423F-B08D-CE0376655386}" type="presParOf" srcId="{3438D61C-EE81-4B9A-973D-5E2C21A77A1D}" destId="{61807D33-D756-47B5-85C6-0837794E7DF2}" srcOrd="4" destOrd="0" presId="urn:microsoft.com/office/officeart/2005/8/layout/vProcess5"/>
    <dgm:cxn modelId="{C8C7E92E-4A6D-44C1-AFB8-1E137A242C50}" type="presParOf" srcId="{3438D61C-EE81-4B9A-973D-5E2C21A77A1D}" destId="{EEAE162C-6830-4D33-9D9F-D15EB25053B3}" srcOrd="5" destOrd="0" presId="urn:microsoft.com/office/officeart/2005/8/layout/vProcess5"/>
    <dgm:cxn modelId="{16C120F1-52BD-4833-A1E9-E7E7655D425B}" type="presParOf" srcId="{3438D61C-EE81-4B9A-973D-5E2C21A77A1D}" destId="{CBEC6B7F-1ADC-4159-BB5E-950D75DFC32F}" srcOrd="6" destOrd="0" presId="urn:microsoft.com/office/officeart/2005/8/layout/vProcess5"/>
    <dgm:cxn modelId="{C5DEB9C8-C735-4113-90E6-B8199D0CD0CC}" type="presParOf" srcId="{3438D61C-EE81-4B9A-973D-5E2C21A77A1D}" destId="{E04BDF8A-6BEB-4013-9122-FBB8E52060FD}" srcOrd="7" destOrd="0" presId="urn:microsoft.com/office/officeart/2005/8/layout/vProcess5"/>
    <dgm:cxn modelId="{7E04CB37-66CE-45D8-ADA3-342B3231C5A4}" type="presParOf" srcId="{3438D61C-EE81-4B9A-973D-5E2C21A77A1D}" destId="{57207114-FE88-4013-ACA9-8055CA77A77E}" srcOrd="8" destOrd="0" presId="urn:microsoft.com/office/officeart/2005/8/layout/vProcess5"/>
    <dgm:cxn modelId="{3454700C-EE08-48F7-9CAD-79A89671A7AB}" type="presParOf" srcId="{3438D61C-EE81-4B9A-973D-5E2C21A77A1D}" destId="{86AE71C8-BC55-43B4-98B0-F12566DF7F2D}" srcOrd="9" destOrd="0" presId="urn:microsoft.com/office/officeart/2005/8/layout/vProcess5"/>
    <dgm:cxn modelId="{9B530BC4-02D6-4122-BB2B-FA21AF011416}" type="presParOf" srcId="{3438D61C-EE81-4B9A-973D-5E2C21A77A1D}" destId="{E5AA2C1C-2725-4045-9BB8-208E2E9714B8}" srcOrd="10" destOrd="0" presId="urn:microsoft.com/office/officeart/2005/8/layout/vProcess5"/>
    <dgm:cxn modelId="{132A4353-8C29-452D-831B-2B80273DC011}" type="presParOf" srcId="{3438D61C-EE81-4B9A-973D-5E2C21A77A1D}" destId="{7B51964F-E7C6-4C75-B546-E353C3451F55}" srcOrd="11" destOrd="0" presId="urn:microsoft.com/office/officeart/2005/8/layout/vProcess5"/>
    <dgm:cxn modelId="{1CEDC20A-5D92-4DA6-B40C-436E742646C4}" type="presParOf" srcId="{3438D61C-EE81-4B9A-973D-5E2C21A77A1D}" destId="{0716DCA1-5A7D-4232-AE91-9F14FDDED8D8}" srcOrd="12" destOrd="0" presId="urn:microsoft.com/office/officeart/2005/8/layout/vProcess5"/>
    <dgm:cxn modelId="{09597E29-AA43-4BC7-AEB7-BD03FD5ED83D}" type="presParOf" srcId="{3438D61C-EE81-4B9A-973D-5E2C21A77A1D}" destId="{D1AF0AD0-0A27-40A8-B822-652355727A96}" srcOrd="13" destOrd="0" presId="urn:microsoft.com/office/officeart/2005/8/layout/vProcess5"/>
    <dgm:cxn modelId="{BC8BADF3-883A-45D8-A802-E1FA13262568}" type="presParOf" srcId="{3438D61C-EE81-4B9A-973D-5E2C21A77A1D}" destId="{AB2E93F2-2312-4818-8F58-8FD00A0710C7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A236C6-CD27-4C6C-9EB9-E27879AB0A24}">
      <dsp:nvSpPr>
        <dsp:cNvPr id="0" name=""/>
        <dsp:cNvSpPr/>
      </dsp:nvSpPr>
      <dsp:spPr>
        <a:xfrm>
          <a:off x="3463009" y="-22146"/>
          <a:ext cx="2027038" cy="20270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Feedback/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‘Reflexive monitoring’</a:t>
          </a:r>
        </a:p>
      </dsp:txBody>
      <dsp:txXfrm>
        <a:off x="3759862" y="274707"/>
        <a:ext cx="1433332" cy="1433332"/>
      </dsp:txXfrm>
    </dsp:sp>
    <dsp:sp modelId="{FA58E14A-35D3-4B5E-9152-50FE51F5EBD9}">
      <dsp:nvSpPr>
        <dsp:cNvPr id="0" name=""/>
        <dsp:cNvSpPr/>
      </dsp:nvSpPr>
      <dsp:spPr>
        <a:xfrm rot="3600000">
          <a:off x="4960417" y="1953998"/>
          <a:ext cx="538747" cy="6841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 dirty="0"/>
        </a:p>
      </dsp:txBody>
      <dsp:txXfrm>
        <a:off x="5000823" y="2020838"/>
        <a:ext cx="377123" cy="410475"/>
      </dsp:txXfrm>
    </dsp:sp>
    <dsp:sp modelId="{65C9C5AA-8A36-4D56-B90B-7221C512FFC0}">
      <dsp:nvSpPr>
        <dsp:cNvPr id="0" name=""/>
        <dsp:cNvSpPr/>
      </dsp:nvSpPr>
      <dsp:spPr>
        <a:xfrm>
          <a:off x="4984781" y="2613639"/>
          <a:ext cx="2027038" cy="20270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Shared understanding/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‘Coherence’</a:t>
          </a:r>
        </a:p>
      </dsp:txBody>
      <dsp:txXfrm>
        <a:off x="5281634" y="2910492"/>
        <a:ext cx="1433332" cy="1433332"/>
      </dsp:txXfrm>
    </dsp:sp>
    <dsp:sp modelId="{1F92C89B-8088-486D-9A83-4D7E70E6756C}">
      <dsp:nvSpPr>
        <dsp:cNvPr id="0" name=""/>
        <dsp:cNvSpPr/>
      </dsp:nvSpPr>
      <dsp:spPr>
        <a:xfrm rot="10800000">
          <a:off x="4241429" y="3285096"/>
          <a:ext cx="525302" cy="6841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 dirty="0"/>
        </a:p>
      </dsp:txBody>
      <dsp:txXfrm rot="10800000">
        <a:off x="4399020" y="3421921"/>
        <a:ext cx="367711" cy="410475"/>
      </dsp:txXfrm>
    </dsp:sp>
    <dsp:sp modelId="{1C51CDF6-3C6B-4918-9B48-755BE8F6FB97}">
      <dsp:nvSpPr>
        <dsp:cNvPr id="0" name=""/>
        <dsp:cNvSpPr/>
      </dsp:nvSpPr>
      <dsp:spPr>
        <a:xfrm>
          <a:off x="1915869" y="2567301"/>
          <a:ext cx="2077775" cy="21197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Routine embedding/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 ‘Normalisation’</a:t>
          </a:r>
        </a:p>
      </dsp:txBody>
      <dsp:txXfrm>
        <a:off x="2220152" y="2877726"/>
        <a:ext cx="1469209" cy="1498865"/>
      </dsp:txXfrm>
    </dsp:sp>
    <dsp:sp modelId="{BADE62AF-E342-425C-9520-A953651F9221}">
      <dsp:nvSpPr>
        <dsp:cNvPr id="0" name=""/>
        <dsp:cNvSpPr/>
      </dsp:nvSpPr>
      <dsp:spPr>
        <a:xfrm rot="18000000">
          <a:off x="3460056" y="1962132"/>
          <a:ext cx="517029" cy="6841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 dirty="0"/>
        </a:p>
      </dsp:txBody>
      <dsp:txXfrm>
        <a:off x="3498833" y="2166121"/>
        <a:ext cx="361920" cy="4104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30ACE4-8A27-44D2-8FB8-E4349A46C168}">
      <dsp:nvSpPr>
        <dsp:cNvPr id="0" name=""/>
        <dsp:cNvSpPr/>
      </dsp:nvSpPr>
      <dsp:spPr>
        <a:xfrm>
          <a:off x="0" y="0"/>
          <a:ext cx="6072759" cy="78492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Modification of an existing RAP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/>
            <a:t>modular, re-usable, git version-controlled code </a:t>
          </a:r>
        </a:p>
      </dsp:txBody>
      <dsp:txXfrm>
        <a:off x="22990" y="22990"/>
        <a:ext cx="5133924" cy="738946"/>
      </dsp:txXfrm>
    </dsp:sp>
    <dsp:sp modelId="{E3BB101C-3D5C-4B7C-908B-8CC6257FA344}">
      <dsp:nvSpPr>
        <dsp:cNvPr id="0" name=""/>
        <dsp:cNvSpPr/>
      </dsp:nvSpPr>
      <dsp:spPr>
        <a:xfrm>
          <a:off x="453485" y="893944"/>
          <a:ext cx="6072759" cy="78492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Extract standardised dataset, on a weekly basis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/>
            <a:t>from secure data warehouse (DWH), using SQL (22) and R programming (23).</a:t>
          </a:r>
        </a:p>
      </dsp:txBody>
      <dsp:txXfrm>
        <a:off x="476475" y="916934"/>
        <a:ext cx="5063091" cy="738946"/>
      </dsp:txXfrm>
    </dsp:sp>
    <dsp:sp modelId="{0218250A-EBB8-4715-BEFB-7B9122B1FA48}">
      <dsp:nvSpPr>
        <dsp:cNvPr id="0" name=""/>
        <dsp:cNvSpPr/>
      </dsp:nvSpPr>
      <dsp:spPr>
        <a:xfrm>
          <a:off x="906970" y="1787889"/>
          <a:ext cx="6072759" cy="78492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Processed, cleaned, quality-checked, and analysed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/>
            <a:t>using R programming (23).</a:t>
          </a:r>
        </a:p>
      </dsp:txBody>
      <dsp:txXfrm>
        <a:off x="929960" y="1810879"/>
        <a:ext cx="5063091" cy="738946"/>
      </dsp:txXfrm>
    </dsp:sp>
    <dsp:sp modelId="{61807D33-D756-47B5-85C6-0837794E7DF2}">
      <dsp:nvSpPr>
        <dsp:cNvPr id="0" name=""/>
        <dsp:cNvSpPr/>
      </dsp:nvSpPr>
      <dsp:spPr>
        <a:xfrm>
          <a:off x="1360455" y="2681833"/>
          <a:ext cx="6072759" cy="78492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Final output: standardised HTML format report,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200" kern="1200" dirty="0"/>
            <a:t>generated using Quarto (24).</a:t>
          </a:r>
        </a:p>
      </dsp:txBody>
      <dsp:txXfrm>
        <a:off x="1383445" y="2704823"/>
        <a:ext cx="5063091" cy="738946"/>
      </dsp:txXfrm>
    </dsp:sp>
    <dsp:sp modelId="{EEAE162C-6830-4D33-9D9F-D15EB25053B3}">
      <dsp:nvSpPr>
        <dsp:cNvPr id="0" name=""/>
        <dsp:cNvSpPr/>
      </dsp:nvSpPr>
      <dsp:spPr>
        <a:xfrm>
          <a:off x="1813940" y="3575778"/>
          <a:ext cx="6072759" cy="78492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Automatically uploaded to a secure, central intranet hub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 dirty="0"/>
            <a:t>data science intranet site [IIS]</a:t>
          </a:r>
        </a:p>
      </dsp:txBody>
      <dsp:txXfrm>
        <a:off x="1836930" y="3598768"/>
        <a:ext cx="5063091" cy="738946"/>
      </dsp:txXfrm>
    </dsp:sp>
    <dsp:sp modelId="{CBEC6B7F-1ADC-4159-BB5E-950D75DFC32F}">
      <dsp:nvSpPr>
        <dsp:cNvPr id="0" name=""/>
        <dsp:cNvSpPr/>
      </dsp:nvSpPr>
      <dsp:spPr>
        <a:xfrm>
          <a:off x="5562556" y="573432"/>
          <a:ext cx="510202" cy="510202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300" kern="1200" dirty="0"/>
        </a:p>
      </dsp:txBody>
      <dsp:txXfrm>
        <a:off x="5677351" y="573432"/>
        <a:ext cx="280612" cy="383927"/>
      </dsp:txXfrm>
    </dsp:sp>
    <dsp:sp modelId="{E04BDF8A-6BEB-4013-9122-FBB8E52060FD}">
      <dsp:nvSpPr>
        <dsp:cNvPr id="0" name=""/>
        <dsp:cNvSpPr/>
      </dsp:nvSpPr>
      <dsp:spPr>
        <a:xfrm>
          <a:off x="6016041" y="1467377"/>
          <a:ext cx="510202" cy="510202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300" kern="1200" dirty="0"/>
        </a:p>
      </dsp:txBody>
      <dsp:txXfrm>
        <a:off x="6130836" y="1467377"/>
        <a:ext cx="280612" cy="383927"/>
      </dsp:txXfrm>
    </dsp:sp>
    <dsp:sp modelId="{57207114-FE88-4013-ACA9-8055CA77A77E}">
      <dsp:nvSpPr>
        <dsp:cNvPr id="0" name=""/>
        <dsp:cNvSpPr/>
      </dsp:nvSpPr>
      <dsp:spPr>
        <a:xfrm>
          <a:off x="6469527" y="2348239"/>
          <a:ext cx="510202" cy="510202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300" kern="1200" dirty="0"/>
        </a:p>
      </dsp:txBody>
      <dsp:txXfrm>
        <a:off x="6584322" y="2348239"/>
        <a:ext cx="280612" cy="383927"/>
      </dsp:txXfrm>
    </dsp:sp>
    <dsp:sp modelId="{86AE71C8-BC55-43B4-98B0-F12566DF7F2D}">
      <dsp:nvSpPr>
        <dsp:cNvPr id="0" name=""/>
        <dsp:cNvSpPr/>
      </dsp:nvSpPr>
      <dsp:spPr>
        <a:xfrm>
          <a:off x="6923012" y="3250905"/>
          <a:ext cx="510202" cy="510202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300" kern="1200" dirty="0"/>
        </a:p>
      </dsp:txBody>
      <dsp:txXfrm>
        <a:off x="7037807" y="3250905"/>
        <a:ext cx="280612" cy="3839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RPySOC 2025 | NHS-R conference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 Weiand, J Lupton, P Le Roux et al.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RPySOC 2025 | NHS-R conference 2025</a:t>
            </a:r>
          </a:p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 Weiand, J Lupton, P Le Roux et 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RPySOC 2025 | NHS-R conference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D Weiand, J Lupton, P Le Roux et al.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qr code with a black background&#10;&#10;AI-generated content may be incorrect.">
            <a:extLst>
              <a:ext uri="{FF2B5EF4-FFF2-40B4-BE49-F238E27FC236}">
                <a16:creationId xmlns:a16="http://schemas.microsoft.com/office/drawing/2014/main" id="{31A2F951-641C-3910-2978-8BB413794A3F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263697" y="4258206"/>
            <a:ext cx="857250" cy="857250"/>
          </a:xfrm>
          <a:prstGeom prst="rect">
            <a:avLst/>
          </a:prstGeom>
        </p:spPr>
      </p:pic>
      <p:pic>
        <p:nvPicPr>
          <p:cNvPr id="10" name="Picture 9" descr="A close up of a logo&#10;&#10;AI-generated content may be incorrect.">
            <a:extLst>
              <a:ext uri="{FF2B5EF4-FFF2-40B4-BE49-F238E27FC236}">
                <a16:creationId xmlns:a16="http://schemas.microsoft.com/office/drawing/2014/main" id="{E1EA7ED3-8E31-D795-7874-E52C7CC90B12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553200" y="4773340"/>
            <a:ext cx="1289304" cy="267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hyperlink" Target="https://gettingitrightfirsttime.co.uk/wp-content/uploads/2025/05/GIRFT-Guide-to-preoperative-testing-MRSA-May-2025.pdf" TargetMode="External"/><Relationship Id="rId13" Type="http://schemas.openxmlformats.org/officeDocument/2006/relationships/hyperlink" Target="http://dx.doi.org/10.1186/1741-7015-8-63" TargetMode="External"/><Relationship Id="rId18" Type="http://schemas.openxmlformats.org/officeDocument/2006/relationships/hyperlink" Target="https://www.newcastle-hospitals.nhs.uk/about/" TargetMode="External"/><Relationship Id="rId3" Type="http://schemas.openxmlformats.org/officeDocument/2006/relationships/hyperlink" Target="https://gettingitrightfirsttime.co.uk/delivering-a-standardised-approach-to-screening-for-mrsa/" TargetMode="External"/><Relationship Id="rId7" Type="http://schemas.openxmlformats.org/officeDocument/2006/relationships/hyperlink" Target="https://assets.publishing.service.gov.uk/government/uploads/system/uploads/attachment_data/file/345144/Implementation_of_modified_admission_MRSA_screening_guidance_for_NHS.pdf" TargetMode="External"/><Relationship Id="rId12" Type="http://schemas.openxmlformats.org/officeDocument/2006/relationships/hyperlink" Target="http://dx.doi.org/10.1186/s13012-015-0242-0" TargetMode="External"/><Relationship Id="rId17" Type="http://schemas.openxmlformats.org/officeDocument/2006/relationships/hyperlink" Target="http://dx.doi.org/10.1002/pros.24363" TargetMode="External"/><Relationship Id="rId2" Type="http://schemas.openxmlformats.org/officeDocument/2006/relationships/hyperlink" Target="http://dx.doi.org/10.1016/j.ajic.2007.10.007" TargetMode="External"/><Relationship Id="rId16" Type="http://schemas.openxmlformats.org/officeDocument/2006/relationships/hyperlink" Target="https://nhsdigital.github.io/rap-community-of-practice/introduction_to_RAP/what_is_RAP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dx.doi.org/10.1016/j.jhin.2018.08.006" TargetMode="External"/><Relationship Id="rId11" Type="http://schemas.openxmlformats.org/officeDocument/2006/relationships/hyperlink" Target="http://dx.doi.org/10.1186/1471-2296-8-42" TargetMode="External"/><Relationship Id="rId5" Type="http://schemas.openxmlformats.org/officeDocument/2006/relationships/hyperlink" Target="http://dx.doi.org/10.1016/j.jhin.2006.01.001" TargetMode="External"/><Relationship Id="rId15" Type="http://schemas.openxmlformats.org/officeDocument/2006/relationships/hyperlink" Target="http://dx.doi.org/10.1088/1361-6498/ac89f8" TargetMode="External"/><Relationship Id="rId10" Type="http://schemas.openxmlformats.org/officeDocument/2006/relationships/hyperlink" Target="https://www.elgaronline.com/downloadpdf/edcollchap/edcoll/9781788975988/9781788975988.00013.pdf" TargetMode="External"/><Relationship Id="rId4" Type="http://schemas.openxmlformats.org/officeDocument/2006/relationships/hyperlink" Target="http://dx.doi.org/10.3389/fpubh.2017.00044" TargetMode="External"/><Relationship Id="rId9" Type="http://schemas.openxmlformats.org/officeDocument/2006/relationships/hyperlink" Target="http://dx.doi.org/10.1016/j.jhin.2021.09.022" TargetMode="External"/><Relationship Id="rId14" Type="http://schemas.openxmlformats.org/officeDocument/2006/relationships/hyperlink" Target="https://assets.publishing.service.gov.uk/government/uploads/system/uploads/attachment_data/file/1067053/goldacre-review-using-health-data-for-research-and-analysis.pdf" TargetMode="Externa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quarto-dev/quarto-r" TargetMode="External"/><Relationship Id="rId13" Type="http://schemas.openxmlformats.org/officeDocument/2006/relationships/hyperlink" Target="http://dx.doi.org/10.1136/bmjqs-2015-004951" TargetMode="External"/><Relationship Id="rId18" Type="http://schemas.openxmlformats.org/officeDocument/2006/relationships/hyperlink" Target="http://dx.doi.org/10.1371/journal.pone.0074219" TargetMode="External"/><Relationship Id="rId3" Type="http://schemas.openxmlformats.org/officeDocument/2006/relationships/hyperlink" Target="https://www.ukas.com/accreditation/standards/medical-laboratory-accreditation/" TargetMode="External"/><Relationship Id="rId7" Type="http://schemas.openxmlformats.org/officeDocument/2006/relationships/hyperlink" Target="https://www.R-project.org/" TargetMode="External"/><Relationship Id="rId12" Type="http://schemas.openxmlformats.org/officeDocument/2006/relationships/hyperlink" Target="http://dx.doi.org/10.1136/qhc.13.4.243" TargetMode="External"/><Relationship Id="rId17" Type="http://schemas.openxmlformats.org/officeDocument/2006/relationships/hyperlink" Target="http://dx.doi.org/10.1136/bmjoq-2021-001699" TargetMode="External"/><Relationship Id="rId2" Type="http://schemas.openxmlformats.org/officeDocument/2006/relationships/hyperlink" Target="https://laboratories.newcastle-hospitals.nhs.uk/" TargetMode="External"/><Relationship Id="rId16" Type="http://schemas.openxmlformats.org/officeDocument/2006/relationships/hyperlink" Target="http://dx.doi.org/10.1017/ice.2015.216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sqlite.r-dbi.org" TargetMode="External"/><Relationship Id="rId11" Type="http://schemas.openxmlformats.org/officeDocument/2006/relationships/hyperlink" Target="http://dx.doi.org/10.1136/qhc.12.6.458" TargetMode="External"/><Relationship Id="rId5" Type="http://schemas.openxmlformats.org/officeDocument/2006/relationships/hyperlink" Target="https://github.com/" TargetMode="External"/><Relationship Id="rId15" Type="http://schemas.openxmlformats.org/officeDocument/2006/relationships/hyperlink" Target="https://nhsrplotthedots.nhsrcommunity.com" TargetMode="External"/><Relationship Id="rId10" Type="http://schemas.openxmlformats.org/officeDocument/2006/relationships/hyperlink" Target="https://ico.org.uk/for-organisations/uk-gdpr-guidance-and-resources/" TargetMode="External"/><Relationship Id="rId4" Type="http://schemas.openxmlformats.org/officeDocument/2006/relationships/hyperlink" Target="https://nhsdigital.github.io/rap-community-of-practice/training_resources/git/introduction-to-git/" TargetMode="External"/><Relationship Id="rId9" Type="http://schemas.openxmlformats.org/officeDocument/2006/relationships/hyperlink" Target="https://www.iis.net/overview" TargetMode="External"/><Relationship Id="rId14" Type="http://schemas.openxmlformats.org/officeDocument/2006/relationships/hyperlink" Target="https://www.england.nhs.uk/publication/making-data-count/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end2dan/public" TargetMode="External"/><Relationship Id="rId2" Type="http://schemas.openxmlformats.org/officeDocument/2006/relationships/hyperlink" Target="https://twitter.com/send2dan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79712"/>
            <a:ext cx="7772400" cy="1102519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From Data to Action—Building a Reproducible Analytical Pipeline to Achieve Rapid, Sustained Improvements in MRSA Admission Screening Compliance Rates.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79962"/>
            <a:ext cx="6400800" cy="1314450"/>
          </a:xfrm>
        </p:spPr>
        <p:txBody>
          <a:bodyPr>
            <a:normAutofit fontScale="92500"/>
          </a:bodyPr>
          <a:lstStyle/>
          <a:p>
            <a:pPr lvl="0"/>
            <a:r>
              <a:rPr lang="en-GB" dirty="0"/>
              <a:t>Daniel Weiand; Paul Bradley; Caroline Cullerton; Geoff Dines; Joanne Field; Peta Le Roux; Jamie Lupton; Shraddha Pathak; Julie Samuel; Chris Plummer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RPySOC 2025 | NHS-R conference 2025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BA3624D-FCD2-AC3A-0DC8-131EF285F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r>
              <a:rPr lang="en-US" dirty="0"/>
              <a:t>D Weiand, J Lupton, P Le Roux et 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GB" dirty="0"/>
              <a:t>Problem description (1)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5003390" cy="339447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GB" sz="2000" dirty="0"/>
              <a:t>MRSA:</a:t>
            </a:r>
          </a:p>
          <a:p>
            <a:pPr marL="0" lvl="0" indent="0">
              <a:buNone/>
            </a:pPr>
            <a:r>
              <a:rPr lang="en-GB" sz="2000" dirty="0"/>
              <a:t>- Epidemiologically important organism (1,2).</a:t>
            </a:r>
            <a:endParaRPr sz="2000" dirty="0"/>
          </a:p>
          <a:p>
            <a:pPr marL="0" lvl="0" indent="0">
              <a:buNone/>
            </a:pPr>
            <a:r>
              <a:rPr lang="en-GB" sz="2000" dirty="0"/>
              <a:t>- </a:t>
            </a:r>
            <a:r>
              <a:rPr sz="2000" dirty="0"/>
              <a:t>Intrinsic</a:t>
            </a:r>
            <a:r>
              <a:rPr lang="en-GB" sz="2000" dirty="0"/>
              <a:t>ally multidrug resistant (MDR)</a:t>
            </a:r>
            <a:r>
              <a:rPr sz="2000" dirty="0"/>
              <a:t>.</a:t>
            </a:r>
          </a:p>
          <a:p>
            <a:pPr marL="0" lvl="0" indent="0">
              <a:buNone/>
            </a:pPr>
            <a:r>
              <a:rPr lang="en-GB" sz="2000" dirty="0"/>
              <a:t>- </a:t>
            </a:r>
            <a:r>
              <a:rPr sz="2000" dirty="0"/>
              <a:t>Significant morbidity and mortality.</a:t>
            </a:r>
          </a:p>
          <a:p>
            <a:pPr marL="0" lv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National frameworks to mandate reporting of MRSA bacteraemia rates (3).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92CE5-83E8-D4FF-E1BC-F3C9185FD9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r>
              <a:rPr lang="en-US" dirty="0"/>
              <a:t>RPySOC 2025 | NHS-R conference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575A6-842B-2B0D-84B4-62FEEB7B1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r>
              <a:rPr lang="en-US" dirty="0"/>
              <a:t>D Weiand, J Lupton, P Le Roux et al.</a:t>
            </a:r>
          </a:p>
        </p:txBody>
      </p:sp>
      <p:pic>
        <p:nvPicPr>
          <p:cNvPr id="6" name="Picture 5" descr="A white sign with black text&#10;&#10;AI-generated content may be incorrect.">
            <a:extLst>
              <a:ext uri="{FF2B5EF4-FFF2-40B4-BE49-F238E27FC236}">
                <a16:creationId xmlns:a16="http://schemas.microsoft.com/office/drawing/2014/main" id="{D74BC5C5-6CDD-5CAE-4D9B-DBCF3FD4A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182" y="1308308"/>
            <a:ext cx="2336791" cy="3061127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5A28BFB-9403-E140-101B-B587BFE6712E}"/>
              </a:ext>
            </a:extLst>
          </p:cNvPr>
          <p:cNvSpPr txBox="1">
            <a:spLocks/>
          </p:cNvSpPr>
          <p:nvPr/>
        </p:nvSpPr>
        <p:spPr>
          <a:xfrm>
            <a:off x="5306965" y="436805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Wellcome Trust [2025]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0DB98-1AF9-D336-ECBA-4D6E8CB19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CD8E0-E643-CFCC-E2AB-84197EFC2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GB" dirty="0"/>
              <a:t>Problem description (2)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E37DC-F10C-3FF2-991D-0C848B01B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5003390" cy="339447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GB" sz="2000" dirty="0"/>
              <a:t>Admission</a:t>
            </a:r>
            <a:r>
              <a:rPr sz="2000" dirty="0"/>
              <a:t> </a:t>
            </a:r>
            <a:r>
              <a:rPr lang="en-GB" sz="2000" dirty="0"/>
              <a:t>screening recommended for almost all patients who need hospitalisation </a:t>
            </a:r>
            <a:r>
              <a:rPr sz="2000" dirty="0"/>
              <a:t>(4–8)</a:t>
            </a:r>
            <a:endParaRPr lang="en-GB" sz="2000" dirty="0"/>
          </a:p>
          <a:p>
            <a:pPr marL="0" lv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BUT…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Significant variability in MRSA admission screening practices, e.g. indications, specimen types, and duration of test validity (2).</a:t>
            </a:r>
          </a:p>
          <a:p>
            <a:pPr marL="0" lvl="0" indent="0">
              <a:buNone/>
            </a:pPr>
            <a:endParaRPr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2E6B2-1E21-290E-7BA9-DB35FB1880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r>
              <a:rPr lang="en-US" dirty="0"/>
              <a:t>RPySOC 2025 | NHS-R conference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3483F-E62C-B197-600C-237485F88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r>
              <a:rPr lang="en-US" dirty="0"/>
              <a:t>D Weiand, J Lupton, P Le Roux et al.</a:t>
            </a:r>
          </a:p>
        </p:txBody>
      </p:sp>
      <p:pic>
        <p:nvPicPr>
          <p:cNvPr id="6" name="Picture 5" descr="A white sign with black text&#10;&#10;AI-generated content may be incorrect.">
            <a:extLst>
              <a:ext uri="{FF2B5EF4-FFF2-40B4-BE49-F238E27FC236}">
                <a16:creationId xmlns:a16="http://schemas.microsoft.com/office/drawing/2014/main" id="{904148A6-9B0F-526F-BE34-A6D13013B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182" y="1308308"/>
            <a:ext cx="2336791" cy="3061127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285A575-BCFA-F8F6-7288-52D60438168D}"/>
              </a:ext>
            </a:extLst>
          </p:cNvPr>
          <p:cNvSpPr txBox="1">
            <a:spLocks/>
          </p:cNvSpPr>
          <p:nvPr/>
        </p:nvSpPr>
        <p:spPr>
          <a:xfrm>
            <a:off x="5306965" y="436805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Wellcome Trust [2025]</a:t>
            </a:r>
          </a:p>
        </p:txBody>
      </p:sp>
    </p:spTree>
    <p:extLst>
      <p:ext uri="{BB962C8B-B14F-4D97-AF65-F5344CB8AC3E}">
        <p14:creationId xmlns:p14="http://schemas.microsoft.com/office/powerpoint/2010/main" val="180434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DCA16-E212-2CE0-0E8D-1EA619C25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AEAFC-BF60-E4A8-0485-7F641E007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GB" dirty="0"/>
              <a:t>Problem description (3)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3AC48-2D7C-7A49-D0EC-E3024393B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5003390" cy="3394472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n-GB" sz="2000" dirty="0"/>
              <a:t>@ NUTH: MRSA admission screening mandated by Trust policy for all inpatients</a:t>
            </a:r>
          </a:p>
          <a:p>
            <a:pPr marL="0" lvl="0" indent="0">
              <a:buNone/>
            </a:pPr>
            <a:endParaRPr lang="en-GB" sz="2000" dirty="0"/>
          </a:p>
          <a:p>
            <a:pPr marL="0" lvl="0" indent="0">
              <a:buNone/>
            </a:pPr>
            <a:r>
              <a:rPr lang="en-GB" sz="2000" dirty="0"/>
              <a:t>Screening must be undertaken between:</a:t>
            </a:r>
          </a:p>
          <a:p>
            <a:pPr marL="342900" lvl="1" indent="0">
              <a:buNone/>
            </a:pPr>
            <a:r>
              <a:rPr lang="en-GB" sz="1700" dirty="0"/>
              <a:t>[18 weeks preceding admission] – </a:t>
            </a:r>
          </a:p>
          <a:p>
            <a:pPr marL="342900" lvl="1" indent="0">
              <a:buNone/>
            </a:pPr>
            <a:r>
              <a:rPr lang="en-GB" sz="1700" dirty="0"/>
              <a:t>[admission date]</a:t>
            </a:r>
          </a:p>
          <a:p>
            <a:pPr marL="0" lvl="0" indent="0">
              <a:buNone/>
            </a:pPr>
            <a:endParaRPr lang="en-GB" sz="2000" dirty="0"/>
          </a:p>
          <a:p>
            <a:pPr marL="0" lvl="0" indent="0">
              <a:buNone/>
            </a:pPr>
            <a:r>
              <a:rPr lang="en-GB" sz="2000" dirty="0"/>
              <a:t>Prior to this project, MRSA admission screening compliance levels were effectively unknown at NUTH.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0A70A-403A-585D-FA30-A1C6406257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r>
              <a:rPr lang="en-US" dirty="0"/>
              <a:t>RPySOC 2025 | NHS-R conference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F437F-04FB-FF13-FA94-9A456CAB2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r>
              <a:rPr lang="en-US" dirty="0"/>
              <a:t>D Weiand, J Lupton, P Le Roux et al.</a:t>
            </a:r>
          </a:p>
        </p:txBody>
      </p:sp>
      <p:pic>
        <p:nvPicPr>
          <p:cNvPr id="6" name="Picture 5" descr="A white sign with black text&#10;&#10;AI-generated content may be incorrect.">
            <a:extLst>
              <a:ext uri="{FF2B5EF4-FFF2-40B4-BE49-F238E27FC236}">
                <a16:creationId xmlns:a16="http://schemas.microsoft.com/office/drawing/2014/main" id="{F82D0A40-F269-EE72-69D1-BFAA49869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182" y="1308308"/>
            <a:ext cx="2336791" cy="3061127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F01EBDB-D838-C4BA-BF95-59CC2868E9E9}"/>
              </a:ext>
            </a:extLst>
          </p:cNvPr>
          <p:cNvSpPr txBox="1">
            <a:spLocks/>
          </p:cNvSpPr>
          <p:nvPr/>
        </p:nvSpPr>
        <p:spPr>
          <a:xfrm>
            <a:off x="5306965" y="436805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Wellcome Trust [2025]</a:t>
            </a:r>
          </a:p>
        </p:txBody>
      </p:sp>
    </p:spTree>
    <p:extLst>
      <p:ext uri="{BB962C8B-B14F-4D97-AF65-F5344CB8AC3E}">
        <p14:creationId xmlns:p14="http://schemas.microsoft.com/office/powerpoint/2010/main" val="3650313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Normalisation</a:t>
            </a:r>
            <a:r>
              <a:rPr dirty="0"/>
              <a:t> Process Theory (NPT)</a:t>
            </a:r>
            <a:r>
              <a:rPr lang="en-GB" dirty="0"/>
              <a:t> (1)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5432323" cy="339447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How to embed (‘normalise’) interventions into everyday practice (10,11).</a:t>
            </a:r>
          </a:p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r>
              <a:rPr dirty="0"/>
              <a:t>‘Reflexive monitoring’</a:t>
            </a:r>
            <a:r>
              <a:rPr lang="en-GB" dirty="0"/>
              <a:t>: </a:t>
            </a:r>
            <a:r>
              <a:rPr dirty="0"/>
              <a:t>key driver of any embedding process (11,12).</a:t>
            </a:r>
          </a:p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r>
              <a:rPr lang="en-GB" dirty="0"/>
              <a:t>Feedback enables healthcare workers [HCWs] to </a:t>
            </a:r>
            <a:r>
              <a:rPr dirty="0"/>
              <a:t>develop a shared understanding of </a:t>
            </a:r>
            <a:r>
              <a:rPr lang="en-GB" dirty="0"/>
              <a:t>an intervention’s </a:t>
            </a:r>
            <a:r>
              <a:rPr dirty="0"/>
              <a:t>value and importance (‘coherence’)</a:t>
            </a:r>
          </a:p>
          <a:p>
            <a:pPr marL="0" lvl="0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6F313-2D1F-AAE7-7CD3-1649DCA190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r>
              <a:rPr lang="en-US" dirty="0"/>
              <a:t>RPySOC 2025 | NHS-R conference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EE1AB-F885-BECF-724C-13845E866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r>
              <a:rPr lang="en-US" dirty="0"/>
              <a:t>D Weiand, J Lupton, P Le Roux et al.</a:t>
            </a:r>
          </a:p>
        </p:txBody>
      </p:sp>
      <p:pic>
        <p:nvPicPr>
          <p:cNvPr id="1026" name="Picture 2" descr="Applying Normalization Process Theory">
            <a:extLst>
              <a:ext uri="{FF2B5EF4-FFF2-40B4-BE49-F238E27FC236}">
                <a16:creationId xmlns:a16="http://schemas.microsoft.com/office/drawing/2014/main" id="{80644AC2-4054-867F-9325-76D74D355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7279" y="1063229"/>
            <a:ext cx="1714500" cy="241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CB42B4F-E2EA-B934-E434-C90942FD347E}"/>
              </a:ext>
            </a:extLst>
          </p:cNvPr>
          <p:cNvSpPr txBox="1">
            <a:spLocks/>
          </p:cNvSpPr>
          <p:nvPr/>
        </p:nvSpPr>
        <p:spPr>
          <a:xfrm>
            <a:off x="5906729" y="3518297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Per Nilsen [2024]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5E2E3-E068-03AE-CD75-8AB332C71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225ECEB-088F-5DA9-AF35-3BFF5BCBD1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6342696"/>
              </p:ext>
            </p:extLst>
          </p:nvPr>
        </p:nvGraphicFramePr>
        <p:xfrm>
          <a:off x="108155" y="102393"/>
          <a:ext cx="8927690" cy="46648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BD765A2-7BE8-DFC4-8558-85FA9E5D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r>
              <a:rPr lang="en-US" dirty="0"/>
              <a:t>RPySOC 2025 | NHS-R conference 2025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158E771-71DA-CB02-6440-F319085A3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r>
              <a:rPr lang="en-US" dirty="0"/>
              <a:t>D Weiand, J Lupton, P Le Roux et al.</a:t>
            </a:r>
          </a:p>
        </p:txBody>
      </p:sp>
    </p:spTree>
    <p:extLst>
      <p:ext uri="{BB962C8B-B14F-4D97-AF65-F5344CB8AC3E}">
        <p14:creationId xmlns:p14="http://schemas.microsoft.com/office/powerpoint/2010/main" val="3436984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Aims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r>
              <a:rPr lang="en-GB" dirty="0"/>
              <a:t>To develop </a:t>
            </a:r>
            <a:r>
              <a:rPr dirty="0"/>
              <a:t>and implement a </a:t>
            </a:r>
            <a:r>
              <a:rPr lang="en-GB" dirty="0"/>
              <a:t>RAP </a:t>
            </a:r>
            <a:r>
              <a:rPr dirty="0"/>
              <a:t>(13–15)</a:t>
            </a:r>
          </a:p>
          <a:p>
            <a:pPr marL="0" lvl="0" indent="0">
              <a:buNone/>
            </a:pPr>
            <a:r>
              <a:rPr lang="en-GB" dirty="0"/>
              <a:t>…That triangulates data from different sources</a:t>
            </a:r>
          </a:p>
          <a:p>
            <a:pPr marL="0" lvl="0" indent="0">
              <a:buNone/>
            </a:pPr>
            <a:r>
              <a:rPr lang="en-GB" dirty="0"/>
              <a:t>…</a:t>
            </a:r>
            <a:r>
              <a:rPr dirty="0"/>
              <a:t>To prospectively evaluate, report, monitor and improve compliance with MRSA admission screening practices</a:t>
            </a:r>
            <a:endParaRPr lang="en-GB" dirty="0"/>
          </a:p>
          <a:p>
            <a:pPr marL="0" lvl="0" indent="0">
              <a:buNone/>
            </a:pP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4A099-6C05-3054-D3E0-3A78DDE397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r>
              <a:rPr lang="en-US" dirty="0"/>
              <a:t>RPySOC 2025 | NHS-R conference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0B860-8D4F-36C6-61D9-38CEFCBAB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r>
              <a:rPr lang="en-US" dirty="0"/>
              <a:t>D Weiand, J Lupton, P Le Roux et 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GB" dirty="0"/>
              <a:t>Setting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Newcastle upon Tyne Hospitals NHS Foundation Trust (NUTH)</a:t>
            </a:r>
          </a:p>
          <a:p>
            <a:pPr marL="0" lvl="0" indent="0">
              <a:buNone/>
            </a:pPr>
            <a:r>
              <a:rPr lang="en-GB" dirty="0"/>
              <a:t>	</a:t>
            </a:r>
            <a:r>
              <a:rPr dirty="0"/>
              <a:t>Major tertiary care NHS provider</a:t>
            </a:r>
          </a:p>
          <a:p>
            <a:pPr marL="0" lvl="0" indent="0">
              <a:buNone/>
            </a:pPr>
            <a:r>
              <a:rPr lang="en-GB" dirty="0"/>
              <a:t>	</a:t>
            </a:r>
            <a:r>
              <a:rPr dirty="0"/>
              <a:t>Approximately 16,000 staff (17)</a:t>
            </a:r>
            <a:endParaRPr lang="en-GB" dirty="0"/>
          </a:p>
          <a:p>
            <a:pPr marL="0" lvl="0" indent="0">
              <a:buNone/>
            </a:pPr>
            <a:r>
              <a:rPr lang="en-GB" dirty="0"/>
              <a:t>	</a:t>
            </a:r>
            <a:r>
              <a:rPr dirty="0"/>
              <a:t>Serving around two million patient contacts annually.</a:t>
            </a:r>
            <a:endParaRPr lang="en-GB" dirty="0"/>
          </a:p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r>
              <a:rPr lang="en-GB" dirty="0"/>
              <a:t>The microbiology laboratory at NUTH is fully UKAS-accredited to ISO 15189:2022 (18,19)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5586D-CFF9-1996-38DA-D5AF0CFA1C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r>
              <a:rPr lang="en-US" dirty="0"/>
              <a:t>RPySOC 2025 | NHS-R conference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661E1-F96C-9FC3-D8AF-93B994F12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r>
              <a:rPr lang="en-US" dirty="0"/>
              <a:t>D Weiand, J Lupton, P Le Roux et 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buNone/>
            </a:pPr>
            <a:r>
              <a:rPr sz="2800" dirty="0"/>
              <a:t>Defining compliance with MRSA admission screening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“</a:t>
            </a:r>
            <a:r>
              <a:rPr lang="en-GB" dirty="0"/>
              <a:t>Compliance” required …</a:t>
            </a:r>
            <a:endParaRPr dirty="0"/>
          </a:p>
          <a:p>
            <a:pPr marL="342900" lvl="0" indent="-342900">
              <a:buAutoNum type="arabicParenR"/>
            </a:pPr>
            <a:endParaRPr lang="en-GB" dirty="0"/>
          </a:p>
          <a:p>
            <a:pPr marL="342900" lvl="0" indent="-342900">
              <a:buAutoNum type="arabicParenR"/>
            </a:pPr>
            <a:r>
              <a:rPr dirty="0"/>
              <a:t>specimen(s) collected within the 18 weeks preceding admission or up to one day after admission; and</a:t>
            </a:r>
          </a:p>
          <a:p>
            <a:pPr marL="342900" lvl="0" indent="-342900">
              <a:buAutoNum type="arabicParenR"/>
            </a:pPr>
            <a:endParaRPr lang="en-GB" dirty="0"/>
          </a:p>
          <a:p>
            <a:pPr marL="342900" lvl="0" indent="-342900">
              <a:buAutoNum type="arabicParenR"/>
            </a:pPr>
            <a:r>
              <a:rPr dirty="0"/>
              <a:t>documented, valid date and time of collection.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F0E56-5AAE-4A73-C0A3-9096031060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r>
              <a:rPr lang="en-US" dirty="0"/>
              <a:t>RPySOC 2025 | NHS-R conference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22CDE-12CD-E039-8FA3-F365B5CFF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r>
              <a:rPr lang="en-US" dirty="0"/>
              <a:t>D Weiand, J Lupton, P Le Roux et 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BA85051-8F69-E390-6504-B8D5C21D1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205" y="3003804"/>
            <a:ext cx="1278808" cy="850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RAP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A365E5D-2404-C083-6546-5C30FB66A8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5826150"/>
              </p:ext>
            </p:extLst>
          </p:nvPr>
        </p:nvGraphicFramePr>
        <p:xfrm>
          <a:off x="1061269" y="275303"/>
          <a:ext cx="7886700" cy="43607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BABFC15-C8A7-03C4-6B85-5A722144D5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r>
              <a:rPr lang="en-US" dirty="0"/>
              <a:t>RPySOC 2025 | NHS-R conference 2025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312C80C-41B9-428A-02F8-379AFE244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r>
              <a:rPr lang="en-US" dirty="0"/>
              <a:t>D Weiand, J Lupton, P Le Roux et al.</a:t>
            </a:r>
          </a:p>
        </p:txBody>
      </p:sp>
    </p:spTree>
    <p:extLst>
      <p:ext uri="{BB962C8B-B14F-4D97-AF65-F5344CB8AC3E}">
        <p14:creationId xmlns:p14="http://schemas.microsoft.com/office/powerpoint/2010/main" val="183136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Team Structure and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dirty="0"/>
              <a:t>The RAP was developed collaboratively by:</a:t>
            </a:r>
          </a:p>
          <a:p>
            <a:pPr lvl="0"/>
            <a:r>
              <a:rPr lang="en-GB" dirty="0"/>
              <a:t>D</a:t>
            </a:r>
            <a:r>
              <a:rPr dirty="0" err="1"/>
              <a:t>ata</a:t>
            </a:r>
            <a:r>
              <a:rPr dirty="0"/>
              <a:t> scientists,</a:t>
            </a:r>
          </a:p>
          <a:p>
            <a:pPr lvl="0"/>
            <a:r>
              <a:rPr lang="en-GB" dirty="0"/>
              <a:t>D</a:t>
            </a:r>
            <a:r>
              <a:rPr dirty="0" err="1"/>
              <a:t>ata</a:t>
            </a:r>
            <a:r>
              <a:rPr dirty="0"/>
              <a:t> warehouse architect,</a:t>
            </a:r>
          </a:p>
          <a:p>
            <a:pPr lvl="0"/>
            <a:r>
              <a:rPr dirty="0"/>
              <a:t>IT development manager, and</a:t>
            </a:r>
          </a:p>
          <a:p>
            <a:pPr lvl="0"/>
            <a:r>
              <a:rPr lang="en-GB" dirty="0"/>
              <a:t>C</a:t>
            </a:r>
            <a:r>
              <a:rPr dirty="0" err="1"/>
              <a:t>onsultant</a:t>
            </a:r>
            <a:r>
              <a:rPr dirty="0"/>
              <a:t> medical microbiologists.</a:t>
            </a:r>
          </a:p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r>
              <a:rPr lang="en-GB" dirty="0"/>
              <a:t>F</a:t>
            </a:r>
            <a:r>
              <a:rPr dirty="0" err="1"/>
              <a:t>ormal</a:t>
            </a:r>
            <a:r>
              <a:rPr dirty="0"/>
              <a:t> approval from the Trust’s information governance team</a:t>
            </a:r>
            <a:r>
              <a:rPr lang="en-GB" dirty="0"/>
              <a:t>;</a:t>
            </a:r>
          </a:p>
          <a:p>
            <a:r>
              <a:rPr lang="en-GB" dirty="0"/>
              <a:t>In compliance with IG, Caldicott &amp; </a:t>
            </a:r>
            <a:r>
              <a:rPr dirty="0"/>
              <a:t>GDPR (26).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84FD9-3818-0399-09F8-9FE573F499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r>
              <a:rPr lang="en-US" dirty="0"/>
              <a:t>RPySOC 2025 | NHS-R conference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9E8BD-B8E9-B2DA-4921-06EDA2F9F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r>
              <a:rPr lang="en-US" dirty="0"/>
              <a:t>D Weiand, J Lupton, P Le Roux et 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1A40AF-A8A3-D21E-2036-087DE6B2E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455" y="0"/>
            <a:ext cx="722509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110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D80EAF-FDA9-EB28-08AB-38F9B182A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07" y="0"/>
            <a:ext cx="7744585" cy="5143500"/>
          </a:xfrm>
          <a:prstGeom prst="rect">
            <a:avLst/>
          </a:prstGeom>
        </p:spPr>
      </p:pic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F5E33DF-F81E-9F6A-E2F7-264EC5BC0C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r>
              <a:rPr lang="en-US" dirty="0"/>
              <a:t>RPySOC 2025 | NHS-R conference 2025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D2BF10A-BBDB-F17A-ED8E-14858C27A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r>
              <a:rPr lang="en-US" dirty="0"/>
              <a:t>D Weiand, J Lupton, P Le Roux et al.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0AD037D-1B1C-85F0-6A9E-E7CAD8AEA950}"/>
              </a:ext>
            </a:extLst>
          </p:cNvPr>
          <p:cNvSpPr txBox="1">
            <a:spLocks/>
          </p:cNvSpPr>
          <p:nvPr/>
        </p:nvSpPr>
        <p:spPr>
          <a:xfrm>
            <a:off x="3662513" y="855406"/>
            <a:ext cx="5024286" cy="3254475"/>
          </a:xfrm>
          <a:prstGeom prst="rect">
            <a:avLst/>
          </a:prstGeom>
          <a:solidFill>
            <a:srgbClr val="FFFF00"/>
          </a:solidFill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lnSpc>
                <a:spcPct val="90000"/>
              </a:lnSpc>
            </a:pPr>
            <a:r>
              <a:rPr lang="en-US" sz="3900" dirty="0"/>
              <a:t>The kicker… </a:t>
            </a:r>
          </a:p>
          <a:p>
            <a:pPr defTabSz="914400">
              <a:lnSpc>
                <a:spcPct val="90000"/>
              </a:lnSpc>
            </a:pPr>
            <a:endParaRPr lang="en-US" sz="3900" dirty="0"/>
          </a:p>
          <a:p>
            <a:pPr defTabSz="914400">
              <a:lnSpc>
                <a:spcPct val="90000"/>
              </a:lnSpc>
            </a:pPr>
            <a:r>
              <a:rPr lang="en-US" sz="3900" dirty="0"/>
              <a:t>All these reports are generated weekly </a:t>
            </a:r>
            <a:r>
              <a:rPr lang="en-GB" sz="3900" dirty="0"/>
              <a:t>through modification of existing modular, re-usable, git version-controlled SQL and R code </a:t>
            </a:r>
            <a:endParaRPr lang="en-US" sz="3900" dirty="0"/>
          </a:p>
        </p:txBody>
      </p:sp>
    </p:spTree>
    <p:extLst>
      <p:ext uri="{BB962C8B-B14F-4D97-AF65-F5344CB8AC3E}">
        <p14:creationId xmlns:p14="http://schemas.microsoft.com/office/powerpoint/2010/main" val="2129928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Approach to Assessing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6346723" cy="339447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GB" dirty="0"/>
              <a:t>Design: </a:t>
            </a:r>
            <a:r>
              <a:rPr dirty="0"/>
              <a:t>Prospective weekly surveillance study</a:t>
            </a:r>
            <a:endParaRPr lang="en-GB" dirty="0"/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Systematic outcome measurement commenced on </a:t>
            </a:r>
            <a:r>
              <a:rPr lang="en-GB" dirty="0"/>
              <a:t>07/01/25</a:t>
            </a:r>
            <a:endParaRPr dirty="0"/>
          </a:p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r>
              <a:rPr dirty="0"/>
              <a:t>Time series analysis using Statistical Process Control (SPC) methods </a:t>
            </a:r>
            <a:r>
              <a:rPr lang="en-GB" dirty="0"/>
              <a:t>used to </a:t>
            </a:r>
            <a:r>
              <a:rPr dirty="0"/>
              <a:t>detect meaningful changes in compliance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98605-34B6-F42B-875B-9ED7BB8F38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r>
              <a:rPr lang="en-US" dirty="0"/>
              <a:t>RPySOC 2025 | NHS-R conference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E4BD8-83D9-08D5-ADF0-053FCAC43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r>
              <a:rPr lang="en-US" dirty="0"/>
              <a:t>D Weiand, J Lupton, P Le Roux et al.</a:t>
            </a:r>
          </a:p>
        </p:txBody>
      </p:sp>
      <p:pic>
        <p:nvPicPr>
          <p:cNvPr id="2050" name="Picture 2" descr="README">
            <a:extLst>
              <a:ext uri="{FF2B5EF4-FFF2-40B4-BE49-F238E27FC236}">
                <a16:creationId xmlns:a16="http://schemas.microsoft.com/office/drawing/2014/main" id="{85B175A7-AD6A-6510-51C3-7D3F9B98B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8599" y="1063229"/>
            <a:ext cx="1990725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Selection of participants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lang="en-GB" dirty="0"/>
              <a:t>Inclusion criteria</a:t>
            </a:r>
            <a:r>
              <a:rPr dirty="0"/>
              <a:t>:</a:t>
            </a:r>
          </a:p>
          <a:p>
            <a:pPr lvl="0"/>
            <a:r>
              <a:rPr dirty="0"/>
              <a:t>all current inpatients at NUTH; with</a:t>
            </a:r>
          </a:p>
          <a:p>
            <a:pPr lvl="0"/>
            <a:r>
              <a:rPr dirty="0"/>
              <a:t>length of stay of at least 24 hours; and</a:t>
            </a:r>
          </a:p>
          <a:p>
            <a:pPr lvl="0"/>
            <a:r>
              <a:rPr dirty="0"/>
              <a:t>prescribed a new inpatient medication within the previous 7 days.</a:t>
            </a:r>
          </a:p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r>
              <a:rPr dirty="0" err="1"/>
              <a:t>Exclu</a:t>
            </a:r>
            <a:r>
              <a:rPr lang="en-GB" dirty="0"/>
              <a:t>sion criteria</a:t>
            </a:r>
            <a:r>
              <a:rPr dirty="0"/>
              <a:t>:</a:t>
            </a:r>
          </a:p>
          <a:p>
            <a:pPr lvl="0"/>
            <a:r>
              <a:rPr dirty="0"/>
              <a:t>Inpatients admitted </a:t>
            </a:r>
            <a:r>
              <a:rPr lang="en-GB" dirty="0"/>
              <a:t>&gt;6</a:t>
            </a:r>
            <a:r>
              <a:rPr dirty="0"/>
              <a:t> weeks prior to the date of analysis; or</a:t>
            </a:r>
          </a:p>
          <a:p>
            <a:pPr lvl="0"/>
            <a:r>
              <a:rPr dirty="0"/>
              <a:t>Inpatients exempt from MRSA screening according to Trust policy.</a:t>
            </a:r>
          </a:p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r>
              <a:rPr dirty="0"/>
              <a:t>i.e. pragmatic </a:t>
            </a:r>
            <a:r>
              <a:rPr lang="en-GB" dirty="0"/>
              <a:t>approach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F347D-6B98-9CF8-24A5-1495C25F00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r>
              <a:rPr lang="en-US" dirty="0"/>
              <a:t>RPySOC 2025 | NHS-R conference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AE19A-3E01-EAC5-8E9D-037D54624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r>
              <a:rPr lang="en-US" dirty="0"/>
              <a:t>D Weiand, J Lupton, P Le Roux et 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Between Tuesday 07</a:t>
            </a:r>
            <a:r>
              <a:rPr lang="en-GB" dirty="0"/>
              <a:t>/01/</a:t>
            </a:r>
            <a:r>
              <a:rPr dirty="0"/>
              <a:t>2025 and Tuesday 11</a:t>
            </a:r>
            <a:r>
              <a:rPr lang="en-GB" dirty="0"/>
              <a:t>/11/</a:t>
            </a:r>
            <a:r>
              <a:rPr dirty="0"/>
              <a:t>2025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47,382 </a:t>
            </a:r>
            <a:r>
              <a:rPr dirty="0"/>
              <a:t>inpatient records </a:t>
            </a:r>
            <a:r>
              <a:rPr dirty="0" err="1"/>
              <a:t>analysed</a:t>
            </a:r>
            <a:r>
              <a:rPr dirty="0"/>
              <a:t>.</a:t>
            </a:r>
          </a:p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r>
              <a:rPr lang="en-GB" dirty="0"/>
              <a:t>Each week, </a:t>
            </a:r>
            <a:r>
              <a:rPr dirty="0"/>
              <a:t>on average</a:t>
            </a:r>
            <a:r>
              <a:rPr lang="en-GB" dirty="0"/>
              <a:t>: </a:t>
            </a:r>
            <a:r>
              <a:rPr dirty="0"/>
              <a:t>1077 distinct MRSA admission screening-eligible inpatients (standard deviation: 75, range: 904–1241).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6D161-107B-DDAA-7B48-12A78C370B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r>
              <a:rPr lang="en-US" dirty="0"/>
              <a:t>RPySOC 2025 | NHS-R conference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B50B9-3B78-6557-153D-4D991A52E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r>
              <a:rPr lang="en-US" dirty="0"/>
              <a:t>D Weiand, J Lupton, P Le Roux et 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Details about missing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lvl="0" indent="0">
              <a:buNone/>
            </a:pPr>
            <a:r>
              <a:rPr dirty="0"/>
              <a:t>For the week ending Tuesday 11 November 202</a:t>
            </a:r>
            <a:r>
              <a:rPr lang="en-GB" dirty="0"/>
              <a:t>5:</a:t>
            </a:r>
          </a:p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r>
              <a:rPr lang="en-GB" dirty="0"/>
              <a:t>C</a:t>
            </a:r>
            <a:r>
              <a:rPr dirty="0" err="1"/>
              <a:t>ollection</a:t>
            </a:r>
            <a:r>
              <a:rPr dirty="0"/>
              <a:t> date and time were available for </a:t>
            </a:r>
            <a:r>
              <a:rPr lang="en-GB" dirty="0"/>
              <a:t>1540</a:t>
            </a:r>
            <a:r>
              <a:rPr dirty="0"/>
              <a:t> out of 1542 specimens (99.87%).</a:t>
            </a:r>
            <a:endParaRPr lang="en-GB" dirty="0"/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All other key variables—including patient identifiers, admission details, and MRSA screening sample characteristics—were complete across the dataset.</a:t>
            </a:r>
          </a:p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r>
              <a:rPr dirty="0"/>
              <a:t>Missing data were not imputed; analyses were conducted on complete cases only.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D49BF-503F-426D-E553-299325ECEC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r>
              <a:rPr lang="en-US" dirty="0"/>
              <a:t>RPySOC 2025 | NHS-R conference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7F384-6ECE-9B60-5F7B-94D01D58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r>
              <a:rPr lang="en-US" dirty="0"/>
              <a:t>D Weiand, J Lupton, P Le Roux et 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Contextual elements that interacted with the intervention(s)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dirty="0"/>
              <a:t>Between </a:t>
            </a:r>
            <a:r>
              <a:rPr lang="en-GB" dirty="0"/>
              <a:t>Tuesday 07 January 2025</a:t>
            </a:r>
            <a:r>
              <a:rPr dirty="0"/>
              <a:t> and Tuesday 11 November 2025</a:t>
            </a:r>
            <a:r>
              <a:rPr lang="en-GB" dirty="0"/>
              <a:t>:</a:t>
            </a:r>
          </a:p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r>
              <a:rPr dirty="0"/>
              <a:t>45 weekly reports scheduled for publication to the data science intranet site.</a:t>
            </a:r>
          </a:p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r>
              <a:rPr dirty="0"/>
              <a:t>Reports were successfully published for 43 weeks (95.6%)</a:t>
            </a:r>
            <a:endParaRPr lang="en-GB" dirty="0"/>
          </a:p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r>
              <a:rPr lang="en-GB" dirty="0"/>
              <a:t>T</a:t>
            </a:r>
            <a:r>
              <a:rPr dirty="0"/>
              <a:t>wo weeks of missed reporting:</a:t>
            </a:r>
          </a:p>
          <a:p>
            <a:pPr lvl="0"/>
            <a:r>
              <a:rPr dirty="0"/>
              <a:t>one week during the summer holiday period due to data science team staffing constraints, and</a:t>
            </a:r>
          </a:p>
          <a:p>
            <a:pPr lvl="0"/>
            <a:r>
              <a:rPr dirty="0"/>
              <a:t>one week owing to unscheduled Pathology LIMS downtime, preventing data extraction.</a:t>
            </a:r>
          </a:p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r>
              <a:rPr dirty="0"/>
              <a:t>Both incidents resolved without requiring modifications to the RAP workflow.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E2CDB-0216-DB84-D9E9-B382E09BB2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r>
              <a:rPr lang="en-US" dirty="0"/>
              <a:t>RPySOC 2025 | NHS-R conference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EBAC9-F02D-EFB2-524A-1F5B6815E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r>
              <a:rPr lang="en-US" dirty="0"/>
              <a:t>D Weiand, J Lupton, P Le Roux et 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RPySOC_NHS-R_Pycom_presentation_2025_files/figure-pptx/mrsa_screening_compliance_over_time_1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1667" y="481781"/>
            <a:ext cx="8202560" cy="410128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939F3E7-D59E-291E-B892-D7AB822C3C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r>
              <a:rPr lang="en-US" dirty="0"/>
              <a:t>RPySOC 2025 | NHS-R conference 2025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8D73442-6CF3-AFEF-7DC5-7A259A151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r>
              <a:rPr lang="en-US" dirty="0"/>
              <a:t>D Weiand, J Lupton, P Le Roux et al.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91B072-0FDF-76BD-F92A-B0979DD60E53}"/>
              </a:ext>
            </a:extLst>
          </p:cNvPr>
          <p:cNvSpPr txBox="1">
            <a:spLocks/>
          </p:cNvSpPr>
          <p:nvPr/>
        </p:nvSpPr>
        <p:spPr>
          <a:xfrm>
            <a:off x="2418732" y="2791671"/>
            <a:ext cx="5751874" cy="1883491"/>
          </a:xfrm>
          <a:prstGeom prst="rect">
            <a:avLst/>
          </a:prstGeom>
          <a:solidFill>
            <a:srgbClr val="FFFF00"/>
          </a:solidFill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lnSpc>
                <a:spcPct val="90000"/>
              </a:lnSpc>
            </a:pPr>
            <a:r>
              <a:rPr lang="en-US" sz="3900" dirty="0"/>
              <a:t>The kicker… </a:t>
            </a:r>
          </a:p>
          <a:p>
            <a:pPr defTabSz="914400">
              <a:lnSpc>
                <a:spcPct val="90000"/>
              </a:lnSpc>
            </a:pPr>
            <a:endParaRPr lang="en-US" sz="3900" dirty="0"/>
          </a:p>
          <a:p>
            <a:pPr defTabSz="914400">
              <a:lnSpc>
                <a:spcPct val="90000"/>
              </a:lnSpc>
            </a:pPr>
            <a:r>
              <a:rPr lang="en-GB" sz="3900" dirty="0"/>
              <a:t>At NUTH I can’t think of any IPC interventions that achieved such rapid, sustained improvements in the primary outcome of interest</a:t>
            </a:r>
            <a:endParaRPr lang="en-US" sz="3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Temporal trend in compliance rates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4478594" cy="339447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Mean compliance across the study period was 61.5% </a:t>
            </a:r>
          </a:p>
          <a:p>
            <a:pPr marL="0" indent="0">
              <a:buNone/>
            </a:pPr>
            <a:r>
              <a:rPr lang="en-GB" dirty="0"/>
              <a:t>(SD 5.6%; median 63.6%)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Range: 47.8% to 70.4%.</a:t>
            </a:r>
          </a:p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r>
              <a:rPr dirty="0"/>
              <a:t>Linear regression analysis demonstrated a statistically significant positive trend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C6C749-388E-A728-3883-EEEA13AAFB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r>
              <a:rPr lang="en-US" dirty="0"/>
              <a:t>RPySOC 2025 | NHS-R conference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507EF-6D6C-68C7-B9D2-BFC8ACB5A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r>
              <a:rPr lang="en-US" dirty="0"/>
              <a:t>D Weiand, J Lupton, P Le Roux et al.</a:t>
            </a:r>
          </a:p>
        </p:txBody>
      </p:sp>
      <p:pic>
        <p:nvPicPr>
          <p:cNvPr id="6" name="Picture 1" descr="RPySOC_NHS-R_Pycom_presentation_2025_files/figure-pptx/mrsa_screening_compliance_over_time_1-1.png">
            <a:extLst>
              <a:ext uri="{FF2B5EF4-FFF2-40B4-BE49-F238E27FC236}">
                <a16:creationId xmlns:a16="http://schemas.microsoft.com/office/drawing/2014/main" id="{17E10068-F5C8-175F-C8F0-18F373B1CCE4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3698" y="1611170"/>
            <a:ext cx="3960302" cy="198015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0AC04-0B22-4CC7-22CB-5D261CDE7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39C49-CE96-92DE-632D-E4E4B972F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Temporal trend in compliance rates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32610-F8DD-A16F-41B6-AC68CEEDB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4478594" cy="339447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Compliance increased by 0.328 percentage points per week </a:t>
            </a:r>
            <a:endParaRPr lang="en-GB" dirty="0"/>
          </a:p>
          <a:p>
            <a:pPr marL="0" lvl="0" indent="0">
              <a:buNone/>
            </a:pPr>
            <a:r>
              <a:rPr dirty="0"/>
              <a:t>(95% CI [0.241, 0.416]; p &lt; 0.001).</a:t>
            </a:r>
          </a:p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r>
              <a:rPr dirty="0"/>
              <a:t>This temporal trend explained 59.1% of the observed variation in weekly compliance rates.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4CD3-FF7E-8396-DA70-9BE2C31EC4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r>
              <a:rPr lang="en-US" dirty="0"/>
              <a:t>RPySOC 2025 | NHS-R conference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DBAD0-75E2-E8C6-9551-5F26E4D7D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r>
              <a:rPr lang="en-US" dirty="0"/>
              <a:t>D Weiand, J Lupton, P Le Roux et al.</a:t>
            </a:r>
          </a:p>
        </p:txBody>
      </p:sp>
      <p:pic>
        <p:nvPicPr>
          <p:cNvPr id="6" name="Picture 1" descr="RPySOC_NHS-R_Pycom_presentation_2025_files/figure-pptx/mrsa_screening_compliance_over_time_1-1.png">
            <a:extLst>
              <a:ext uri="{FF2B5EF4-FFF2-40B4-BE49-F238E27FC236}">
                <a16:creationId xmlns:a16="http://schemas.microsoft.com/office/drawing/2014/main" id="{BB9DAA2F-CCBB-7C06-69AA-057130BBC3D6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3698" y="1611170"/>
            <a:ext cx="3960302" cy="198015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735469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D6032A-4CFC-0C56-EB4F-671265915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58" y="200705"/>
            <a:ext cx="4800600" cy="29622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6C0909-BCB2-AB60-0920-BDF808D1E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0307" y="1983921"/>
            <a:ext cx="4800600" cy="2962275"/>
          </a:xfrm>
          <a:prstGeom prst="rect">
            <a:avLst/>
          </a:prstGeom>
        </p:spPr>
      </p:pic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A97138D-6A4B-C195-947A-2861D054BA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r>
              <a:rPr lang="en-US" dirty="0"/>
              <a:t>RPySOC 2025 | NHS-R conference 2025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B9D805F-C5FB-572C-B58B-177036C9D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r>
              <a:rPr lang="en-US" dirty="0"/>
              <a:t>D Weiand, J Lupton, P Le Roux et al.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5D753E-4B71-54F0-5F65-3A9503E283E1}"/>
              </a:ext>
            </a:extLst>
          </p:cNvPr>
          <p:cNvSpPr txBox="1"/>
          <p:nvPr/>
        </p:nvSpPr>
        <p:spPr>
          <a:xfrm>
            <a:off x="5356122" y="197304"/>
            <a:ext cx="1327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Best performers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2146B12-D8E9-C654-95D5-61560D967630}"/>
              </a:ext>
            </a:extLst>
          </p:cNvPr>
          <p:cNvSpPr/>
          <p:nvPr/>
        </p:nvSpPr>
        <p:spPr>
          <a:xfrm rot="9294919">
            <a:off x="4809648" y="547352"/>
            <a:ext cx="570271" cy="25563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62F76B-18B6-25B0-2A3F-1134A02931F4}"/>
              </a:ext>
            </a:extLst>
          </p:cNvPr>
          <p:cNvSpPr txBox="1"/>
          <p:nvPr/>
        </p:nvSpPr>
        <p:spPr>
          <a:xfrm>
            <a:off x="2140020" y="3921878"/>
            <a:ext cx="1704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Requiring improvement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49CC7F8-C9F9-4FC4-5A3F-B6E8B2B5008D}"/>
              </a:ext>
            </a:extLst>
          </p:cNvPr>
          <p:cNvSpPr/>
          <p:nvPr/>
        </p:nvSpPr>
        <p:spPr>
          <a:xfrm rot="19829087">
            <a:off x="3251783" y="3886758"/>
            <a:ext cx="570271" cy="25563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FE563F-5003-9757-6C7B-47EE14750EBC}"/>
              </a:ext>
            </a:extLst>
          </p:cNvPr>
          <p:cNvSpPr txBox="1"/>
          <p:nvPr/>
        </p:nvSpPr>
        <p:spPr>
          <a:xfrm>
            <a:off x="457200" y="4536931"/>
            <a:ext cx="29575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en-GB" sz="1100" dirty="0">
                <a:solidFill>
                  <a:schemeClr val="bg1">
                    <a:lumMod val="65000"/>
                  </a:schemeClr>
                </a:solidFill>
              </a:rPr>
              <a:t>Data for the week ending Tuesday 11/11/2025</a:t>
            </a:r>
          </a:p>
        </p:txBody>
      </p:sp>
    </p:spTree>
    <p:extLst>
      <p:ext uri="{BB962C8B-B14F-4D97-AF65-F5344CB8AC3E}">
        <p14:creationId xmlns:p14="http://schemas.microsoft.com/office/powerpoint/2010/main" val="157808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BE1717-7307-4608-470E-34DE77F2B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726" y="292213"/>
            <a:ext cx="7388339" cy="4559074"/>
          </a:xfrm>
          <a:prstGeom prst="rect">
            <a:avLst/>
          </a:prstGeom>
        </p:spPr>
      </p:pic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01F901D-EFE2-8779-B4BD-6685AF3D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r>
              <a:rPr lang="en-US" dirty="0"/>
              <a:t>RPySOC 2025 | NHS-R conference 2025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5EB012B-5432-F384-C486-4CF7497C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r>
              <a:rPr lang="en-US" dirty="0"/>
              <a:t>D Weiand, J Lupton, P Le Roux et al.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DA4A19-E3E4-D55F-6DB3-809D42C8146D}"/>
              </a:ext>
            </a:extLst>
          </p:cNvPr>
          <p:cNvSpPr txBox="1"/>
          <p:nvPr/>
        </p:nvSpPr>
        <p:spPr>
          <a:xfrm>
            <a:off x="457200" y="4536931"/>
            <a:ext cx="29575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en-GB" sz="1100" dirty="0">
                <a:solidFill>
                  <a:schemeClr val="bg1">
                    <a:lumMod val="65000"/>
                  </a:schemeClr>
                </a:solidFill>
              </a:rPr>
              <a:t>Data for the week ending Tuesday 11/11/2025</a:t>
            </a:r>
          </a:p>
        </p:txBody>
      </p:sp>
    </p:spTree>
    <p:extLst>
      <p:ext uri="{BB962C8B-B14F-4D97-AF65-F5344CB8AC3E}">
        <p14:creationId xmlns:p14="http://schemas.microsoft.com/office/powerpoint/2010/main" val="6572958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49CEC8-EA57-427E-D498-54D4B9771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50" y="331333"/>
            <a:ext cx="7494185" cy="4624388"/>
          </a:xfrm>
          <a:prstGeom prst="rect">
            <a:avLst/>
          </a:prstGeom>
        </p:spPr>
      </p:pic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F79973A-08B6-224B-34D1-CDABDEBCFB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r>
              <a:rPr lang="en-US" dirty="0"/>
              <a:t>RPySOC 2025 | NHS-R conference 2025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B8EC343-F673-F1DD-7C41-74C948730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r>
              <a:rPr lang="en-US" dirty="0"/>
              <a:t>D Weiand, J Lupton, P Le Roux et al.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BEC6E1-4A47-BABB-C420-D16799783629}"/>
              </a:ext>
            </a:extLst>
          </p:cNvPr>
          <p:cNvSpPr txBox="1"/>
          <p:nvPr/>
        </p:nvSpPr>
        <p:spPr>
          <a:xfrm>
            <a:off x="457200" y="4536931"/>
            <a:ext cx="29575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en-GB" sz="1100" dirty="0">
                <a:solidFill>
                  <a:schemeClr val="bg1">
                    <a:lumMod val="65000"/>
                  </a:schemeClr>
                </a:solidFill>
              </a:rPr>
              <a:t>Data for the week ending Tuesday 11/11/2025</a:t>
            </a:r>
          </a:p>
        </p:txBody>
      </p:sp>
    </p:spTree>
    <p:extLst>
      <p:ext uri="{BB962C8B-B14F-4D97-AF65-F5344CB8AC3E}">
        <p14:creationId xmlns:p14="http://schemas.microsoft.com/office/powerpoint/2010/main" val="402140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Interpretation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i="1" dirty="0"/>
              <a:t>RAP-generated, patient-level feedback constitutes an effective mechanism to achieve rapid and sustained improvements in MRSA admission screening rates.</a:t>
            </a:r>
            <a:endParaRPr lang="en-GB" i="1" dirty="0"/>
          </a:p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r>
              <a:rPr lang="en-GB" dirty="0"/>
              <a:t>R</a:t>
            </a:r>
            <a:r>
              <a:rPr dirty="0" err="1"/>
              <a:t>elatively</a:t>
            </a:r>
            <a:r>
              <a:rPr lang="en-GB" dirty="0"/>
              <a:t>-speaking: extremely </a:t>
            </a:r>
            <a:r>
              <a:rPr dirty="0"/>
              <a:t>resource- and time-efficient (7).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00712-C958-A670-0575-13429419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r>
              <a:rPr lang="en-US" dirty="0"/>
              <a:t>RPySOC 2025 | NHS-R conference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33B2F-756E-3F72-A84F-5BEE108B3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r>
              <a:rPr lang="en-US" dirty="0"/>
              <a:t>D Weiand, J Lupton, P Le Roux et al.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Interpretation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5678129" cy="3394472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From a theoretical perspective, the results support the application of </a:t>
            </a:r>
            <a:r>
              <a:rPr dirty="0" err="1"/>
              <a:t>Normalisation</a:t>
            </a:r>
            <a:r>
              <a:rPr dirty="0"/>
              <a:t> Process Theory in explaining how complex interventions become routinely embedded in clinical practice (9–12).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F7897-DCAC-04F2-9D75-5ABE12BE61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r>
              <a:rPr lang="en-US" dirty="0"/>
              <a:t>RPySOC 2025 | NHS-R conference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889DF-9419-EDD3-8970-87B13829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r>
              <a:rPr lang="en-US" dirty="0"/>
              <a:t>D Weiand, J Lupton, P Le Roux et al.</a:t>
            </a:r>
          </a:p>
        </p:txBody>
      </p:sp>
      <p:pic>
        <p:nvPicPr>
          <p:cNvPr id="6" name="Picture 2" descr="Applying Normalization Process Theory">
            <a:extLst>
              <a:ext uri="{FF2B5EF4-FFF2-40B4-BE49-F238E27FC236}">
                <a16:creationId xmlns:a16="http://schemas.microsoft.com/office/drawing/2014/main" id="{764BBCDB-0302-6567-D623-546DEF69CA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5220" y="2888152"/>
            <a:ext cx="1034230" cy="1459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2D126F1-1A1E-04F9-20F0-6A793E159892}"/>
              </a:ext>
            </a:extLst>
          </p:cNvPr>
          <p:cNvSpPr txBox="1">
            <a:spLocks/>
          </p:cNvSpPr>
          <p:nvPr/>
        </p:nvSpPr>
        <p:spPr>
          <a:xfrm>
            <a:off x="6427837" y="4347565"/>
            <a:ext cx="2028996" cy="2016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Per Nilsen [2024]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1AD401-25A8-65F0-E7EC-24477BFCC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6244" y="455035"/>
            <a:ext cx="3803898" cy="201887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Interpretation (</a:t>
            </a:r>
            <a:r>
              <a:rPr lang="en-GB" dirty="0"/>
              <a:t>3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dirty="0"/>
              <a:t>The relatively modest baseline compliance with MRSA admission screening compliance is not unexpected</a:t>
            </a:r>
            <a:endParaRPr lang="en-GB" dirty="0"/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Published benchmarks point at varying performance levels:</a:t>
            </a:r>
          </a:p>
          <a:p>
            <a:pPr lvl="0"/>
            <a:r>
              <a:rPr dirty="0"/>
              <a:t>Swiss study, </a:t>
            </a:r>
            <a:r>
              <a:rPr b="1" dirty="0"/>
              <a:t>baseline compliance rate of 32% </a:t>
            </a:r>
            <a:r>
              <a:rPr dirty="0"/>
              <a:t>(33)</a:t>
            </a:r>
          </a:p>
          <a:p>
            <a:pPr lvl="0"/>
            <a:r>
              <a:rPr dirty="0"/>
              <a:t>English study, </a:t>
            </a:r>
            <a:r>
              <a:rPr b="1" dirty="0"/>
              <a:t>only 61% of emergency admissions </a:t>
            </a:r>
            <a:r>
              <a:rPr dirty="0"/>
              <a:t>(median 67.3%), screened for MRSA (34).</a:t>
            </a:r>
          </a:p>
          <a:p>
            <a:pPr lvl="0"/>
            <a:r>
              <a:rPr dirty="0"/>
              <a:t>Scottish study, </a:t>
            </a:r>
            <a:r>
              <a:rPr b="1" dirty="0"/>
              <a:t>audit data from self-selected areas, compliance of 81%</a:t>
            </a:r>
            <a:r>
              <a:rPr dirty="0"/>
              <a:t> (5).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749E0-7AEF-B75C-6229-7CFC968412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r>
              <a:rPr lang="en-US" dirty="0"/>
              <a:t>RPySOC 2025 | NHS-R conference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1F542-59BA-336B-067C-166587B4A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r>
              <a:rPr lang="en-US" dirty="0"/>
              <a:t>D Weiand, J Lupton, P Le Roux et al.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55A6C-CBC4-42C5-2095-D625612B9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1A850-454A-FC0F-C0F4-7464D69FC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484A7-DE9D-8BFE-7356-2C4C5A8E7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93341"/>
            <a:ext cx="6307394" cy="3394472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GB" dirty="0"/>
              <a:t>Investing in RAP </a:t>
            </a:r>
            <a:r>
              <a:rPr dirty="0"/>
              <a:t>represents a </a:t>
            </a:r>
            <a:r>
              <a:rPr b="1" dirty="0"/>
              <a:t>strategic opportunity </a:t>
            </a:r>
            <a:r>
              <a:rPr dirty="0"/>
              <a:t>for healthcare </a:t>
            </a:r>
            <a:r>
              <a:rPr dirty="0" err="1"/>
              <a:t>organisations</a:t>
            </a:r>
            <a:r>
              <a:rPr dirty="0"/>
              <a:t> committed to embedding evidence-based practices.</a:t>
            </a:r>
            <a:endParaRPr lang="en-GB" dirty="0"/>
          </a:p>
          <a:p>
            <a:pPr lvl="0"/>
            <a:endParaRPr dirty="0"/>
          </a:p>
          <a:p>
            <a:pPr lvl="0"/>
            <a:r>
              <a:rPr dirty="0"/>
              <a:t>Beyond MRSA admission screening, </a:t>
            </a:r>
            <a:r>
              <a:rPr b="1" dirty="0"/>
              <a:t>this approach </a:t>
            </a:r>
            <a:r>
              <a:rPr lang="en-GB" b="1" dirty="0"/>
              <a:t>should be applied </a:t>
            </a:r>
            <a:r>
              <a:rPr b="1" dirty="0"/>
              <a:t>to </a:t>
            </a:r>
            <a:r>
              <a:rPr lang="en-GB" b="1" dirty="0"/>
              <a:t>monitor and improve </a:t>
            </a:r>
            <a:r>
              <a:rPr b="1" dirty="0"/>
              <a:t>compliance with other time-sensitive measures </a:t>
            </a:r>
            <a:r>
              <a:rPr dirty="0"/>
              <a:t>requiring ongoing performance monitoring.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This </a:t>
            </a:r>
            <a:r>
              <a:rPr dirty="0"/>
              <a:t>methodology </a:t>
            </a:r>
            <a:r>
              <a:rPr lang="en-GB" dirty="0"/>
              <a:t>should be </a:t>
            </a:r>
            <a:r>
              <a:rPr lang="en-GB" b="1" dirty="0"/>
              <a:t>scaled to achieve </a:t>
            </a:r>
            <a:r>
              <a:rPr b="1" dirty="0"/>
              <a:t>sustained, system-wide improvement </a:t>
            </a:r>
            <a:r>
              <a:rPr dirty="0"/>
              <a:t>in multiple dimensions of healthcare safety and quality.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2B263-1A25-B6B4-D321-8B432D2E0A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r>
              <a:rPr lang="en-US" dirty="0"/>
              <a:t>RPySOC 2025 | NHS-R conference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690C0-65FA-974F-2DA6-F22BD801F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r>
              <a:rPr lang="en-US" dirty="0"/>
              <a:t>D Weiand, J Lupton, P Le Roux et al.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D2F4DB1-B373-C8C5-6268-3CB3B719F6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133" y="890317"/>
            <a:ext cx="1990725" cy="802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README">
            <a:extLst>
              <a:ext uri="{FF2B5EF4-FFF2-40B4-BE49-F238E27FC236}">
                <a16:creationId xmlns:a16="http://schemas.microsoft.com/office/drawing/2014/main" id="{1AAE52BC-5693-A8A6-68E9-F76601EFB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133" y="1889141"/>
            <a:ext cx="1990725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38399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1935" y="256581"/>
            <a:ext cx="6120581" cy="857250"/>
          </a:xfrm>
        </p:spPr>
        <p:txBody>
          <a:bodyPr>
            <a:normAutofit fontScale="90000"/>
          </a:bodyPr>
          <a:lstStyle/>
          <a:p>
            <a:r>
              <a:rPr lang="en-GB" dirty="0"/>
              <a:t>We will submit our results for publication in peer-reviewed journal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9F355-D4B2-1086-585C-8DF5B930F7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r>
              <a:rPr lang="en-US" dirty="0"/>
              <a:t>RPySOC 2025 | NHS-R conference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C0D8D-902C-2CC4-792C-B0CF00B47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r>
              <a:rPr lang="en-US" dirty="0"/>
              <a:t>D Weiand, J Lupton, P Le Roux et al.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F08DC2-047F-5C78-EC7B-4567794FA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8273"/>
            <a:ext cx="9144000" cy="304158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References</a:t>
            </a:r>
            <a:r>
              <a:rPr lang="en-GB" dirty="0"/>
              <a:t> (1)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sz="800" dirty="0"/>
              <a:t>1. Siegel JD, Rhinehart E, Jackson M, Chiarello L. 2007 guideline for isolation precautions: Preventing transmission of infectious agents in health care settings. American Journal of Infection Control [Internet]. 2007 Dec;35(10):S65–164. Available from: </a:t>
            </a:r>
            <a:r>
              <a:rPr sz="800" dirty="0">
                <a:hlinkClick r:id="rId2"/>
              </a:rPr>
              <a:t>http://dx.doi.org/10.1016/j.ajic.2007.10.007</a:t>
            </a:r>
          </a:p>
          <a:p>
            <a:pPr marL="0" lvl="0" indent="0">
              <a:buNone/>
            </a:pPr>
            <a:r>
              <a:rPr sz="800" dirty="0"/>
              <a:t>2. NHS England. Delivering a </a:t>
            </a:r>
            <a:r>
              <a:rPr sz="800" dirty="0" err="1"/>
              <a:t>standardised</a:t>
            </a:r>
            <a:r>
              <a:rPr sz="800" dirty="0"/>
              <a:t> approach to screening for MRSA [Internet]. 2025. Available from: </a:t>
            </a:r>
            <a:r>
              <a:rPr sz="800" dirty="0">
                <a:hlinkClick r:id="rId3"/>
              </a:rPr>
              <a:t>https://gettingitrightfirsttime.co.uk/delivering-a-standardised-approach-to-screening-for-mrsa/</a:t>
            </a:r>
          </a:p>
          <a:p>
            <a:pPr marL="0" lvl="0" indent="0">
              <a:buNone/>
            </a:pPr>
            <a:r>
              <a:rPr sz="800" dirty="0"/>
              <a:t>3. Dickmann P, Keeping S, Döring N, Schmidt AE, Binder C, </a:t>
            </a:r>
            <a:r>
              <a:rPr sz="800" dirty="0" err="1"/>
              <a:t>Ariño</a:t>
            </a:r>
            <a:r>
              <a:rPr sz="800" dirty="0"/>
              <a:t>-Blasco S, et al. Communicating the risk of MRSA: The role of clinical practice, regulation and other policies in five </a:t>
            </a:r>
            <a:r>
              <a:rPr sz="800" dirty="0" err="1"/>
              <a:t>european</a:t>
            </a:r>
            <a:r>
              <a:rPr sz="800" dirty="0"/>
              <a:t> countries. Frontiers in Public Health [Internet]. 2017 Mar;5. Available from: </a:t>
            </a:r>
            <a:r>
              <a:rPr sz="800" dirty="0">
                <a:hlinkClick r:id="rId4"/>
              </a:rPr>
              <a:t>http://dx.doi.org/10.3389/fpubh.2017.00044</a:t>
            </a:r>
          </a:p>
          <a:p>
            <a:pPr marL="0" lvl="0" indent="0">
              <a:buNone/>
            </a:pPr>
            <a:r>
              <a:rPr sz="800" dirty="0"/>
              <a:t>4. Coia JE, Duckworth GJ, Edwards DI, Farrington M, Fry C, Humphreys H, et al. Guidelines for the control and prevention of </a:t>
            </a:r>
            <a:r>
              <a:rPr sz="800" dirty="0" err="1"/>
              <a:t>meticillin</a:t>
            </a:r>
            <a:r>
              <a:rPr sz="800" dirty="0"/>
              <a:t>-resistant staphylococcus aureus (MRSA) in healthcare facilities. Journal of Hospital Infection [Internet]. 2006 May;63:S1–44. Available from: </a:t>
            </a:r>
            <a:r>
              <a:rPr sz="800" dirty="0">
                <a:hlinkClick r:id="rId5"/>
              </a:rPr>
              <a:t>http://dx.doi.org/10.1016/j.jhin.2006.01.001</a:t>
            </a:r>
          </a:p>
          <a:p>
            <a:pPr marL="0" lvl="0" indent="0">
              <a:buNone/>
            </a:pPr>
            <a:r>
              <a:rPr sz="800" dirty="0"/>
              <a:t>5. Currie K, King C, McAloney-Kocaman K, Roberts NJ, MacDonald J, Dickson A, et al. Barriers and enablers to </a:t>
            </a:r>
            <a:r>
              <a:rPr sz="800" dirty="0" err="1"/>
              <a:t>meticillin</a:t>
            </a:r>
            <a:r>
              <a:rPr sz="800" dirty="0"/>
              <a:t>-resistant staphylococcus aureus admission screening in hospitals: A mixed-methods study. Journal of Hospital Infection [Internet]. 2019 Jan;101(1):100–8. Available from: </a:t>
            </a:r>
            <a:r>
              <a:rPr sz="800" dirty="0">
                <a:hlinkClick r:id="rId6"/>
              </a:rPr>
              <a:t>http://dx.doi.org/10.1016/j.jhin.2018.08.006</a:t>
            </a:r>
          </a:p>
          <a:p>
            <a:pPr marL="0" lvl="0" indent="0">
              <a:buNone/>
            </a:pPr>
            <a:r>
              <a:rPr sz="800" dirty="0"/>
              <a:t>6. Department of Health. Implementation of modified admission MRSA screening guidance for NHS [Internet]. 2014. Available from: </a:t>
            </a:r>
            <a:r>
              <a:rPr sz="800" dirty="0">
                <a:hlinkClick r:id="rId7"/>
              </a:rPr>
              <a:t>https://assets.publishing.service.gov.uk/government/uploads/system/uploads/attachment_data/file/345144/Implementation_of_modified_admission_MRSA_screening_guidance_for_NHS.pdf</a:t>
            </a:r>
          </a:p>
          <a:p>
            <a:pPr marL="0" lvl="0" indent="0">
              <a:buNone/>
            </a:pPr>
            <a:r>
              <a:rPr sz="800" dirty="0"/>
              <a:t>7. NHS England. GIRFT guide to preoperative testing: Adult MRSA screening and suppression/eradication prophylaxis for patients who are on an elective surgical pathway [Internet]. 2025. Available from: </a:t>
            </a:r>
            <a:r>
              <a:rPr sz="800" dirty="0">
                <a:hlinkClick r:id="rId8"/>
              </a:rPr>
              <a:t>https://gettingitrightfirsttime.co.uk/wp-content/uploads/2025/05/GIRFT-Guide-to-preoperative-testing-MRSA-May-2025.pdf</a:t>
            </a:r>
          </a:p>
          <a:p>
            <a:pPr marL="0" lvl="0" indent="0">
              <a:buNone/>
            </a:pPr>
            <a:r>
              <a:rPr sz="800" dirty="0"/>
              <a:t>8. Coia JE, Wilson JA, Bak A, Marsden GL, </a:t>
            </a:r>
            <a:r>
              <a:rPr sz="800" dirty="0" err="1"/>
              <a:t>Shimonovich</a:t>
            </a:r>
            <a:r>
              <a:rPr sz="800" dirty="0"/>
              <a:t> M, Loveday HP, et al. Joint healthcare infection society (HIS) and infection prevention society (IPS) guidelines for the prevention and control of </a:t>
            </a:r>
            <a:r>
              <a:rPr sz="800" dirty="0" err="1"/>
              <a:t>meticillin</a:t>
            </a:r>
            <a:r>
              <a:rPr sz="800" dirty="0"/>
              <a:t>-resistant staphylococcus aureus (MRSA) in healthcare facilities. Journal of Hospital Infection [Internet]. 2021 Dec;118:S1–39. Available from: </a:t>
            </a:r>
            <a:r>
              <a:rPr sz="800" dirty="0">
                <a:hlinkClick r:id="rId9"/>
              </a:rPr>
              <a:t>http://dx.doi.org/10.1016/j.jhin.2021.09.022</a:t>
            </a:r>
          </a:p>
          <a:p>
            <a:pPr marL="0" lvl="0" indent="0">
              <a:buNone/>
            </a:pPr>
            <a:r>
              <a:rPr sz="800" dirty="0"/>
              <a:t>9. May C, Finch T, Rapley T. Normalization process theory. In: Nilsen P, Birken SA, editors. Handbook on implementation science [Internet]. Edward Elgar Publishing; 2020. p. 144–67. Available from: </a:t>
            </a:r>
            <a:r>
              <a:rPr sz="800" dirty="0">
                <a:hlinkClick r:id="rId10"/>
              </a:rPr>
              <a:t>https://www.elgaronline.com/downloadpdf/edcollchap/edcoll/9781788975988/9781788975988.00013.pdf</a:t>
            </a:r>
          </a:p>
          <a:p>
            <a:pPr marL="0" lvl="0" indent="0">
              <a:buNone/>
            </a:pPr>
            <a:r>
              <a:rPr sz="800" dirty="0"/>
              <a:t>10. May CR, Mair FS, Dowrick CF, Finch TL. Process evaluation for complex interventions in primary care: Understanding trials using the normalization process model. BMC Family Practice [Internet]. 2007 Jul;8(1). Available from: </a:t>
            </a:r>
            <a:r>
              <a:rPr sz="800" dirty="0">
                <a:hlinkClick r:id="rId11"/>
              </a:rPr>
              <a:t>http://dx.doi.org/10.1186/1471-2296-8-42</a:t>
            </a:r>
          </a:p>
          <a:p>
            <a:pPr marL="0" lvl="0" indent="0">
              <a:buNone/>
            </a:pPr>
            <a:r>
              <a:rPr sz="800" dirty="0"/>
              <a:t>11. Nilsen P. Making sense of implementation theories, models and frameworks. Implementation Science [Internet]. 2015 Apr;10(1). Available from: </a:t>
            </a:r>
            <a:r>
              <a:rPr sz="800" dirty="0">
                <a:hlinkClick r:id="rId12"/>
              </a:rPr>
              <a:t>http://dx.doi.org/10.1186/s13012-015-0242-0</a:t>
            </a:r>
          </a:p>
          <a:p>
            <a:pPr marL="0" lvl="0" indent="0">
              <a:buNone/>
            </a:pPr>
            <a:r>
              <a:rPr sz="800" dirty="0"/>
              <a:t>12. Murray E, Treweek S, Pope C, MacFarlane A, </a:t>
            </a:r>
            <a:r>
              <a:rPr sz="800" dirty="0" err="1"/>
              <a:t>Ballini</a:t>
            </a:r>
            <a:r>
              <a:rPr sz="800" dirty="0"/>
              <a:t> L, Dowrick C, et al. </a:t>
            </a:r>
            <a:r>
              <a:rPr sz="800" dirty="0" err="1"/>
              <a:t>Normalisation</a:t>
            </a:r>
            <a:r>
              <a:rPr sz="800" dirty="0"/>
              <a:t> process theory: A framework for developing, evaluating and implementing complex interventions. BMC Medicine [Internet]. 2010 Oct;8(1). Available from: </a:t>
            </a:r>
            <a:r>
              <a:rPr sz="800" dirty="0">
                <a:hlinkClick r:id="rId13"/>
              </a:rPr>
              <a:t>http://dx.doi.org/10.1186/1741-7015-8-63</a:t>
            </a:r>
          </a:p>
          <a:p>
            <a:pPr marL="0" lvl="0" indent="0">
              <a:buNone/>
            </a:pPr>
            <a:r>
              <a:rPr sz="800" dirty="0"/>
              <a:t>13. Goldacre B, Morley J, Hamilton N, et al. Better, broader, safer: Using health data for research and analysis [Internet]. Department of Health; Social Care; 2022. Available from: </a:t>
            </a:r>
            <a:r>
              <a:rPr sz="800" dirty="0">
                <a:hlinkClick r:id="rId14"/>
              </a:rPr>
              <a:t>https://assets.publishing.service.gov.uk/government/uploads/system/uploads/attachment_data/file/1067053/goldacre-review-using-health-data-for-research-and-analysis.pdf</a:t>
            </a:r>
          </a:p>
          <a:p>
            <a:pPr marL="0" lvl="0" indent="0">
              <a:buNone/>
            </a:pPr>
            <a:r>
              <a:rPr sz="800" dirty="0"/>
              <a:t>14. Elliott A. Better, broader, safer: Using health data for research and analysis (the </a:t>
            </a:r>
            <a:r>
              <a:rPr sz="800" dirty="0" err="1"/>
              <a:t>goldacre</a:t>
            </a:r>
            <a:r>
              <a:rPr sz="800" dirty="0"/>
              <a:t> review). Journal of Radiological Protection [Internet]. 2022 Sep;42(3):030101. Available from: </a:t>
            </a:r>
            <a:r>
              <a:rPr sz="800" dirty="0">
                <a:hlinkClick r:id="rId15"/>
              </a:rPr>
              <a:t>http://dx.doi.org/10.1088/1361-6498/ac89f8</a:t>
            </a:r>
          </a:p>
          <a:p>
            <a:pPr marL="0" lvl="0" indent="0">
              <a:buNone/>
            </a:pPr>
            <a:r>
              <a:rPr sz="800" dirty="0"/>
              <a:t>15. NHS Digital RAP Community of Practice. What is RAP? </a:t>
            </a:r>
            <a:r>
              <a:rPr sz="800" dirty="0">
                <a:hlinkClick r:id="rId16"/>
              </a:rPr>
              <a:t>https://nhsdigital.github.io/rap-community-of-practice/introduction_to_RAP/what_is_RAP/</a:t>
            </a:r>
            <a:r>
              <a:rPr sz="800" dirty="0"/>
              <a:t>; n.d. </a:t>
            </a:r>
          </a:p>
          <a:p>
            <a:pPr marL="0" lvl="0" indent="0">
              <a:buNone/>
            </a:pPr>
            <a:r>
              <a:rPr sz="800" dirty="0"/>
              <a:t>16. Keegan NM, </a:t>
            </a:r>
            <a:r>
              <a:rPr sz="800" dirty="0" err="1"/>
              <a:t>Vasselman</a:t>
            </a:r>
            <a:r>
              <a:rPr sz="800" dirty="0"/>
              <a:t> SE, Barnett ES, </a:t>
            </a:r>
            <a:r>
              <a:rPr sz="800" dirty="0" err="1"/>
              <a:t>Nweji</a:t>
            </a:r>
            <a:r>
              <a:rPr sz="800" dirty="0"/>
              <a:t> B, Carbone EA, Blum A, et al. Clinical annotations for prostate cancer research: Defining data elements, creating a reproducible analytical pipeline, and assessing data quality. The Prostate [Internet]. 2022 May;82(11):1107–16. Available from: </a:t>
            </a:r>
            <a:r>
              <a:rPr sz="800" dirty="0">
                <a:hlinkClick r:id="rId17"/>
              </a:rPr>
              <a:t>http://dx.doi.org/10.1002/pros.24363</a:t>
            </a:r>
          </a:p>
          <a:p>
            <a:pPr marL="0" lvl="0" indent="0">
              <a:buNone/>
            </a:pPr>
            <a:r>
              <a:rPr sz="800" dirty="0"/>
              <a:t>17. Newcastle upon Tyne Hospitals NHS Foundation Trust. About </a:t>
            </a:r>
            <a:r>
              <a:rPr sz="800" dirty="0" err="1"/>
              <a:t>newcastle</a:t>
            </a:r>
            <a:r>
              <a:rPr sz="800" dirty="0"/>
              <a:t> hospitals [Internet]. 2020 [cited 2025 Aug 21]. Available from: </a:t>
            </a:r>
            <a:r>
              <a:rPr sz="800" dirty="0">
                <a:hlinkClick r:id="rId18"/>
              </a:rPr>
              <a:t>https://www.newcastle-hospitals.nhs.uk/about/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06E21-AAF0-A610-EBAE-BC898475BD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r>
              <a:rPr lang="en-US" dirty="0"/>
              <a:t>RPySOC 2025 | NHS-R conference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17720-22AD-CACB-8D10-D491E80B9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r>
              <a:rPr lang="en-US" dirty="0"/>
              <a:t>D Weiand, J Lupton, P Le Roux et al.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985AE-03D9-4D9E-A74E-1A1BFAF95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CD787-3154-1424-3673-8454FCC68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References</a:t>
            </a:r>
            <a:r>
              <a:rPr lang="en-GB" dirty="0"/>
              <a:t> (2)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30512-4208-5E61-5C43-225CC8D6E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GB" sz="900" dirty="0"/>
              <a:t>18. Newcastle upon Tyne Hospitals NHS Foundation Trust. Newcastle hospitals laboratories. </a:t>
            </a:r>
            <a:r>
              <a:rPr lang="en-GB" sz="900" dirty="0">
                <a:hlinkClick r:id="rId2"/>
              </a:rPr>
              <a:t>https://laboratories.newcastle-hospitals.nhs.uk/</a:t>
            </a:r>
            <a:r>
              <a:rPr lang="en-GB" sz="900" dirty="0"/>
              <a:t>; 2025. </a:t>
            </a:r>
          </a:p>
          <a:p>
            <a:pPr marL="0" lvl="0" indent="0">
              <a:buNone/>
            </a:pPr>
            <a:r>
              <a:rPr lang="en-GB" sz="900" dirty="0"/>
              <a:t>19. UKAS. Medical laboratory accreditation - ISO 15189. </a:t>
            </a:r>
            <a:r>
              <a:rPr lang="en-GB" sz="900" dirty="0">
                <a:hlinkClick r:id="rId3"/>
              </a:rPr>
              <a:t>https://www.ukas.com/accreditation/standards/medical-laboratory-accreditation/</a:t>
            </a:r>
            <a:r>
              <a:rPr lang="en-GB" sz="900" dirty="0"/>
              <a:t>; 2025. </a:t>
            </a:r>
          </a:p>
          <a:p>
            <a:pPr marL="0" lvl="0" indent="0">
              <a:buNone/>
            </a:pPr>
            <a:r>
              <a:rPr lang="en-GB" sz="900" dirty="0"/>
              <a:t>20. NHS Digital RAP Community of Practice. Introduction to git. </a:t>
            </a:r>
            <a:r>
              <a:rPr lang="en-GB" sz="900" dirty="0">
                <a:hlinkClick r:id="rId4"/>
              </a:rPr>
              <a:t>https://nhsdigital.github.io/rap-community-of-practice/training_resources/git/introduction-to-git/</a:t>
            </a:r>
            <a:r>
              <a:rPr lang="en-GB" sz="900" dirty="0"/>
              <a:t>; n.d. </a:t>
            </a:r>
          </a:p>
          <a:p>
            <a:pPr marL="0" lvl="0" indent="0">
              <a:buNone/>
            </a:pPr>
            <a:r>
              <a:rPr lang="en-GB" sz="900" dirty="0"/>
              <a:t>21. GitHub. GitHub. GitHub; </a:t>
            </a:r>
            <a:r>
              <a:rPr lang="en-GB" sz="900" dirty="0">
                <a:hlinkClick r:id="rId5"/>
              </a:rPr>
              <a:t>https://github.com/</a:t>
            </a:r>
            <a:r>
              <a:rPr lang="en-GB" sz="900" dirty="0"/>
              <a:t>; 2025. </a:t>
            </a:r>
          </a:p>
          <a:p>
            <a:pPr marL="0" lvl="0" indent="0">
              <a:buNone/>
            </a:pPr>
            <a:r>
              <a:rPr lang="en-GB" sz="900" dirty="0"/>
              <a:t>22. Müller K, Wickham H, James DA, Falcon S. </a:t>
            </a:r>
            <a:r>
              <a:rPr lang="en-GB" sz="900" dirty="0" err="1"/>
              <a:t>RSQLite</a:t>
            </a:r>
            <a:r>
              <a:rPr lang="en-GB" sz="900" dirty="0"/>
              <a:t>: SQLite interface for r [Internet]. 2024. Available from: </a:t>
            </a:r>
            <a:r>
              <a:rPr lang="en-GB" sz="900" dirty="0">
                <a:hlinkClick r:id="rId6"/>
              </a:rPr>
              <a:t>https://rsqlite.r-dbi.org</a:t>
            </a:r>
          </a:p>
          <a:p>
            <a:pPr marL="0" lvl="0" indent="0">
              <a:buNone/>
            </a:pPr>
            <a:r>
              <a:rPr lang="en-GB" sz="900" dirty="0"/>
              <a:t>23. R Core Team. R: A language and environment for statistical computing [Internet]. Vienna, Austria: R Foundation for Statistical Computing; 2024. Available from: </a:t>
            </a:r>
            <a:r>
              <a:rPr lang="en-GB" sz="900" dirty="0">
                <a:hlinkClick r:id="rId7"/>
              </a:rPr>
              <a:t>https://www.R-project.org/</a:t>
            </a:r>
          </a:p>
          <a:p>
            <a:pPr marL="0" lvl="0" indent="0">
              <a:buNone/>
            </a:pPr>
            <a:r>
              <a:rPr lang="en-GB" sz="900" dirty="0"/>
              <a:t>24. Allaire J, </a:t>
            </a:r>
            <a:r>
              <a:rPr lang="en-GB" sz="900" dirty="0" err="1"/>
              <a:t>Dervieux</a:t>
            </a:r>
            <a:r>
              <a:rPr lang="en-GB" sz="900" dirty="0"/>
              <a:t> C. Quarto: R interface to quarto markdown publishing system [Internet]. 2024. Available from: </a:t>
            </a:r>
            <a:r>
              <a:rPr lang="en-GB" sz="900" dirty="0">
                <a:hlinkClick r:id="rId8"/>
              </a:rPr>
              <a:t>https://github.com/quarto-dev/quarto-r</a:t>
            </a:r>
          </a:p>
          <a:p>
            <a:pPr marL="0" lvl="0" indent="0">
              <a:buNone/>
            </a:pPr>
            <a:r>
              <a:rPr lang="en-GB" sz="900" dirty="0"/>
              <a:t>25. Microsoft. Internet information services (IIS) for windows server. </a:t>
            </a:r>
            <a:r>
              <a:rPr lang="en-GB" sz="900" dirty="0">
                <a:hlinkClick r:id="rId9"/>
              </a:rPr>
              <a:t>https://www.iis.net/overview</a:t>
            </a:r>
            <a:r>
              <a:rPr lang="en-GB" sz="900" dirty="0"/>
              <a:t>; 2025. </a:t>
            </a:r>
          </a:p>
          <a:p>
            <a:pPr marL="0" lvl="0" indent="0">
              <a:buNone/>
            </a:pPr>
            <a:r>
              <a:rPr lang="en-GB" sz="900" dirty="0"/>
              <a:t>26. ICO. UK GDPR guidance and resources. ICO; </a:t>
            </a:r>
            <a:r>
              <a:rPr lang="en-GB" sz="900" dirty="0">
                <a:hlinkClick r:id="rId10"/>
              </a:rPr>
              <a:t>https://ico.org.uk/for-organisations/uk-gdpr-guidance-and-resources/</a:t>
            </a:r>
            <a:r>
              <a:rPr lang="en-GB" sz="900" dirty="0"/>
              <a:t>; 2025. </a:t>
            </a:r>
          </a:p>
          <a:p>
            <a:pPr marL="0" lvl="0" indent="0">
              <a:buNone/>
            </a:pPr>
            <a:r>
              <a:rPr lang="en-GB" sz="900" dirty="0"/>
              <a:t>27. </a:t>
            </a:r>
            <a:r>
              <a:rPr lang="en-GB" sz="900" dirty="0" err="1"/>
              <a:t>Benneyan</a:t>
            </a:r>
            <a:r>
              <a:rPr lang="en-GB" sz="900" dirty="0"/>
              <a:t> JC. Statistical process control as a tool for research and healthcare improvement. Quality and Safety in Health Care [Internet]. 2003 Dec;12(6):458–64. Available from: </a:t>
            </a:r>
            <a:r>
              <a:rPr lang="en-GB" sz="900" dirty="0">
                <a:hlinkClick r:id="rId11"/>
              </a:rPr>
              <a:t>http://dx.doi.org/10.1136/qhc.12.6.458</a:t>
            </a:r>
          </a:p>
          <a:p>
            <a:pPr marL="0" lvl="0" indent="0">
              <a:buNone/>
            </a:pPr>
            <a:r>
              <a:rPr lang="en-GB" sz="900" dirty="0"/>
              <a:t>28. Mohammed MA. Using statistical process control to improve the quality of health care. Quality and Safety in Health Care [Internet]. 2004 Aug;13(4):243–5. Available from: </a:t>
            </a:r>
            <a:r>
              <a:rPr lang="en-GB" sz="900" dirty="0">
                <a:hlinkClick r:id="rId12"/>
              </a:rPr>
              <a:t>http://dx.doi.org/10.1136/qhc.13.4.243</a:t>
            </a:r>
          </a:p>
          <a:p>
            <a:pPr marL="0" lvl="0" indent="0">
              <a:buNone/>
            </a:pPr>
            <a:r>
              <a:rPr lang="en-GB" sz="900" dirty="0"/>
              <a:t>29. Anhøj J, Hellesøe AMB. The problem with red, amber, green: The need to avoid distraction by random variation in organisational performance measures. BMJ Quality &amp;amp; Safety [Internet]. 2016 Mar;26(1):81–4. Available from: </a:t>
            </a:r>
            <a:r>
              <a:rPr lang="en-GB" sz="900" dirty="0">
                <a:hlinkClick r:id="rId13"/>
              </a:rPr>
              <a:t>http://dx.doi.org/10.1136/bmjqs-2015-004951</a:t>
            </a:r>
          </a:p>
          <a:p>
            <a:pPr marL="0" lvl="0" indent="0">
              <a:buNone/>
            </a:pPr>
            <a:r>
              <a:rPr lang="en-GB" sz="900" dirty="0"/>
              <a:t>30. NHS England. Making data count [Internet]. 2019. Available from: </a:t>
            </a:r>
            <a:r>
              <a:rPr lang="en-GB" sz="900" dirty="0">
                <a:hlinkClick r:id="rId14"/>
              </a:rPr>
              <a:t>https://www.england.nhs.uk/publication/making-data-count/</a:t>
            </a:r>
          </a:p>
          <a:p>
            <a:pPr marL="0" lvl="0" indent="0">
              <a:buNone/>
            </a:pPr>
            <a:r>
              <a:rPr lang="en-GB" sz="900" dirty="0"/>
              <a:t>31. Smith T, Reading C, Wellesley-Miller S, Turner Z, Jemmett T, Mainey C, et al. </a:t>
            </a:r>
            <a:r>
              <a:rPr lang="en-GB" sz="900" dirty="0" err="1"/>
              <a:t>NHSRplotthedots</a:t>
            </a:r>
            <a:r>
              <a:rPr lang="en-GB" sz="900" dirty="0"/>
              <a:t>: Draw </a:t>
            </a:r>
            <a:r>
              <a:rPr lang="en-GB" sz="900" dirty="0" err="1"/>
              <a:t>XmR</a:t>
            </a:r>
            <a:r>
              <a:rPr lang="en-GB" sz="900" dirty="0"/>
              <a:t> charts for NHS making data count programme [Internet]. 2025. Available from: </a:t>
            </a:r>
            <a:r>
              <a:rPr lang="en-GB" sz="900" dirty="0">
                <a:hlinkClick r:id="rId15"/>
              </a:rPr>
              <a:t>https://nhsrplotthedots.nhsrcommunity.com</a:t>
            </a:r>
          </a:p>
          <a:p>
            <a:pPr marL="0" lvl="0" indent="0">
              <a:buNone/>
            </a:pPr>
            <a:r>
              <a:rPr lang="en-GB" sz="900" dirty="0"/>
              <a:t>32. Chen LF, Vander Weg MW, Hofmann DA, Reisinger HS. The </a:t>
            </a:r>
            <a:r>
              <a:rPr lang="en-GB" sz="900" dirty="0" err="1"/>
              <a:t>hawthorne</a:t>
            </a:r>
            <a:r>
              <a:rPr lang="en-GB" sz="900" dirty="0"/>
              <a:t> effect in infection prevention and epidemiology. Infection Control &amp;amp; Hospital Epidemiology [Internet]. 2015 Sep;36(12):1444–50. Available from: </a:t>
            </a:r>
            <a:r>
              <a:rPr lang="en-GB" sz="900" dirty="0">
                <a:hlinkClick r:id="rId16"/>
              </a:rPr>
              <a:t>http://dx.doi.org/10.1017/ice.2015.216</a:t>
            </a:r>
          </a:p>
          <a:p>
            <a:pPr marL="0" lvl="0" indent="0">
              <a:buNone/>
            </a:pPr>
            <a:r>
              <a:rPr lang="en-GB" sz="900" dirty="0"/>
              <a:t>33. Joubert D, </a:t>
            </a:r>
            <a:r>
              <a:rPr lang="en-GB" sz="900" dirty="0" err="1"/>
              <a:t>Cullati</a:t>
            </a:r>
            <a:r>
              <a:rPr lang="en-GB" sz="900" dirty="0"/>
              <a:t> S, Briot P, Righi L, </a:t>
            </a:r>
            <a:r>
              <a:rPr lang="en-GB" sz="900" dirty="0" err="1"/>
              <a:t>Grauser</a:t>
            </a:r>
            <a:r>
              <a:rPr lang="en-GB" sz="900" dirty="0"/>
              <a:t> D, Ourahmoune A, et al. How to improve hospital admission screening for patients at risk of multidrug-resistant organism carriage: A before-and-after interventional study and cost-effectiveness analysis. BMJ Open Quality [Internet]. 2022 Apr;11(2):e001699. Available from: </a:t>
            </a:r>
            <a:r>
              <a:rPr lang="en-GB" sz="900" dirty="0">
                <a:hlinkClick r:id="rId17"/>
              </a:rPr>
              <a:t>http://dx.doi.org/10.1136/bmjoq-2021-001699</a:t>
            </a:r>
          </a:p>
          <a:p>
            <a:pPr marL="0" lvl="0" indent="0">
              <a:buNone/>
            </a:pPr>
            <a:r>
              <a:rPr lang="en-GB" sz="900" dirty="0"/>
              <a:t>34. Fuller C, Robotham J, Savage J, Hopkins S, Deeny SR, Stone S, et al. The national one week prevalence audit of universal </a:t>
            </a:r>
            <a:r>
              <a:rPr lang="en-GB" sz="900" dirty="0" err="1"/>
              <a:t>meticillin</a:t>
            </a:r>
            <a:r>
              <a:rPr lang="en-GB" sz="900" dirty="0"/>
              <a:t>-resistant staphylococcus aureus (MRSA) admission screening 2012. </a:t>
            </a:r>
            <a:r>
              <a:rPr lang="en-GB" sz="900" dirty="0" err="1"/>
              <a:t>Kluytmans</a:t>
            </a:r>
            <a:r>
              <a:rPr lang="en-GB" sz="900" dirty="0"/>
              <a:t> J, editor. </a:t>
            </a:r>
            <a:r>
              <a:rPr lang="en-GB" sz="900" dirty="0" err="1"/>
              <a:t>PLoS</a:t>
            </a:r>
            <a:r>
              <a:rPr lang="en-GB" sz="900" dirty="0"/>
              <a:t> ONE [Internet]. 2013 Sep;8(9):e74219. Available from: </a:t>
            </a:r>
            <a:r>
              <a:rPr lang="en-GB" sz="900" dirty="0">
                <a:hlinkClick r:id="rId18"/>
              </a:rPr>
              <a:t>http://dx.doi.org/10.1371/journal.pone.0074219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F267C-AF69-DF96-3D0B-5359829342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r>
              <a:rPr lang="en-US" dirty="0"/>
              <a:t>RPySOC 2025 | NHS-R conference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13612-5BBE-3ADB-804F-0A939C2C8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r>
              <a:rPr lang="en-US" dirty="0"/>
              <a:t>D Weiand, J Lupton, P Le Roux et al.</a:t>
            </a:r>
          </a:p>
        </p:txBody>
      </p:sp>
    </p:spTree>
    <p:extLst>
      <p:ext uri="{BB962C8B-B14F-4D97-AF65-F5344CB8AC3E}">
        <p14:creationId xmlns:p14="http://schemas.microsoft.com/office/powerpoint/2010/main" val="11476838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Thanks for listening</a:t>
            </a:r>
            <a:r>
              <a:rPr lang="en-GB" dirty="0"/>
              <a:t>!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476136" cy="3394472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Daniel Weiand; Paul Bradley; </a:t>
            </a:r>
          </a:p>
          <a:p>
            <a:pPr marL="0" indent="0">
              <a:buNone/>
            </a:pPr>
            <a:r>
              <a:rPr lang="en-GB" dirty="0"/>
              <a:t>Caroline Cullerton; Geoff Dines; </a:t>
            </a:r>
          </a:p>
          <a:p>
            <a:pPr marL="0" indent="0">
              <a:buNone/>
            </a:pPr>
            <a:r>
              <a:rPr lang="en-GB" dirty="0"/>
              <a:t>Joanne Field; Peta Le Roux; </a:t>
            </a:r>
          </a:p>
          <a:p>
            <a:pPr marL="0" indent="0">
              <a:buNone/>
            </a:pPr>
            <a:r>
              <a:rPr lang="en-GB" dirty="0"/>
              <a:t>Jamie Lupton; Shraddha Pathak; </a:t>
            </a:r>
          </a:p>
          <a:p>
            <a:pPr marL="0" indent="0">
              <a:buNone/>
            </a:pPr>
            <a:r>
              <a:rPr lang="en-GB" dirty="0"/>
              <a:t>Julie Samuel; Chris Plummer</a:t>
            </a:r>
          </a:p>
          <a:p>
            <a:pPr marL="0" lvl="0" indent="0">
              <a:buNone/>
            </a:pPr>
            <a:endParaRPr dirty="0">
              <a:hlinkClick r:id="rId2"/>
            </a:endParaRPr>
          </a:p>
          <a:p>
            <a:pPr marL="0" lvl="0" indent="0">
              <a:buNone/>
            </a:pPr>
            <a:r>
              <a:rPr lang="en-GB" dirty="0" err="1"/>
              <a:t>github</a:t>
            </a:r>
            <a:r>
              <a:rPr lang="en-GB" dirty="0"/>
              <a:t>: </a:t>
            </a:r>
            <a:r>
              <a:rPr dirty="0">
                <a:hlinkClick r:id="rId3"/>
              </a:rPr>
              <a:t>send2dan</a:t>
            </a:r>
          </a:p>
        </p:txBody>
      </p:sp>
      <p:pic>
        <p:nvPicPr>
          <p:cNvPr id="6" name="Picture 5" descr="A white sign with black text&#10;&#10;AI-generated content may be incorrect.">
            <a:extLst>
              <a:ext uri="{FF2B5EF4-FFF2-40B4-BE49-F238E27FC236}">
                <a16:creationId xmlns:a16="http://schemas.microsoft.com/office/drawing/2014/main" id="{4DD26570-C897-BA41-3F23-552002A6DA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9553" y="1200151"/>
            <a:ext cx="2336791" cy="3061127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A25EFD4-6AE6-2569-0A46-C8A39D2F2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33336" y="4259896"/>
            <a:ext cx="2895600" cy="273844"/>
          </a:xfrm>
        </p:spPr>
        <p:txBody>
          <a:bodyPr/>
          <a:lstStyle/>
          <a:p>
            <a:r>
              <a:rPr lang="en-US" dirty="0"/>
              <a:t>Wellcome Trust [2025]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56B459C2-3F71-0BC5-9C1D-4BFE947AD9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r>
              <a:rPr lang="en-US" dirty="0"/>
              <a:t>RPySOC 2025 | NHS-R conference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3516</Words>
  <Application>Microsoft Office PowerPoint</Application>
  <PresentationFormat>On-screen Show (16:9)</PresentationFormat>
  <Paragraphs>270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From Data to Action—Building a Reproducible Analytical Pipeline to Achieve Rapid, Sustained Improvements in MRSA Admission Screening Compliance Rates.</vt:lpstr>
      <vt:lpstr>Problem description (1)</vt:lpstr>
      <vt:lpstr>Problem description (2)</vt:lpstr>
      <vt:lpstr>Problem description (3)</vt:lpstr>
      <vt:lpstr>Normalisation Process Theory (NPT) (1)</vt:lpstr>
      <vt:lpstr>PowerPoint Presentation</vt:lpstr>
      <vt:lpstr>Aims</vt:lpstr>
      <vt:lpstr>Setting</vt:lpstr>
      <vt:lpstr>Defining compliance with MRSA admission screening</vt:lpstr>
      <vt:lpstr>RAP</vt:lpstr>
      <vt:lpstr>Team Structure and Governance</vt:lpstr>
      <vt:lpstr>PowerPoint Presentation</vt:lpstr>
      <vt:lpstr>PowerPoint Presentation</vt:lpstr>
      <vt:lpstr>Approach to Assessing Impact</vt:lpstr>
      <vt:lpstr>Selection of participants</vt:lpstr>
      <vt:lpstr>Results</vt:lpstr>
      <vt:lpstr>Details about missing data</vt:lpstr>
      <vt:lpstr>Contextual elements that interacted with the intervention(s)</vt:lpstr>
      <vt:lpstr>PowerPoint Presentation</vt:lpstr>
      <vt:lpstr>Temporal trend in compliance rates</vt:lpstr>
      <vt:lpstr>Temporal trend in compliance rates</vt:lpstr>
      <vt:lpstr>PowerPoint Presentation</vt:lpstr>
      <vt:lpstr>PowerPoint Presentation</vt:lpstr>
      <vt:lpstr>PowerPoint Presentation</vt:lpstr>
      <vt:lpstr>Interpretation (1)</vt:lpstr>
      <vt:lpstr>Interpretation (2)</vt:lpstr>
      <vt:lpstr>Interpretation (3)</vt:lpstr>
      <vt:lpstr>Conclusions</vt:lpstr>
      <vt:lpstr>We will submit our results for publication in peer-reviewed journal</vt:lpstr>
      <vt:lpstr>References (1)</vt:lpstr>
      <vt:lpstr>References (2)</vt:lpstr>
      <vt:lpstr>Thanks for listening!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Data to Action—Building a Reproducible Analytical Pipeline to Achieve Rapid, Sustained Improvements in MRSA Admission Screening Compliance Rates.</dc:title>
  <dc:creator>Daniel Weiand; Paul Bradley; Caroline Cullerton; Geoff Dines; Joanne Field; Peta Le Roux; Jamie Lupton; Shraddha Pathak; Julie Samuel; Chris Plummer</dc:creator>
  <cp:keywords>Quality Improvement, Patient Safety, Healthcare Associated Infection, MRSA, Screening, Clinical Informatics, Prevention, R, Open-Source, Data Science</cp:keywords>
  <cp:lastModifiedBy>WEIAND, Daniel (THE NEWCASTLE UPON TYNE HOSPITALS NHS FOUNDATION TRUST)</cp:lastModifiedBy>
  <cp:revision>37</cp:revision>
  <dcterms:created xsi:type="dcterms:W3CDTF">2025-11-12T23:03:33Z</dcterms:created>
  <dcterms:modified xsi:type="dcterms:W3CDTF">2025-11-14T09:39:26Z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biblio.bib</vt:lpwstr>
  </property>
  <property fmtid="{D5CDD505-2E9C-101B-9397-08002B2CF9AE}" pid="6" name="brand">
    <vt:lpwstr>_brand.yml</vt:lpwstr>
  </property>
  <property fmtid="{D5CDD505-2E9C-101B-9397-08002B2CF9AE}" pid="7" name="by-affiliation">
    <vt:lpwstr/>
  </property>
  <property fmtid="{D5CDD505-2E9C-101B-9397-08002B2CF9AE}" pid="8" name="by-author">
    <vt:lpwstr/>
  </property>
  <property fmtid="{D5CDD505-2E9C-101B-9397-08002B2CF9AE}" pid="9" name="csl">
    <vt:lpwstr>vancouver.csl</vt:lpwstr>
  </property>
  <property fmtid="{D5CDD505-2E9C-101B-9397-08002B2CF9AE}" pid="10" name="date">
    <vt:lpwstr>Wednesday, 12 November 2025</vt:lpwstr>
  </property>
  <property fmtid="{D5CDD505-2E9C-101B-9397-08002B2CF9AE}" pid="11" name="date-format">
    <vt:lpwstr>dddd, D MMMM YYYY</vt:lpwstr>
  </property>
  <property fmtid="{D5CDD505-2E9C-101B-9397-08002B2CF9AE}" pid="12" name="editor">
    <vt:lpwstr>source</vt:lpwstr>
  </property>
  <property fmtid="{D5CDD505-2E9C-101B-9397-08002B2CF9AE}" pid="13" name="execute">
    <vt:lpwstr/>
  </property>
  <property fmtid="{D5CDD505-2E9C-101B-9397-08002B2CF9AE}" pid="14" name="header-includes">
    <vt:lpwstr/>
  </property>
  <property fmtid="{D5CDD505-2E9C-101B-9397-08002B2CF9AE}" pid="15" name="include-after">
    <vt:lpwstr/>
  </property>
  <property fmtid="{D5CDD505-2E9C-101B-9397-08002B2CF9AE}" pid="16" name="include-before">
    <vt:lpwstr/>
  </property>
  <property fmtid="{D5CDD505-2E9C-101B-9397-08002B2CF9AE}" pid="17" name="labels">
    <vt:lpwstr/>
  </property>
  <property fmtid="{D5CDD505-2E9C-101B-9397-08002B2CF9AE}" pid="18" name="link-citations">
    <vt:lpwstr>True</vt:lpwstr>
  </property>
  <property fmtid="{D5CDD505-2E9C-101B-9397-08002B2CF9AE}" pid="19" name="params">
    <vt:lpwstr/>
  </property>
  <property fmtid="{D5CDD505-2E9C-101B-9397-08002B2CF9AE}" pid="20" name="toc-title">
    <vt:lpwstr>Table of contents</vt:lpwstr>
  </property>
</Properties>
</file>